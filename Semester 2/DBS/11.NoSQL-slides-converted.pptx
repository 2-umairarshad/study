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87"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Lst>
  <p:sldSz cx="9144000" cy="6858000" type="screen4x3"/>
  <p:notesSz cx="9144000" cy="6858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662"/>
  </p:normalViewPr>
  <p:slideViewPr>
    <p:cSldViewPr>
      <p:cViewPr varScale="1">
        <p:scale>
          <a:sx n="68" d="100"/>
          <a:sy n="68" d="100"/>
        </p:scale>
        <p:origin x="1446"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rlito"/>
                <a:cs typeface="Carlito"/>
              </a:defRPr>
            </a:lvl1pPr>
          </a:lstStyle>
          <a:p>
            <a:pPr marL="12700">
              <a:lnSpc>
                <a:spcPts val="1240"/>
              </a:lnSpc>
            </a:pPr>
            <a:r>
              <a:rPr dirty="0"/>
              <a:t>16 </a:t>
            </a:r>
            <a:r>
              <a:rPr spc="-5" dirty="0"/>
              <a:t>February</a:t>
            </a:r>
            <a:r>
              <a:rPr spc="-90" dirty="0"/>
              <a:t> </a:t>
            </a:r>
            <a:r>
              <a:rPr dirty="0"/>
              <a:t>2018</a:t>
            </a:r>
          </a:p>
        </p:txBody>
      </p:sp>
      <p:sp>
        <p:nvSpPr>
          <p:cNvPr id="5" name="Holder 5"/>
          <p:cNvSpPr>
            <a:spLocks noGrp="1"/>
          </p:cNvSpPr>
          <p:nvPr>
            <p:ph type="dt" sz="half" idx="6"/>
          </p:nvPr>
        </p:nvSpPr>
        <p:spPr/>
        <p:txBody>
          <a:bodyPr lIns="0" tIns="0" rIns="0" bIns="0"/>
          <a:lstStyle>
            <a:lvl1pPr>
              <a:defRPr sz="1200" b="0" i="0">
                <a:solidFill>
                  <a:srgbClr val="888888"/>
                </a:solidFill>
                <a:latin typeface="Carlito"/>
                <a:cs typeface="Carlito"/>
              </a:defRPr>
            </a:lvl1pPr>
          </a:lstStyle>
          <a:p>
            <a:pPr marL="85725">
              <a:lnSpc>
                <a:spcPts val="1240"/>
              </a:lnSpc>
            </a:pPr>
            <a:r>
              <a:rPr spc="-5" dirty="0"/>
              <a:t>Ashwani</a:t>
            </a:r>
            <a:r>
              <a:rPr spc="-30" dirty="0"/>
              <a:t> </a:t>
            </a:r>
            <a:r>
              <a:rPr spc="-5" dirty="0"/>
              <a:t>Kumar</a:t>
            </a:r>
          </a:p>
          <a:p>
            <a:pPr marL="12700">
              <a:lnSpc>
                <a:spcPct val="100000"/>
              </a:lnSpc>
            </a:pPr>
            <a:r>
              <a:rPr spc="-5" dirty="0"/>
              <a:t>NOSQL</a:t>
            </a:r>
            <a:r>
              <a:rPr spc="-45" dirty="0"/>
              <a:t> </a:t>
            </a:r>
            <a:r>
              <a:rPr spc="-5" dirty="0"/>
              <a:t>Databases</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Carlito"/>
                <a:cs typeface="Carlito"/>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Carlito"/>
                <a:cs typeface="Carlito"/>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rlito"/>
                <a:cs typeface="Carlito"/>
              </a:defRPr>
            </a:lvl1pPr>
          </a:lstStyle>
          <a:p>
            <a:pPr marL="12700">
              <a:lnSpc>
                <a:spcPts val="1240"/>
              </a:lnSpc>
            </a:pPr>
            <a:r>
              <a:rPr dirty="0"/>
              <a:t>16 </a:t>
            </a:r>
            <a:r>
              <a:rPr spc="-5" dirty="0"/>
              <a:t>February</a:t>
            </a:r>
            <a:r>
              <a:rPr spc="-90" dirty="0"/>
              <a:t> </a:t>
            </a:r>
            <a:r>
              <a:rPr dirty="0"/>
              <a:t>2018</a:t>
            </a:r>
          </a:p>
        </p:txBody>
      </p:sp>
      <p:sp>
        <p:nvSpPr>
          <p:cNvPr id="5" name="Holder 5"/>
          <p:cNvSpPr>
            <a:spLocks noGrp="1"/>
          </p:cNvSpPr>
          <p:nvPr>
            <p:ph type="dt" sz="half" idx="6"/>
          </p:nvPr>
        </p:nvSpPr>
        <p:spPr/>
        <p:txBody>
          <a:bodyPr lIns="0" tIns="0" rIns="0" bIns="0"/>
          <a:lstStyle>
            <a:lvl1pPr>
              <a:defRPr sz="1200" b="0" i="0">
                <a:solidFill>
                  <a:srgbClr val="888888"/>
                </a:solidFill>
                <a:latin typeface="Carlito"/>
                <a:cs typeface="Carlito"/>
              </a:defRPr>
            </a:lvl1pPr>
          </a:lstStyle>
          <a:p>
            <a:pPr marL="85725">
              <a:lnSpc>
                <a:spcPts val="1240"/>
              </a:lnSpc>
            </a:pPr>
            <a:r>
              <a:rPr spc="-5" dirty="0"/>
              <a:t>Ashwani</a:t>
            </a:r>
            <a:r>
              <a:rPr spc="-30" dirty="0"/>
              <a:t> </a:t>
            </a:r>
            <a:r>
              <a:rPr spc="-5" dirty="0"/>
              <a:t>Kumar</a:t>
            </a:r>
          </a:p>
          <a:p>
            <a:pPr marL="12700">
              <a:lnSpc>
                <a:spcPct val="100000"/>
              </a:lnSpc>
            </a:pPr>
            <a:r>
              <a:rPr spc="-5" dirty="0"/>
              <a:t>NOSQL</a:t>
            </a:r>
            <a:r>
              <a:rPr spc="-45" dirty="0"/>
              <a:t> </a:t>
            </a:r>
            <a:r>
              <a:rPr spc="-5" dirty="0"/>
              <a:t>Databases</a:t>
            </a: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Carlito"/>
                <a:cs typeface="Carlito"/>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rlito"/>
                <a:cs typeface="Carlito"/>
              </a:defRPr>
            </a:lvl1pPr>
          </a:lstStyle>
          <a:p>
            <a:pPr marL="12700">
              <a:lnSpc>
                <a:spcPts val="1240"/>
              </a:lnSpc>
            </a:pPr>
            <a:r>
              <a:rPr dirty="0"/>
              <a:t>16 </a:t>
            </a:r>
            <a:r>
              <a:rPr spc="-5" dirty="0"/>
              <a:t>February</a:t>
            </a:r>
            <a:r>
              <a:rPr spc="-90" dirty="0"/>
              <a:t> </a:t>
            </a:r>
            <a:r>
              <a:rPr dirty="0"/>
              <a:t>2018</a:t>
            </a:r>
          </a:p>
        </p:txBody>
      </p:sp>
      <p:sp>
        <p:nvSpPr>
          <p:cNvPr id="6" name="Holder 6"/>
          <p:cNvSpPr>
            <a:spLocks noGrp="1"/>
          </p:cNvSpPr>
          <p:nvPr>
            <p:ph type="dt" sz="half" idx="6"/>
          </p:nvPr>
        </p:nvSpPr>
        <p:spPr/>
        <p:txBody>
          <a:bodyPr lIns="0" tIns="0" rIns="0" bIns="0"/>
          <a:lstStyle>
            <a:lvl1pPr>
              <a:defRPr sz="1200" b="0" i="0">
                <a:solidFill>
                  <a:srgbClr val="888888"/>
                </a:solidFill>
                <a:latin typeface="Carlito"/>
                <a:cs typeface="Carlito"/>
              </a:defRPr>
            </a:lvl1pPr>
          </a:lstStyle>
          <a:p>
            <a:pPr marL="85725">
              <a:lnSpc>
                <a:spcPts val="1240"/>
              </a:lnSpc>
            </a:pPr>
            <a:r>
              <a:rPr spc="-5" dirty="0"/>
              <a:t>Ashwani</a:t>
            </a:r>
            <a:r>
              <a:rPr spc="-30" dirty="0"/>
              <a:t> </a:t>
            </a:r>
            <a:r>
              <a:rPr spc="-5" dirty="0"/>
              <a:t>Kumar</a:t>
            </a:r>
          </a:p>
          <a:p>
            <a:pPr marL="12700">
              <a:lnSpc>
                <a:spcPct val="100000"/>
              </a:lnSpc>
            </a:pPr>
            <a:r>
              <a:rPr spc="-5" dirty="0"/>
              <a:t>NOSQL</a:t>
            </a:r>
            <a:r>
              <a:rPr spc="-45" dirty="0"/>
              <a:t> </a:t>
            </a:r>
            <a:r>
              <a:rPr spc="-5" dirty="0"/>
              <a:t>Databases</a:t>
            </a: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bg1"/>
                </a:solidFill>
                <a:latin typeface="Carlito"/>
                <a:cs typeface="Carlito"/>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rlito"/>
                <a:cs typeface="Carlito"/>
              </a:defRPr>
            </a:lvl1pPr>
          </a:lstStyle>
          <a:p>
            <a:pPr marL="12700">
              <a:lnSpc>
                <a:spcPts val="1240"/>
              </a:lnSpc>
            </a:pPr>
            <a:r>
              <a:rPr dirty="0"/>
              <a:t>16 </a:t>
            </a:r>
            <a:r>
              <a:rPr spc="-5" dirty="0"/>
              <a:t>February</a:t>
            </a:r>
            <a:r>
              <a:rPr spc="-90" dirty="0"/>
              <a:t> </a:t>
            </a:r>
            <a:r>
              <a:rPr dirty="0"/>
              <a:t>2018</a:t>
            </a:r>
          </a:p>
        </p:txBody>
      </p:sp>
      <p:sp>
        <p:nvSpPr>
          <p:cNvPr id="4" name="Holder 4"/>
          <p:cNvSpPr>
            <a:spLocks noGrp="1"/>
          </p:cNvSpPr>
          <p:nvPr>
            <p:ph type="dt" sz="half" idx="6"/>
          </p:nvPr>
        </p:nvSpPr>
        <p:spPr/>
        <p:txBody>
          <a:bodyPr lIns="0" tIns="0" rIns="0" bIns="0"/>
          <a:lstStyle>
            <a:lvl1pPr>
              <a:defRPr sz="1200" b="0" i="0">
                <a:solidFill>
                  <a:srgbClr val="888888"/>
                </a:solidFill>
                <a:latin typeface="Carlito"/>
                <a:cs typeface="Carlito"/>
              </a:defRPr>
            </a:lvl1pPr>
          </a:lstStyle>
          <a:p>
            <a:pPr marL="85725">
              <a:lnSpc>
                <a:spcPts val="1240"/>
              </a:lnSpc>
            </a:pPr>
            <a:r>
              <a:rPr spc="-5" dirty="0"/>
              <a:t>Ashwani</a:t>
            </a:r>
            <a:r>
              <a:rPr spc="-30" dirty="0"/>
              <a:t> </a:t>
            </a:r>
            <a:r>
              <a:rPr spc="-5" dirty="0"/>
              <a:t>Kumar</a:t>
            </a:r>
          </a:p>
          <a:p>
            <a:pPr marL="12700">
              <a:lnSpc>
                <a:spcPct val="100000"/>
              </a:lnSpc>
            </a:pPr>
            <a:r>
              <a:rPr spc="-5" dirty="0"/>
              <a:t>NOSQL</a:t>
            </a:r>
            <a:r>
              <a:rPr spc="-45" dirty="0"/>
              <a:t> </a:t>
            </a:r>
            <a:r>
              <a:rPr spc="-5" dirty="0"/>
              <a:t>Databases</a:t>
            </a: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rlito"/>
                <a:cs typeface="Carlito"/>
              </a:defRPr>
            </a:lvl1pPr>
          </a:lstStyle>
          <a:p>
            <a:pPr marL="12700">
              <a:lnSpc>
                <a:spcPts val="1240"/>
              </a:lnSpc>
            </a:pPr>
            <a:r>
              <a:rPr dirty="0"/>
              <a:t>16 </a:t>
            </a:r>
            <a:r>
              <a:rPr spc="-5" dirty="0"/>
              <a:t>February</a:t>
            </a:r>
            <a:r>
              <a:rPr spc="-90" dirty="0"/>
              <a:t> </a:t>
            </a:r>
            <a:r>
              <a:rPr dirty="0"/>
              <a:t>2018</a:t>
            </a:r>
          </a:p>
        </p:txBody>
      </p:sp>
      <p:sp>
        <p:nvSpPr>
          <p:cNvPr id="3" name="Holder 3"/>
          <p:cNvSpPr>
            <a:spLocks noGrp="1"/>
          </p:cNvSpPr>
          <p:nvPr>
            <p:ph type="dt" sz="half" idx="6"/>
          </p:nvPr>
        </p:nvSpPr>
        <p:spPr/>
        <p:txBody>
          <a:bodyPr lIns="0" tIns="0" rIns="0" bIns="0"/>
          <a:lstStyle>
            <a:lvl1pPr>
              <a:defRPr sz="1200" b="0" i="0">
                <a:solidFill>
                  <a:srgbClr val="888888"/>
                </a:solidFill>
                <a:latin typeface="Carlito"/>
                <a:cs typeface="Carlito"/>
              </a:defRPr>
            </a:lvl1pPr>
          </a:lstStyle>
          <a:p>
            <a:pPr marL="85725">
              <a:lnSpc>
                <a:spcPts val="1240"/>
              </a:lnSpc>
            </a:pPr>
            <a:r>
              <a:rPr spc="-5" dirty="0"/>
              <a:t>Ashwani</a:t>
            </a:r>
            <a:r>
              <a:rPr spc="-30" dirty="0"/>
              <a:t> </a:t>
            </a:r>
            <a:r>
              <a:rPr spc="-5" dirty="0"/>
              <a:t>Kumar</a:t>
            </a:r>
          </a:p>
          <a:p>
            <a:pPr marL="12700">
              <a:lnSpc>
                <a:spcPct val="100000"/>
              </a:lnSpc>
            </a:pPr>
            <a:r>
              <a:rPr spc="-5" dirty="0"/>
              <a:t>NOSQL</a:t>
            </a:r>
            <a:r>
              <a:rPr spc="-45" dirty="0"/>
              <a:t> </a:t>
            </a:r>
            <a:r>
              <a:rPr spc="-5" dirty="0"/>
              <a:t>Databases</a:t>
            </a: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1957" y="217119"/>
            <a:ext cx="8400084" cy="574675"/>
          </a:xfrm>
          <a:prstGeom prst="rect">
            <a:avLst/>
          </a:prstGeom>
        </p:spPr>
        <p:txBody>
          <a:bodyPr wrap="square" lIns="0" tIns="0" rIns="0" bIns="0">
            <a:spAutoFit/>
          </a:bodyPr>
          <a:lstStyle>
            <a:lvl1pPr>
              <a:defRPr sz="3600" b="0" i="0">
                <a:solidFill>
                  <a:schemeClr val="bg1"/>
                </a:solidFill>
                <a:latin typeface="Carlito"/>
                <a:cs typeface="Carlito"/>
              </a:defRPr>
            </a:lvl1pPr>
          </a:lstStyle>
          <a:p>
            <a:endParaRPr/>
          </a:p>
        </p:txBody>
      </p:sp>
      <p:sp>
        <p:nvSpPr>
          <p:cNvPr id="3" name="Holder 3"/>
          <p:cNvSpPr>
            <a:spLocks noGrp="1"/>
          </p:cNvSpPr>
          <p:nvPr>
            <p:ph type="body" idx="1"/>
          </p:nvPr>
        </p:nvSpPr>
        <p:spPr>
          <a:xfrm>
            <a:off x="535940" y="1434853"/>
            <a:ext cx="7917180" cy="2619375"/>
          </a:xfrm>
          <a:prstGeom prst="rect">
            <a:avLst/>
          </a:prstGeom>
        </p:spPr>
        <p:txBody>
          <a:bodyPr wrap="square" lIns="0" tIns="0" rIns="0" bIns="0">
            <a:spAutoFit/>
          </a:bodyPr>
          <a:lstStyle>
            <a:lvl1pPr>
              <a:defRPr sz="2400" b="0" i="0">
                <a:solidFill>
                  <a:schemeClr val="tx1"/>
                </a:solidFill>
                <a:latin typeface="Carlito"/>
                <a:cs typeface="Carlito"/>
              </a:defRPr>
            </a:lvl1pPr>
          </a:lstStyle>
          <a:p>
            <a:endParaRPr/>
          </a:p>
        </p:txBody>
      </p:sp>
      <p:sp>
        <p:nvSpPr>
          <p:cNvPr id="4" name="Holder 4"/>
          <p:cNvSpPr>
            <a:spLocks noGrp="1"/>
          </p:cNvSpPr>
          <p:nvPr>
            <p:ph type="ftr" sz="quarter" idx="5"/>
          </p:nvPr>
        </p:nvSpPr>
        <p:spPr>
          <a:xfrm>
            <a:off x="535940" y="6465214"/>
            <a:ext cx="1109345" cy="177800"/>
          </a:xfrm>
          <a:prstGeom prst="rect">
            <a:avLst/>
          </a:prstGeom>
        </p:spPr>
        <p:txBody>
          <a:bodyPr wrap="square" lIns="0" tIns="0" rIns="0" bIns="0">
            <a:spAutoFit/>
          </a:bodyPr>
          <a:lstStyle>
            <a:lvl1pPr>
              <a:defRPr sz="1200" b="0" i="0">
                <a:solidFill>
                  <a:srgbClr val="888888"/>
                </a:solidFill>
                <a:latin typeface="Carlito"/>
                <a:cs typeface="Carlito"/>
              </a:defRPr>
            </a:lvl1pPr>
          </a:lstStyle>
          <a:p>
            <a:pPr marL="12700">
              <a:lnSpc>
                <a:spcPts val="1240"/>
              </a:lnSpc>
            </a:pPr>
            <a:r>
              <a:rPr dirty="0"/>
              <a:t>16 </a:t>
            </a:r>
            <a:r>
              <a:rPr spc="-5" dirty="0"/>
              <a:t>February</a:t>
            </a:r>
            <a:r>
              <a:rPr spc="-90" dirty="0"/>
              <a:t> </a:t>
            </a:r>
            <a:r>
              <a:rPr dirty="0"/>
              <a:t>2018</a:t>
            </a:r>
          </a:p>
        </p:txBody>
      </p:sp>
      <p:sp>
        <p:nvSpPr>
          <p:cNvPr id="5" name="Holder 5"/>
          <p:cNvSpPr>
            <a:spLocks noGrp="1"/>
          </p:cNvSpPr>
          <p:nvPr>
            <p:ph type="dt" sz="half" idx="6"/>
          </p:nvPr>
        </p:nvSpPr>
        <p:spPr>
          <a:xfrm>
            <a:off x="4004309" y="6373774"/>
            <a:ext cx="1134110" cy="360679"/>
          </a:xfrm>
          <a:prstGeom prst="rect">
            <a:avLst/>
          </a:prstGeom>
        </p:spPr>
        <p:txBody>
          <a:bodyPr wrap="square" lIns="0" tIns="0" rIns="0" bIns="0">
            <a:spAutoFit/>
          </a:bodyPr>
          <a:lstStyle>
            <a:lvl1pPr>
              <a:defRPr sz="1200" b="0" i="0">
                <a:solidFill>
                  <a:srgbClr val="888888"/>
                </a:solidFill>
                <a:latin typeface="Carlito"/>
                <a:cs typeface="Carlito"/>
              </a:defRPr>
            </a:lvl1pPr>
          </a:lstStyle>
          <a:p>
            <a:pPr marL="85725">
              <a:lnSpc>
                <a:spcPts val="1240"/>
              </a:lnSpc>
            </a:pPr>
            <a:r>
              <a:rPr spc="-5" dirty="0"/>
              <a:t>Ashwani</a:t>
            </a:r>
            <a:r>
              <a:rPr spc="-30" dirty="0"/>
              <a:t> </a:t>
            </a:r>
            <a:r>
              <a:rPr spc="-5" dirty="0"/>
              <a:t>Kumar</a:t>
            </a:r>
          </a:p>
          <a:p>
            <a:pPr marL="12700">
              <a:lnSpc>
                <a:spcPct val="100000"/>
              </a:lnSpc>
            </a:pPr>
            <a:r>
              <a:rPr spc="-5" dirty="0"/>
              <a:t>NOSQL</a:t>
            </a:r>
            <a:r>
              <a:rPr spc="-45" dirty="0"/>
              <a:t> </a:t>
            </a:r>
            <a:r>
              <a:rPr spc="-5" dirty="0"/>
              <a:t>Databases</a:t>
            </a:r>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jpg"/><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pn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9.png"/><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jp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1.png"/><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4.png"/><Relationship Id="rId1" Type="http://schemas.openxmlformats.org/officeDocument/2006/relationships/slideLayout" Target="../slideLayouts/slideLayout4.xml"/><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1.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5.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5.jpg"/><Relationship Id="rId1" Type="http://schemas.openxmlformats.org/officeDocument/2006/relationships/slideLayout" Target="../slideLayouts/slideLayout4.xml"/><Relationship Id="rId5" Type="http://schemas.openxmlformats.org/officeDocument/2006/relationships/image" Target="../media/image47.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8.png"/><Relationship Id="rId3" Type="http://schemas.openxmlformats.org/officeDocument/2006/relationships/image" Target="../media/image49.png"/><Relationship Id="rId7" Type="http://schemas.openxmlformats.org/officeDocument/2006/relationships/image" Target="../media/image53.jpg"/><Relationship Id="rId12" Type="http://schemas.openxmlformats.org/officeDocument/2006/relationships/image" Target="../media/image57.png"/><Relationship Id="rId2" Type="http://schemas.openxmlformats.org/officeDocument/2006/relationships/image" Target="../media/image48.jpg"/><Relationship Id="rId1" Type="http://schemas.openxmlformats.org/officeDocument/2006/relationships/slideLayout" Target="../slideLayouts/slideLayout4.xml"/><Relationship Id="rId6" Type="http://schemas.openxmlformats.org/officeDocument/2006/relationships/image" Target="../media/image52.jpg"/><Relationship Id="rId11" Type="http://schemas.openxmlformats.org/officeDocument/2006/relationships/image" Target="../media/image5.png"/><Relationship Id="rId5" Type="http://schemas.openxmlformats.org/officeDocument/2006/relationships/image" Target="../media/image51.png"/><Relationship Id="rId10" Type="http://schemas.openxmlformats.org/officeDocument/2006/relationships/image" Target="../media/image56.jpg"/><Relationship Id="rId4" Type="http://schemas.openxmlformats.org/officeDocument/2006/relationships/image" Target="../media/image50.jpg"/><Relationship Id="rId9"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9.jpg"/><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63.png"/></Relationships>
</file>

<file path=ppt/slides/_rels/slide19.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6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jpg"/><Relationship Id="rId7" Type="http://schemas.openxmlformats.org/officeDocument/2006/relationships/image" Target="../media/image72.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jp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s>
</file>

<file path=ppt/slides/_rels/slide21.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12.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5.png"/><Relationship Id="rId4" Type="http://schemas.openxmlformats.org/officeDocument/2006/relationships/image" Target="../media/image78.jp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0.jp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81.png"/></Relationships>
</file>

<file path=ppt/slides/_rels/slide23.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83.jpg"/><Relationship Id="rId7" Type="http://schemas.openxmlformats.org/officeDocument/2006/relationships/image" Target="../media/image87.jpg"/><Relationship Id="rId2" Type="http://schemas.openxmlformats.org/officeDocument/2006/relationships/image" Target="../media/image82.png"/><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jpg"/><Relationship Id="rId10" Type="http://schemas.openxmlformats.org/officeDocument/2006/relationships/image" Target="../media/image89.png"/><Relationship Id="rId4" Type="http://schemas.openxmlformats.org/officeDocument/2006/relationships/image" Target="../media/image84.png"/><Relationship Id="rId9" Type="http://schemas.openxmlformats.org/officeDocument/2006/relationships/image" Target="../media/image88.png"/></Relationships>
</file>

<file path=ppt/slides/_rels/slide24.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1.png"/><Relationship Id="rId7" Type="http://schemas.openxmlformats.org/officeDocument/2006/relationships/image" Target="../media/image73.png"/><Relationship Id="rId2" Type="http://schemas.openxmlformats.org/officeDocument/2006/relationships/image" Target="../media/image90.jpg"/><Relationship Id="rId1" Type="http://schemas.openxmlformats.org/officeDocument/2006/relationships/slideLayout" Target="../slideLayouts/slideLayout2.xml"/><Relationship Id="rId6" Type="http://schemas.openxmlformats.org/officeDocument/2006/relationships/image" Target="../media/image94.jpg"/><Relationship Id="rId5" Type="http://schemas.openxmlformats.org/officeDocument/2006/relationships/image" Target="../media/image93.png"/><Relationship Id="rId4" Type="http://schemas.openxmlformats.org/officeDocument/2006/relationships/image" Target="../media/image92.jpg"/><Relationship Id="rId9" Type="http://schemas.openxmlformats.org/officeDocument/2006/relationships/image" Target="../media/image96.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7.jp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98.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9.jpg"/><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00.png"/></Relationships>
</file>

<file path=ppt/slides/_rels/slide2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28.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4.png"/><Relationship Id="rId7" Type="http://schemas.openxmlformats.org/officeDocument/2006/relationships/image" Target="../media/image5.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107.jpg"/><Relationship Id="rId5" Type="http://schemas.openxmlformats.org/officeDocument/2006/relationships/image" Target="../media/image106.png"/><Relationship Id="rId4" Type="http://schemas.openxmlformats.org/officeDocument/2006/relationships/image" Target="../media/image105.png"/><Relationship Id="rId9" Type="http://schemas.openxmlformats.org/officeDocument/2006/relationships/image" Target="../media/image109.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0.jpg"/><Relationship Id="rId1" Type="http://schemas.openxmlformats.org/officeDocument/2006/relationships/slideLayout" Target="../slideLayouts/slideLayout4.xml"/><Relationship Id="rId5" Type="http://schemas.openxmlformats.org/officeDocument/2006/relationships/image" Target="../media/image109.png"/><Relationship Id="rId4" Type="http://schemas.openxmlformats.org/officeDocument/2006/relationships/image" Target="../media/image111.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2.jpg"/><Relationship Id="rId1" Type="http://schemas.openxmlformats.org/officeDocument/2006/relationships/slideLayout" Target="../slideLayouts/slideLayout4.xml"/><Relationship Id="rId5" Type="http://schemas.openxmlformats.org/officeDocument/2006/relationships/image" Target="../media/image109.png"/><Relationship Id="rId4" Type="http://schemas.openxmlformats.org/officeDocument/2006/relationships/image" Target="../media/image113.png"/></Relationships>
</file>

<file path=ppt/slides/_rels/slide31.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hyperlink" Target="http://www.couchbase.com/nosql-resources/what-is-no-sql" TargetMode="External"/><Relationship Id="rId7" Type="http://schemas.openxmlformats.org/officeDocument/2006/relationships/image" Target="../media/image114.png"/><Relationship Id="rId2" Type="http://schemas.openxmlformats.org/officeDocument/2006/relationships/hyperlink" Target="http://www.mongodb.com/nosql-explained" TargetMode="Externa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www.slideshare.net/AshwaniKumar274" TargetMode="External"/><Relationship Id="rId4" Type="http://schemas.openxmlformats.org/officeDocument/2006/relationships/hyperlink" Target="http://nosql-database.org/" TargetMode="External"/></Relationships>
</file>

<file path=ppt/slides/_rels/slide32.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6.png"/><Relationship Id="rId7" Type="http://schemas.openxmlformats.org/officeDocument/2006/relationships/image" Target="../media/image119.png"/><Relationship Id="rId2" Type="http://schemas.openxmlformats.org/officeDocument/2006/relationships/image" Target="../media/image115.pn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118.png"/><Relationship Id="rId4" Type="http://schemas.openxmlformats.org/officeDocument/2006/relationships/image" Target="../media/image117.png"/><Relationship Id="rId9"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378952" y="0"/>
            <a:ext cx="769620" cy="1285240"/>
            <a:chOff x="8378952" y="0"/>
            <a:chExt cx="769620" cy="1285240"/>
          </a:xfrm>
        </p:grpSpPr>
        <p:sp>
          <p:nvSpPr>
            <p:cNvPr id="3" name="object 3"/>
            <p:cNvSpPr/>
            <p:nvPr/>
          </p:nvSpPr>
          <p:spPr>
            <a:xfrm>
              <a:off x="8531219" y="0"/>
              <a:ext cx="612780" cy="1275684"/>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8378952" y="132588"/>
              <a:ext cx="765048" cy="114757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8569452" y="0"/>
              <a:ext cx="574548" cy="1219200"/>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8569452" y="0"/>
              <a:ext cx="574675" cy="1219200"/>
            </a:xfrm>
            <a:custGeom>
              <a:avLst/>
              <a:gdLst/>
              <a:ahLst/>
              <a:cxnLst/>
              <a:rect l="l" t="t" r="r" b="b"/>
              <a:pathLst>
                <a:path w="574675" h="1219200">
                  <a:moveTo>
                    <a:pt x="0" y="1219200"/>
                  </a:moveTo>
                  <a:lnTo>
                    <a:pt x="574548" y="1219200"/>
                  </a:lnTo>
                  <a:lnTo>
                    <a:pt x="574548" y="0"/>
                  </a:lnTo>
                  <a:lnTo>
                    <a:pt x="0" y="0"/>
                  </a:lnTo>
                  <a:lnTo>
                    <a:pt x="0" y="1219200"/>
                  </a:lnTo>
                  <a:close/>
                </a:path>
              </a:pathLst>
            </a:custGeom>
            <a:ln w="9144">
              <a:solidFill>
                <a:srgbClr val="BD4A47"/>
              </a:solidFill>
            </a:ln>
          </p:spPr>
          <p:txBody>
            <a:bodyPr wrap="square" lIns="0" tIns="0" rIns="0" bIns="0" rtlCol="0"/>
            <a:lstStyle/>
            <a:p>
              <a:endParaRPr/>
            </a:p>
          </p:txBody>
        </p:sp>
      </p:grpSp>
      <p:sp>
        <p:nvSpPr>
          <p:cNvPr id="7" name="object 7"/>
          <p:cNvSpPr txBox="1"/>
          <p:nvPr/>
        </p:nvSpPr>
        <p:spPr>
          <a:xfrm>
            <a:off x="8715502" y="260349"/>
            <a:ext cx="283210"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FFFFFF"/>
                </a:solidFill>
                <a:latin typeface="Carlito"/>
                <a:cs typeface="Carlito"/>
              </a:rPr>
              <a:t>1</a:t>
            </a:r>
            <a:endParaRPr sz="4000">
              <a:latin typeface="Carlito"/>
              <a:cs typeface="Carlito"/>
            </a:endParaRPr>
          </a:p>
        </p:txBody>
      </p:sp>
      <p:sp>
        <p:nvSpPr>
          <p:cNvPr id="10" name="object 10"/>
          <p:cNvSpPr/>
          <p:nvPr/>
        </p:nvSpPr>
        <p:spPr>
          <a:xfrm>
            <a:off x="986504" y="3613403"/>
            <a:ext cx="6490239" cy="1524000"/>
          </a:xfrm>
          <a:prstGeom prst="rect">
            <a:avLst/>
          </a:prstGeom>
          <a:blipFill>
            <a:blip r:embed="rId5" cstate="print"/>
            <a:stretch>
              <a:fillRect/>
            </a:stretch>
          </a:blipFill>
        </p:spPr>
        <p:txBody>
          <a:bodyPr wrap="square" lIns="0" tIns="0" rIns="0" bIns="0" rtlCol="0"/>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378952" y="0"/>
            <a:ext cx="765175" cy="1172210"/>
            <a:chOff x="8378952" y="0"/>
            <a:chExt cx="765175" cy="1172210"/>
          </a:xfrm>
        </p:grpSpPr>
        <p:sp>
          <p:nvSpPr>
            <p:cNvPr id="3" name="object 3"/>
            <p:cNvSpPr/>
            <p:nvPr/>
          </p:nvSpPr>
          <p:spPr>
            <a:xfrm>
              <a:off x="8531219" y="0"/>
              <a:ext cx="612780" cy="1057759"/>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8378952" y="24383"/>
              <a:ext cx="765048" cy="1147572"/>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8569452" y="0"/>
              <a:ext cx="574548" cy="1001267"/>
            </a:xfrm>
            <a:prstGeom prst="rect">
              <a:avLst/>
            </a:prstGeom>
            <a:blipFill>
              <a:blip r:embed="rId4" cstate="print"/>
              <a:stretch>
                <a:fillRect/>
              </a:stretch>
            </a:blipFill>
          </p:spPr>
          <p:txBody>
            <a:bodyPr wrap="square" lIns="0" tIns="0" rIns="0" bIns="0" rtlCol="0"/>
            <a:lstStyle/>
            <a:p>
              <a:endParaRPr/>
            </a:p>
          </p:txBody>
        </p:sp>
      </p:grpSp>
      <p:sp>
        <p:nvSpPr>
          <p:cNvPr id="6" name="object 6"/>
          <p:cNvSpPr txBox="1"/>
          <p:nvPr/>
        </p:nvSpPr>
        <p:spPr>
          <a:xfrm>
            <a:off x="8569452" y="0"/>
            <a:ext cx="574675" cy="1001394"/>
          </a:xfrm>
          <a:prstGeom prst="rect">
            <a:avLst/>
          </a:prstGeom>
          <a:ln w="9144">
            <a:solidFill>
              <a:srgbClr val="BD4A47"/>
            </a:solidFill>
          </a:ln>
        </p:spPr>
        <p:txBody>
          <a:bodyPr vert="horz" wrap="square" lIns="0" tIns="163195" rIns="0" bIns="0" rtlCol="0">
            <a:spAutoFit/>
          </a:bodyPr>
          <a:lstStyle/>
          <a:p>
            <a:pPr marL="158750">
              <a:lnSpc>
                <a:spcPct val="100000"/>
              </a:lnSpc>
              <a:spcBef>
                <a:spcPts val="1285"/>
              </a:spcBef>
            </a:pPr>
            <a:r>
              <a:rPr sz="4000" spc="-5" dirty="0">
                <a:solidFill>
                  <a:srgbClr val="FFFFFF"/>
                </a:solidFill>
                <a:latin typeface="Carlito"/>
                <a:cs typeface="Carlito"/>
              </a:rPr>
              <a:t>2</a:t>
            </a:r>
            <a:endParaRPr sz="4000">
              <a:latin typeface="Carlito"/>
              <a:cs typeface="Carlito"/>
            </a:endParaRPr>
          </a:p>
        </p:txBody>
      </p:sp>
      <p:grpSp>
        <p:nvGrpSpPr>
          <p:cNvPr id="7" name="object 7"/>
          <p:cNvGrpSpPr/>
          <p:nvPr/>
        </p:nvGrpSpPr>
        <p:grpSpPr>
          <a:xfrm>
            <a:off x="140207" y="140207"/>
            <a:ext cx="8255634" cy="788035"/>
            <a:chOff x="140207" y="140207"/>
            <a:chExt cx="8255634" cy="788035"/>
          </a:xfrm>
        </p:grpSpPr>
        <p:sp>
          <p:nvSpPr>
            <p:cNvPr id="8" name="object 8"/>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9" name="object 9"/>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10" name="object 10"/>
          <p:cNvSpPr txBox="1">
            <a:spLocks noGrp="1"/>
          </p:cNvSpPr>
          <p:nvPr>
            <p:ph type="title"/>
          </p:nvPr>
        </p:nvSpPr>
        <p:spPr>
          <a:xfrm>
            <a:off x="427736" y="184149"/>
            <a:ext cx="7682230" cy="635000"/>
          </a:xfrm>
          <a:prstGeom prst="rect">
            <a:avLst/>
          </a:prstGeom>
        </p:spPr>
        <p:txBody>
          <a:bodyPr vert="horz" wrap="square" lIns="0" tIns="12065" rIns="0" bIns="0" rtlCol="0">
            <a:spAutoFit/>
          </a:bodyPr>
          <a:lstStyle/>
          <a:p>
            <a:pPr marL="12700">
              <a:lnSpc>
                <a:spcPct val="100000"/>
              </a:lnSpc>
              <a:spcBef>
                <a:spcPts val="95"/>
              </a:spcBef>
            </a:pPr>
            <a:r>
              <a:rPr sz="4000" spc="-15" dirty="0"/>
              <a:t>What </a:t>
            </a:r>
            <a:r>
              <a:rPr sz="4000" spc="-5" dirty="0"/>
              <a:t>is </a:t>
            </a:r>
            <a:r>
              <a:rPr sz="4000" spc="-25" dirty="0"/>
              <a:t>covered </a:t>
            </a:r>
            <a:r>
              <a:rPr sz="4000" spc="-5" dirty="0"/>
              <a:t>in this</a:t>
            </a:r>
            <a:r>
              <a:rPr sz="4000" spc="-20" dirty="0"/>
              <a:t> </a:t>
            </a:r>
            <a:r>
              <a:rPr sz="4000" spc="-15" dirty="0"/>
              <a:t>presentation?</a:t>
            </a:r>
            <a:endParaRPr sz="4000"/>
          </a:p>
        </p:txBody>
      </p:sp>
      <p:sp>
        <p:nvSpPr>
          <p:cNvPr id="11" name="object 11"/>
          <p:cNvSpPr txBox="1"/>
          <p:nvPr/>
        </p:nvSpPr>
        <p:spPr>
          <a:xfrm>
            <a:off x="383540" y="1537461"/>
            <a:ext cx="4651375" cy="3317875"/>
          </a:xfrm>
          <a:prstGeom prst="rect">
            <a:avLst/>
          </a:prstGeom>
        </p:spPr>
        <p:txBody>
          <a:bodyPr vert="horz" wrap="square" lIns="0" tIns="12700" rIns="0" bIns="0" rtlCol="0">
            <a:spAutoFit/>
          </a:bodyPr>
          <a:lstStyle/>
          <a:p>
            <a:pPr marL="299085" indent="-287020">
              <a:lnSpc>
                <a:spcPct val="100000"/>
              </a:lnSpc>
              <a:spcBef>
                <a:spcPts val="100"/>
              </a:spcBef>
              <a:buClr>
                <a:srgbClr val="C00000"/>
              </a:buClr>
              <a:buFont typeface="Wingdings"/>
              <a:buChar char=""/>
              <a:tabLst>
                <a:tab pos="299720" algn="l"/>
              </a:tabLst>
            </a:pPr>
            <a:r>
              <a:rPr sz="2400" dirty="0">
                <a:latin typeface="Carlito"/>
                <a:cs typeface="Carlito"/>
              </a:rPr>
              <a:t>A </a:t>
            </a:r>
            <a:r>
              <a:rPr sz="2400" spc="-10" dirty="0">
                <a:latin typeface="Carlito"/>
                <a:cs typeface="Carlito"/>
              </a:rPr>
              <a:t>brief history </a:t>
            </a:r>
            <a:r>
              <a:rPr sz="2400" spc="-5" dirty="0">
                <a:latin typeface="Carlito"/>
                <a:cs typeface="Carlito"/>
              </a:rPr>
              <a:t>of</a:t>
            </a:r>
            <a:r>
              <a:rPr sz="2400" spc="-15" dirty="0">
                <a:latin typeface="Carlito"/>
                <a:cs typeface="Carlito"/>
              </a:rPr>
              <a:t> </a:t>
            </a:r>
            <a:r>
              <a:rPr sz="2400" spc="-10" dirty="0">
                <a:latin typeface="Carlito"/>
                <a:cs typeface="Carlito"/>
              </a:rPr>
              <a:t>databases</a:t>
            </a:r>
            <a:endParaRPr sz="2400">
              <a:latin typeface="Carlito"/>
              <a:cs typeface="Carlito"/>
            </a:endParaRPr>
          </a:p>
          <a:p>
            <a:pPr>
              <a:lnSpc>
                <a:spcPct val="100000"/>
              </a:lnSpc>
              <a:spcBef>
                <a:spcPts val="10"/>
              </a:spcBef>
              <a:buClr>
                <a:srgbClr val="C00000"/>
              </a:buClr>
              <a:buFont typeface="Wingdings"/>
              <a:buChar char=""/>
            </a:pPr>
            <a:endParaRPr sz="2350">
              <a:latin typeface="Carlito"/>
              <a:cs typeface="Carlito"/>
            </a:endParaRPr>
          </a:p>
          <a:p>
            <a:pPr marL="299085" indent="-287020">
              <a:lnSpc>
                <a:spcPct val="100000"/>
              </a:lnSpc>
              <a:spcBef>
                <a:spcPts val="5"/>
              </a:spcBef>
              <a:buClr>
                <a:srgbClr val="C00000"/>
              </a:buClr>
              <a:buFont typeface="Wingdings"/>
              <a:buChar char=""/>
              <a:tabLst>
                <a:tab pos="299720" algn="l"/>
              </a:tabLst>
            </a:pPr>
            <a:r>
              <a:rPr sz="2400" dirty="0">
                <a:latin typeface="Carlito"/>
                <a:cs typeface="Carlito"/>
              </a:rPr>
              <a:t>NoSQL </a:t>
            </a:r>
            <a:r>
              <a:rPr sz="2400" spc="-75" dirty="0">
                <a:latin typeface="Carlito"/>
                <a:cs typeface="Carlito"/>
              </a:rPr>
              <a:t>WHY, </a:t>
            </a:r>
            <a:r>
              <a:rPr sz="2400" spc="-50" dirty="0">
                <a:latin typeface="Carlito"/>
                <a:cs typeface="Carlito"/>
              </a:rPr>
              <a:t>WHAT </a:t>
            </a:r>
            <a:r>
              <a:rPr sz="2400" dirty="0">
                <a:latin typeface="Carlito"/>
                <a:cs typeface="Carlito"/>
              </a:rPr>
              <a:t>&amp;</a:t>
            </a:r>
            <a:r>
              <a:rPr sz="2400" spc="85" dirty="0">
                <a:latin typeface="Carlito"/>
                <a:cs typeface="Carlito"/>
              </a:rPr>
              <a:t> </a:t>
            </a:r>
            <a:r>
              <a:rPr sz="2400" dirty="0">
                <a:latin typeface="Carlito"/>
                <a:cs typeface="Carlito"/>
              </a:rPr>
              <a:t>WHEN?</a:t>
            </a:r>
            <a:endParaRPr sz="2400">
              <a:latin typeface="Carlito"/>
              <a:cs typeface="Carlito"/>
            </a:endParaRPr>
          </a:p>
          <a:p>
            <a:pPr>
              <a:lnSpc>
                <a:spcPct val="100000"/>
              </a:lnSpc>
              <a:spcBef>
                <a:spcPts val="10"/>
              </a:spcBef>
              <a:buClr>
                <a:srgbClr val="C00000"/>
              </a:buClr>
              <a:buFont typeface="Wingdings"/>
              <a:buChar char=""/>
            </a:pPr>
            <a:endParaRPr sz="2350">
              <a:latin typeface="Carlito"/>
              <a:cs typeface="Carlito"/>
            </a:endParaRPr>
          </a:p>
          <a:p>
            <a:pPr marL="299085" indent="-287020">
              <a:lnSpc>
                <a:spcPct val="100000"/>
              </a:lnSpc>
              <a:buClr>
                <a:srgbClr val="C00000"/>
              </a:buClr>
              <a:buFont typeface="Wingdings"/>
              <a:buChar char=""/>
              <a:tabLst>
                <a:tab pos="299720" algn="l"/>
              </a:tabLst>
            </a:pPr>
            <a:r>
              <a:rPr sz="2400" spc="-10" dirty="0">
                <a:latin typeface="Carlito"/>
                <a:cs typeface="Carlito"/>
              </a:rPr>
              <a:t>Characteristics </a:t>
            </a:r>
            <a:r>
              <a:rPr sz="2400" spc="-5" dirty="0">
                <a:latin typeface="Carlito"/>
                <a:cs typeface="Carlito"/>
              </a:rPr>
              <a:t>of NoSQL</a:t>
            </a:r>
            <a:r>
              <a:rPr sz="2400" spc="-45" dirty="0">
                <a:latin typeface="Carlito"/>
                <a:cs typeface="Carlito"/>
              </a:rPr>
              <a:t> </a:t>
            </a:r>
            <a:r>
              <a:rPr sz="2400" spc="-10" dirty="0">
                <a:latin typeface="Carlito"/>
                <a:cs typeface="Carlito"/>
              </a:rPr>
              <a:t>databases</a:t>
            </a:r>
            <a:endParaRPr sz="2400">
              <a:latin typeface="Carlito"/>
              <a:cs typeface="Carlito"/>
            </a:endParaRPr>
          </a:p>
          <a:p>
            <a:pPr>
              <a:lnSpc>
                <a:spcPct val="100000"/>
              </a:lnSpc>
              <a:spcBef>
                <a:spcPts val="10"/>
              </a:spcBef>
              <a:buClr>
                <a:srgbClr val="C00000"/>
              </a:buClr>
              <a:buFont typeface="Wingdings"/>
              <a:buChar char=""/>
            </a:pPr>
            <a:endParaRPr sz="2350">
              <a:latin typeface="Carlito"/>
              <a:cs typeface="Carlito"/>
            </a:endParaRPr>
          </a:p>
          <a:p>
            <a:pPr marL="299085" indent="-287020">
              <a:lnSpc>
                <a:spcPct val="100000"/>
              </a:lnSpc>
              <a:spcBef>
                <a:spcPts val="5"/>
              </a:spcBef>
              <a:buClr>
                <a:srgbClr val="C00000"/>
              </a:buClr>
              <a:buFont typeface="Wingdings"/>
              <a:buChar char=""/>
              <a:tabLst>
                <a:tab pos="299720" algn="l"/>
              </a:tabLst>
            </a:pPr>
            <a:r>
              <a:rPr sz="2400" spc="-15" dirty="0">
                <a:latin typeface="Carlito"/>
                <a:cs typeface="Carlito"/>
              </a:rPr>
              <a:t>Aggregate data</a:t>
            </a:r>
            <a:r>
              <a:rPr sz="2400" spc="-30" dirty="0">
                <a:latin typeface="Carlito"/>
                <a:cs typeface="Carlito"/>
              </a:rPr>
              <a:t> </a:t>
            </a:r>
            <a:r>
              <a:rPr sz="2400" dirty="0">
                <a:latin typeface="Carlito"/>
                <a:cs typeface="Carlito"/>
              </a:rPr>
              <a:t>models</a:t>
            </a:r>
            <a:endParaRPr sz="2400">
              <a:latin typeface="Carlito"/>
              <a:cs typeface="Carlito"/>
            </a:endParaRPr>
          </a:p>
          <a:p>
            <a:pPr>
              <a:lnSpc>
                <a:spcPct val="100000"/>
              </a:lnSpc>
              <a:spcBef>
                <a:spcPts val="10"/>
              </a:spcBef>
              <a:buClr>
                <a:srgbClr val="C00000"/>
              </a:buClr>
              <a:buFont typeface="Wingdings"/>
              <a:buChar char=""/>
            </a:pPr>
            <a:endParaRPr sz="2350">
              <a:latin typeface="Carlito"/>
              <a:cs typeface="Carlito"/>
            </a:endParaRPr>
          </a:p>
          <a:p>
            <a:pPr marL="299085" indent="-287020">
              <a:lnSpc>
                <a:spcPct val="100000"/>
              </a:lnSpc>
              <a:buClr>
                <a:srgbClr val="C00000"/>
              </a:buClr>
              <a:buFont typeface="Wingdings"/>
              <a:buChar char=""/>
              <a:tabLst>
                <a:tab pos="299720" algn="l"/>
              </a:tabLst>
            </a:pPr>
            <a:r>
              <a:rPr sz="2400" dirty="0">
                <a:latin typeface="Carlito"/>
                <a:cs typeface="Carlito"/>
              </a:rPr>
              <a:t>CAP</a:t>
            </a:r>
            <a:r>
              <a:rPr sz="2400" spc="-25" dirty="0">
                <a:latin typeface="Carlito"/>
                <a:cs typeface="Carlito"/>
              </a:rPr>
              <a:t> </a:t>
            </a:r>
            <a:r>
              <a:rPr sz="2400" spc="-5" dirty="0">
                <a:latin typeface="Carlito"/>
                <a:cs typeface="Carlito"/>
              </a:rPr>
              <a:t>theorem</a:t>
            </a:r>
            <a:endParaRPr sz="2400">
              <a:latin typeface="Carlito"/>
              <a:cs typeface="Carl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40144" y="140144"/>
            <a:ext cx="8255634" cy="788035"/>
            <a:chOff x="140144" y="140144"/>
            <a:chExt cx="8255634" cy="788035"/>
          </a:xfrm>
        </p:grpSpPr>
        <p:sp>
          <p:nvSpPr>
            <p:cNvPr id="3" name="object 3"/>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4" name="object 4"/>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5" name="object 5"/>
          <p:cNvSpPr txBox="1">
            <a:spLocks noGrp="1"/>
          </p:cNvSpPr>
          <p:nvPr>
            <p:ph type="title"/>
          </p:nvPr>
        </p:nvSpPr>
        <p:spPr>
          <a:xfrm>
            <a:off x="2970022" y="184149"/>
            <a:ext cx="2592705" cy="635000"/>
          </a:xfrm>
          <a:prstGeom prst="rect">
            <a:avLst/>
          </a:prstGeom>
        </p:spPr>
        <p:txBody>
          <a:bodyPr vert="horz" wrap="square" lIns="0" tIns="12065" rIns="0" bIns="0" rtlCol="0">
            <a:spAutoFit/>
          </a:bodyPr>
          <a:lstStyle/>
          <a:p>
            <a:pPr marL="12700">
              <a:lnSpc>
                <a:spcPct val="100000"/>
              </a:lnSpc>
              <a:spcBef>
                <a:spcPts val="95"/>
              </a:spcBef>
            </a:pPr>
            <a:r>
              <a:rPr sz="4000" spc="-15" dirty="0"/>
              <a:t>Introduction</a:t>
            </a:r>
            <a:endParaRPr sz="4000"/>
          </a:p>
        </p:txBody>
      </p:sp>
      <p:sp>
        <p:nvSpPr>
          <p:cNvPr id="6" name="object 6"/>
          <p:cNvSpPr txBox="1"/>
          <p:nvPr/>
        </p:nvSpPr>
        <p:spPr>
          <a:xfrm>
            <a:off x="764540" y="1308861"/>
            <a:ext cx="5201920" cy="391160"/>
          </a:xfrm>
          <a:prstGeom prst="rect">
            <a:avLst/>
          </a:prstGeom>
        </p:spPr>
        <p:txBody>
          <a:bodyPr vert="horz" wrap="square" lIns="0" tIns="12700" rIns="0" bIns="0" rtlCol="0">
            <a:spAutoFit/>
          </a:bodyPr>
          <a:lstStyle/>
          <a:p>
            <a:pPr marL="355600" indent="-343535">
              <a:lnSpc>
                <a:spcPct val="100000"/>
              </a:lnSpc>
              <a:spcBef>
                <a:spcPts val="100"/>
              </a:spcBef>
              <a:buFont typeface="Wingdings"/>
              <a:buChar char=""/>
              <a:tabLst>
                <a:tab pos="356235" algn="l"/>
              </a:tabLst>
            </a:pPr>
            <a:r>
              <a:rPr sz="2400" u="heavy" spc="-10" dirty="0">
                <a:uFill>
                  <a:solidFill>
                    <a:srgbClr val="000000"/>
                  </a:solidFill>
                </a:uFill>
                <a:latin typeface="Carlito"/>
                <a:cs typeface="Carlito"/>
              </a:rPr>
              <a:t>Database</a:t>
            </a:r>
            <a:r>
              <a:rPr sz="2400" spc="-10" dirty="0">
                <a:latin typeface="Carlito"/>
                <a:cs typeface="Carlito"/>
              </a:rPr>
              <a:t> </a:t>
            </a:r>
            <a:r>
              <a:rPr sz="2400" dirty="0">
                <a:latin typeface="Carlito"/>
                <a:cs typeface="Carlito"/>
              </a:rPr>
              <a:t>- </a:t>
            </a:r>
            <a:r>
              <a:rPr sz="2400" spc="-20" dirty="0">
                <a:latin typeface="Carlito"/>
                <a:cs typeface="Carlito"/>
              </a:rPr>
              <a:t>Organized </a:t>
            </a:r>
            <a:r>
              <a:rPr sz="2400" spc="-10" dirty="0">
                <a:latin typeface="Carlito"/>
                <a:cs typeface="Carlito"/>
              </a:rPr>
              <a:t>collection </a:t>
            </a:r>
            <a:r>
              <a:rPr sz="2400" spc="-5" dirty="0">
                <a:latin typeface="Carlito"/>
                <a:cs typeface="Carlito"/>
              </a:rPr>
              <a:t>of</a:t>
            </a:r>
            <a:r>
              <a:rPr sz="2400" spc="10" dirty="0">
                <a:latin typeface="Carlito"/>
                <a:cs typeface="Carlito"/>
              </a:rPr>
              <a:t> </a:t>
            </a:r>
            <a:r>
              <a:rPr sz="2400" spc="-15" dirty="0">
                <a:latin typeface="Carlito"/>
                <a:cs typeface="Carlito"/>
              </a:rPr>
              <a:t>data</a:t>
            </a:r>
            <a:endParaRPr sz="2400">
              <a:latin typeface="Carlito"/>
              <a:cs typeface="Carlito"/>
            </a:endParaRPr>
          </a:p>
        </p:txBody>
      </p:sp>
      <p:sp>
        <p:nvSpPr>
          <p:cNvPr id="7" name="object 7"/>
          <p:cNvSpPr txBox="1"/>
          <p:nvPr/>
        </p:nvSpPr>
        <p:spPr>
          <a:xfrm>
            <a:off x="764540" y="2406522"/>
            <a:ext cx="1403985" cy="391160"/>
          </a:xfrm>
          <a:prstGeom prst="rect">
            <a:avLst/>
          </a:prstGeom>
        </p:spPr>
        <p:txBody>
          <a:bodyPr vert="horz" wrap="square" lIns="0" tIns="12700" rIns="0" bIns="0" rtlCol="0">
            <a:spAutoFit/>
          </a:bodyPr>
          <a:lstStyle/>
          <a:p>
            <a:pPr marL="355600" indent="-343535">
              <a:lnSpc>
                <a:spcPct val="100000"/>
              </a:lnSpc>
              <a:spcBef>
                <a:spcPts val="100"/>
              </a:spcBef>
              <a:buFont typeface="Wingdings"/>
              <a:buChar char=""/>
              <a:tabLst>
                <a:tab pos="356235" algn="l"/>
                <a:tab pos="1297305" algn="l"/>
              </a:tabLst>
            </a:pPr>
            <a:r>
              <a:rPr sz="2400" u="heavy" spc="-5" dirty="0">
                <a:uFill>
                  <a:solidFill>
                    <a:srgbClr val="000000"/>
                  </a:solidFill>
                </a:uFill>
                <a:latin typeface="Carlito"/>
                <a:cs typeface="Carlito"/>
              </a:rPr>
              <a:t>DBM</a:t>
            </a:r>
            <a:r>
              <a:rPr sz="2400" u="heavy" dirty="0">
                <a:uFill>
                  <a:solidFill>
                    <a:srgbClr val="000000"/>
                  </a:solidFill>
                </a:uFill>
                <a:latin typeface="Carlito"/>
                <a:cs typeface="Carlito"/>
              </a:rPr>
              <a:t>S</a:t>
            </a:r>
            <a:r>
              <a:rPr sz="2400" dirty="0">
                <a:latin typeface="Carlito"/>
                <a:cs typeface="Carlito"/>
              </a:rPr>
              <a:t>	-</a:t>
            </a:r>
            <a:endParaRPr sz="2400">
              <a:latin typeface="Carlito"/>
              <a:cs typeface="Carlito"/>
            </a:endParaRPr>
          </a:p>
        </p:txBody>
      </p:sp>
      <p:sp>
        <p:nvSpPr>
          <p:cNvPr id="8" name="object 8"/>
          <p:cNvSpPr txBox="1"/>
          <p:nvPr/>
        </p:nvSpPr>
        <p:spPr>
          <a:xfrm>
            <a:off x="2517394" y="2406522"/>
            <a:ext cx="5784850" cy="391160"/>
          </a:xfrm>
          <a:prstGeom prst="rect">
            <a:avLst/>
          </a:prstGeom>
        </p:spPr>
        <p:txBody>
          <a:bodyPr vert="horz" wrap="square" lIns="0" tIns="12700" rIns="0" bIns="0" rtlCol="0">
            <a:spAutoFit/>
          </a:bodyPr>
          <a:lstStyle/>
          <a:p>
            <a:pPr marL="12700">
              <a:lnSpc>
                <a:spcPct val="100000"/>
              </a:lnSpc>
              <a:spcBef>
                <a:spcPts val="100"/>
              </a:spcBef>
              <a:tabLst>
                <a:tab pos="1352550" algn="l"/>
                <a:tab pos="3199765" algn="l"/>
                <a:tab pos="4349115" algn="l"/>
                <a:tab pos="4683125" algn="l"/>
              </a:tabLst>
            </a:pPr>
            <a:r>
              <a:rPr sz="2400" u="heavy" spc="-10" dirty="0">
                <a:uFill>
                  <a:solidFill>
                    <a:srgbClr val="000000"/>
                  </a:solidFill>
                </a:uFill>
                <a:latin typeface="Carlito"/>
                <a:cs typeface="Carlito"/>
              </a:rPr>
              <a:t>Database	Management	</a:t>
            </a:r>
            <a:r>
              <a:rPr sz="2400" u="heavy" spc="-20" dirty="0">
                <a:uFill>
                  <a:solidFill>
                    <a:srgbClr val="000000"/>
                  </a:solidFill>
                </a:uFill>
                <a:latin typeface="Carlito"/>
                <a:cs typeface="Carlito"/>
              </a:rPr>
              <a:t>System</a:t>
            </a:r>
            <a:r>
              <a:rPr sz="2400" spc="-20" dirty="0">
                <a:latin typeface="Carlito"/>
                <a:cs typeface="Carlito"/>
              </a:rPr>
              <a:t>:	</a:t>
            </a:r>
            <a:r>
              <a:rPr sz="2400" dirty="0">
                <a:latin typeface="Carlito"/>
                <a:cs typeface="Carlito"/>
              </a:rPr>
              <a:t>a	</a:t>
            </a:r>
            <a:r>
              <a:rPr sz="2400" spc="-15" dirty="0">
                <a:latin typeface="Carlito"/>
                <a:cs typeface="Carlito"/>
              </a:rPr>
              <a:t>software</a:t>
            </a:r>
            <a:endParaRPr sz="2400">
              <a:latin typeface="Carlito"/>
              <a:cs typeface="Carlito"/>
            </a:endParaRPr>
          </a:p>
        </p:txBody>
      </p:sp>
      <p:sp>
        <p:nvSpPr>
          <p:cNvPr id="9" name="object 9"/>
          <p:cNvSpPr txBox="1"/>
          <p:nvPr/>
        </p:nvSpPr>
        <p:spPr>
          <a:xfrm>
            <a:off x="764540" y="2772283"/>
            <a:ext cx="7539990" cy="2586355"/>
          </a:xfrm>
          <a:prstGeom prst="rect">
            <a:avLst/>
          </a:prstGeom>
        </p:spPr>
        <p:txBody>
          <a:bodyPr vert="horz" wrap="square" lIns="0" tIns="12700" rIns="0" bIns="0" rtlCol="0">
            <a:spAutoFit/>
          </a:bodyPr>
          <a:lstStyle/>
          <a:p>
            <a:pPr marL="355600" marR="5080">
              <a:lnSpc>
                <a:spcPct val="100000"/>
              </a:lnSpc>
              <a:spcBef>
                <a:spcPts val="100"/>
              </a:spcBef>
              <a:tabLst>
                <a:tab pos="1582420" algn="l"/>
                <a:tab pos="2350770" algn="l"/>
                <a:tab pos="3776979" algn="l"/>
                <a:tab pos="5168900" algn="l"/>
                <a:tab pos="5895975" algn="l"/>
                <a:tab pos="7112634" algn="l"/>
              </a:tabLst>
            </a:pPr>
            <a:r>
              <a:rPr sz="2400" spc="-5" dirty="0">
                <a:latin typeface="Carlito"/>
                <a:cs typeface="Carlito"/>
              </a:rPr>
              <a:t>pa</a:t>
            </a:r>
            <a:r>
              <a:rPr sz="2400" dirty="0">
                <a:latin typeface="Carlito"/>
                <a:cs typeface="Carlito"/>
              </a:rPr>
              <a:t>c</a:t>
            </a:r>
            <a:r>
              <a:rPr sz="2400" spc="-50" dirty="0">
                <a:latin typeface="Carlito"/>
                <a:cs typeface="Carlito"/>
              </a:rPr>
              <a:t>k</a:t>
            </a:r>
            <a:r>
              <a:rPr sz="2400" dirty="0">
                <a:latin typeface="Carlito"/>
                <a:cs typeface="Carlito"/>
              </a:rPr>
              <a:t>a</a:t>
            </a:r>
            <a:r>
              <a:rPr sz="2400" spc="-25" dirty="0">
                <a:latin typeface="Carlito"/>
                <a:cs typeface="Carlito"/>
              </a:rPr>
              <a:t>g</a:t>
            </a:r>
            <a:r>
              <a:rPr sz="2400" dirty="0">
                <a:latin typeface="Carlito"/>
                <a:cs typeface="Carlito"/>
              </a:rPr>
              <a:t>e	w</a:t>
            </a:r>
            <a:r>
              <a:rPr sz="2400" spc="-15" dirty="0">
                <a:latin typeface="Carlito"/>
                <a:cs typeface="Carlito"/>
              </a:rPr>
              <a:t>i</a:t>
            </a:r>
            <a:r>
              <a:rPr sz="2400" dirty="0">
                <a:latin typeface="Carlito"/>
                <a:cs typeface="Carlito"/>
              </a:rPr>
              <a:t>th	</a:t>
            </a:r>
            <a:r>
              <a:rPr sz="2400" spc="-20" dirty="0">
                <a:latin typeface="Carlito"/>
                <a:cs typeface="Carlito"/>
              </a:rPr>
              <a:t>c</a:t>
            </a:r>
            <a:r>
              <a:rPr sz="2400" spc="-5" dirty="0">
                <a:latin typeface="Carlito"/>
                <a:cs typeface="Carlito"/>
              </a:rPr>
              <a:t>ompu</a:t>
            </a:r>
            <a:r>
              <a:rPr sz="2400" spc="-40" dirty="0">
                <a:latin typeface="Carlito"/>
                <a:cs typeface="Carlito"/>
              </a:rPr>
              <a:t>t</a:t>
            </a:r>
            <a:r>
              <a:rPr sz="2400" dirty="0">
                <a:latin typeface="Carlito"/>
                <a:cs typeface="Carlito"/>
              </a:rPr>
              <a:t>er	</a:t>
            </a:r>
            <a:r>
              <a:rPr sz="2400" spc="-5" dirty="0">
                <a:latin typeface="Carlito"/>
                <a:cs typeface="Carlito"/>
              </a:rPr>
              <a:t>p</a:t>
            </a:r>
            <a:r>
              <a:rPr sz="2400" spc="-30" dirty="0">
                <a:latin typeface="Carlito"/>
                <a:cs typeface="Carlito"/>
              </a:rPr>
              <a:t>r</a:t>
            </a:r>
            <a:r>
              <a:rPr sz="2400" spc="-5" dirty="0">
                <a:latin typeface="Carlito"/>
                <a:cs typeface="Carlito"/>
              </a:rPr>
              <a:t>og</a:t>
            </a:r>
            <a:r>
              <a:rPr sz="2400" spc="-50" dirty="0">
                <a:latin typeface="Carlito"/>
                <a:cs typeface="Carlito"/>
              </a:rPr>
              <a:t>r</a:t>
            </a:r>
            <a:r>
              <a:rPr sz="2400" spc="-10" dirty="0">
                <a:latin typeface="Carlito"/>
                <a:cs typeface="Carlito"/>
              </a:rPr>
              <a:t>am</a:t>
            </a:r>
            <a:r>
              <a:rPr sz="2400" dirty="0">
                <a:latin typeface="Carlito"/>
                <a:cs typeface="Carlito"/>
              </a:rPr>
              <a:t>s	th</a:t>
            </a:r>
            <a:r>
              <a:rPr sz="2400" spc="-25" dirty="0">
                <a:latin typeface="Carlito"/>
                <a:cs typeface="Carlito"/>
              </a:rPr>
              <a:t>a</a:t>
            </a:r>
            <a:r>
              <a:rPr sz="2400" dirty="0">
                <a:latin typeface="Carlito"/>
                <a:cs typeface="Carlito"/>
              </a:rPr>
              <a:t>t	</a:t>
            </a:r>
            <a:r>
              <a:rPr sz="2400" spc="-20" dirty="0">
                <a:latin typeface="Carlito"/>
                <a:cs typeface="Carlito"/>
              </a:rPr>
              <a:t>c</a:t>
            </a:r>
            <a:r>
              <a:rPr sz="2400" spc="-5" dirty="0">
                <a:latin typeface="Carlito"/>
                <a:cs typeface="Carlito"/>
              </a:rPr>
              <a:t>o</a:t>
            </a:r>
            <a:r>
              <a:rPr sz="2400" spc="-30" dirty="0">
                <a:latin typeface="Carlito"/>
                <a:cs typeface="Carlito"/>
              </a:rPr>
              <a:t>n</a:t>
            </a:r>
            <a:r>
              <a:rPr sz="2400" dirty="0">
                <a:latin typeface="Carlito"/>
                <a:cs typeface="Carlito"/>
              </a:rPr>
              <a:t>t</a:t>
            </a:r>
            <a:r>
              <a:rPr sz="2400" spc="-35" dirty="0">
                <a:latin typeface="Carlito"/>
                <a:cs typeface="Carlito"/>
              </a:rPr>
              <a:t>r</a:t>
            </a:r>
            <a:r>
              <a:rPr sz="2400" spc="-5" dirty="0">
                <a:latin typeface="Carlito"/>
                <a:cs typeface="Carlito"/>
              </a:rPr>
              <a:t>ol</a:t>
            </a:r>
            <a:r>
              <a:rPr sz="2400" dirty="0">
                <a:latin typeface="Carlito"/>
                <a:cs typeface="Carlito"/>
              </a:rPr>
              <a:t>s	the  </a:t>
            </a:r>
            <a:r>
              <a:rPr sz="2400" spc="-10" dirty="0">
                <a:latin typeface="Carlito"/>
                <a:cs typeface="Carlito"/>
              </a:rPr>
              <a:t>creation, </a:t>
            </a:r>
            <a:r>
              <a:rPr sz="2400" spc="-5" dirty="0">
                <a:latin typeface="Carlito"/>
                <a:cs typeface="Carlito"/>
              </a:rPr>
              <a:t>maintenance </a:t>
            </a:r>
            <a:r>
              <a:rPr sz="2400" dirty="0">
                <a:latin typeface="Carlito"/>
                <a:cs typeface="Carlito"/>
              </a:rPr>
              <a:t>and </a:t>
            </a:r>
            <a:r>
              <a:rPr sz="2400" spc="-5" dirty="0">
                <a:latin typeface="Carlito"/>
                <a:cs typeface="Carlito"/>
              </a:rPr>
              <a:t>use of </a:t>
            </a:r>
            <a:r>
              <a:rPr sz="2400" dirty="0">
                <a:latin typeface="Carlito"/>
                <a:cs typeface="Carlito"/>
              </a:rPr>
              <a:t>a</a:t>
            </a:r>
            <a:r>
              <a:rPr sz="2400" spc="-30" dirty="0">
                <a:latin typeface="Carlito"/>
                <a:cs typeface="Carlito"/>
              </a:rPr>
              <a:t> </a:t>
            </a:r>
            <a:r>
              <a:rPr sz="2400" spc="-10" dirty="0">
                <a:latin typeface="Carlito"/>
                <a:cs typeface="Carlito"/>
              </a:rPr>
              <a:t>database</a:t>
            </a:r>
            <a:endParaRPr sz="2400">
              <a:latin typeface="Carlito"/>
              <a:cs typeface="Carlito"/>
            </a:endParaRPr>
          </a:p>
          <a:p>
            <a:pPr>
              <a:lnSpc>
                <a:spcPct val="100000"/>
              </a:lnSpc>
            </a:pPr>
            <a:endParaRPr sz="2400">
              <a:latin typeface="Carlito"/>
              <a:cs typeface="Carlito"/>
            </a:endParaRPr>
          </a:p>
          <a:p>
            <a:pPr>
              <a:lnSpc>
                <a:spcPct val="100000"/>
              </a:lnSpc>
              <a:spcBef>
                <a:spcPts val="20"/>
              </a:spcBef>
            </a:pPr>
            <a:endParaRPr sz="2300">
              <a:latin typeface="Carlito"/>
              <a:cs typeface="Carlito"/>
            </a:endParaRPr>
          </a:p>
          <a:p>
            <a:pPr marL="355600" marR="759460" indent="-343535">
              <a:lnSpc>
                <a:spcPct val="100000"/>
              </a:lnSpc>
              <a:spcBef>
                <a:spcPts val="5"/>
              </a:spcBef>
              <a:buFont typeface="Wingdings"/>
              <a:buChar char=""/>
              <a:tabLst>
                <a:tab pos="356235" algn="l"/>
              </a:tabLst>
            </a:pPr>
            <a:r>
              <a:rPr sz="2400" spc="-10" dirty="0">
                <a:latin typeface="Carlito"/>
                <a:cs typeface="Carlito"/>
              </a:rPr>
              <a:t>Databases </a:t>
            </a:r>
            <a:r>
              <a:rPr sz="2400" spc="-15" dirty="0">
                <a:latin typeface="Carlito"/>
                <a:cs typeface="Carlito"/>
              </a:rPr>
              <a:t>are created to </a:t>
            </a:r>
            <a:r>
              <a:rPr sz="2400" spc="-20" dirty="0">
                <a:latin typeface="Carlito"/>
                <a:cs typeface="Carlito"/>
              </a:rPr>
              <a:t>operate </a:t>
            </a:r>
            <a:r>
              <a:rPr sz="2400" spc="-15" dirty="0">
                <a:latin typeface="Carlito"/>
                <a:cs typeface="Carlito"/>
              </a:rPr>
              <a:t>large </a:t>
            </a:r>
            <a:r>
              <a:rPr sz="2400" spc="-5" dirty="0">
                <a:latin typeface="Carlito"/>
                <a:cs typeface="Carlito"/>
              </a:rPr>
              <a:t>quantities of  </a:t>
            </a:r>
            <a:r>
              <a:rPr sz="2400" spc="-10" dirty="0">
                <a:latin typeface="Carlito"/>
                <a:cs typeface="Carlito"/>
              </a:rPr>
              <a:t>information by </a:t>
            </a:r>
            <a:r>
              <a:rPr sz="2400" spc="-5" dirty="0">
                <a:latin typeface="Carlito"/>
                <a:cs typeface="Carlito"/>
              </a:rPr>
              <a:t>inputting, </a:t>
            </a:r>
            <a:r>
              <a:rPr sz="2400" spc="-10" dirty="0">
                <a:latin typeface="Carlito"/>
                <a:cs typeface="Carlito"/>
              </a:rPr>
              <a:t>storing, </a:t>
            </a:r>
            <a:r>
              <a:rPr sz="2400" spc="-5" dirty="0">
                <a:latin typeface="Carlito"/>
                <a:cs typeface="Carlito"/>
              </a:rPr>
              <a:t>retrieving, </a:t>
            </a:r>
            <a:r>
              <a:rPr sz="2400" dirty="0">
                <a:latin typeface="Carlito"/>
                <a:cs typeface="Carlito"/>
              </a:rPr>
              <a:t>and  managing </a:t>
            </a:r>
            <a:r>
              <a:rPr sz="2400" spc="-10" dirty="0">
                <a:latin typeface="Carlito"/>
                <a:cs typeface="Carlito"/>
              </a:rPr>
              <a:t>that</a:t>
            </a:r>
            <a:r>
              <a:rPr sz="2400" spc="-35" dirty="0">
                <a:latin typeface="Carlito"/>
                <a:cs typeface="Carlito"/>
              </a:rPr>
              <a:t> </a:t>
            </a:r>
            <a:r>
              <a:rPr sz="2400" spc="-10" dirty="0">
                <a:latin typeface="Carlito"/>
                <a:cs typeface="Carlito"/>
              </a:rPr>
              <a:t>information.</a:t>
            </a:r>
            <a:endParaRPr sz="2400">
              <a:latin typeface="Carlito"/>
              <a:cs typeface="Carlito"/>
            </a:endParaRPr>
          </a:p>
        </p:txBody>
      </p:sp>
      <p:grpSp>
        <p:nvGrpSpPr>
          <p:cNvPr id="10" name="object 10"/>
          <p:cNvGrpSpPr/>
          <p:nvPr/>
        </p:nvGrpSpPr>
        <p:grpSpPr>
          <a:xfrm>
            <a:off x="8378952" y="0"/>
            <a:ext cx="765175" cy="1172210"/>
            <a:chOff x="8378952" y="0"/>
            <a:chExt cx="765175" cy="1172210"/>
          </a:xfrm>
        </p:grpSpPr>
        <p:sp>
          <p:nvSpPr>
            <p:cNvPr id="11" name="object 11"/>
            <p:cNvSpPr/>
            <p:nvPr/>
          </p:nvSpPr>
          <p:spPr>
            <a:xfrm>
              <a:off x="8531219" y="0"/>
              <a:ext cx="612780" cy="1057759"/>
            </a:xfrm>
            <a:prstGeom prst="rect">
              <a:avLst/>
            </a:prstGeom>
            <a:blipFill>
              <a:blip r:embed="rId2" cstate="print"/>
              <a:stretch>
                <a:fillRect/>
              </a:stretch>
            </a:blipFill>
          </p:spPr>
          <p:txBody>
            <a:bodyPr wrap="square" lIns="0" tIns="0" rIns="0" bIns="0" rtlCol="0"/>
            <a:lstStyle/>
            <a:p>
              <a:endParaRPr/>
            </a:p>
          </p:txBody>
        </p:sp>
        <p:sp>
          <p:nvSpPr>
            <p:cNvPr id="12" name="object 12"/>
            <p:cNvSpPr/>
            <p:nvPr/>
          </p:nvSpPr>
          <p:spPr>
            <a:xfrm>
              <a:off x="8378952" y="24383"/>
              <a:ext cx="765048" cy="1147572"/>
            </a:xfrm>
            <a:prstGeom prst="rect">
              <a:avLst/>
            </a:prstGeom>
            <a:blipFill>
              <a:blip r:embed="rId3" cstate="print"/>
              <a:stretch>
                <a:fillRect/>
              </a:stretch>
            </a:blipFill>
          </p:spPr>
          <p:txBody>
            <a:bodyPr wrap="square" lIns="0" tIns="0" rIns="0" bIns="0" rtlCol="0"/>
            <a:lstStyle/>
            <a:p>
              <a:endParaRPr/>
            </a:p>
          </p:txBody>
        </p:sp>
        <p:sp>
          <p:nvSpPr>
            <p:cNvPr id="13" name="object 13"/>
            <p:cNvSpPr/>
            <p:nvPr/>
          </p:nvSpPr>
          <p:spPr>
            <a:xfrm>
              <a:off x="8569452" y="0"/>
              <a:ext cx="574548" cy="1001267"/>
            </a:xfrm>
            <a:prstGeom prst="rect">
              <a:avLst/>
            </a:prstGeom>
            <a:blipFill>
              <a:blip r:embed="rId4" cstate="print"/>
              <a:stretch>
                <a:fillRect/>
              </a:stretch>
            </a:blipFill>
          </p:spPr>
          <p:txBody>
            <a:bodyPr wrap="square" lIns="0" tIns="0" rIns="0" bIns="0" rtlCol="0"/>
            <a:lstStyle/>
            <a:p>
              <a:endParaRPr/>
            </a:p>
          </p:txBody>
        </p:sp>
      </p:grpSp>
      <p:sp>
        <p:nvSpPr>
          <p:cNvPr id="14" name="object 14"/>
          <p:cNvSpPr txBox="1"/>
          <p:nvPr/>
        </p:nvSpPr>
        <p:spPr>
          <a:xfrm>
            <a:off x="8569452" y="0"/>
            <a:ext cx="574675" cy="1001394"/>
          </a:xfrm>
          <a:prstGeom prst="rect">
            <a:avLst/>
          </a:prstGeom>
          <a:ln w="9144">
            <a:solidFill>
              <a:srgbClr val="BD4A47"/>
            </a:solidFill>
          </a:ln>
        </p:spPr>
        <p:txBody>
          <a:bodyPr vert="horz" wrap="square" lIns="0" tIns="163195" rIns="0" bIns="0" rtlCol="0">
            <a:spAutoFit/>
          </a:bodyPr>
          <a:lstStyle/>
          <a:p>
            <a:pPr marL="158750">
              <a:lnSpc>
                <a:spcPct val="100000"/>
              </a:lnSpc>
              <a:spcBef>
                <a:spcPts val="1285"/>
              </a:spcBef>
            </a:pPr>
            <a:r>
              <a:rPr sz="4000" spc="-5" dirty="0">
                <a:solidFill>
                  <a:srgbClr val="FFFFFF"/>
                </a:solidFill>
                <a:latin typeface="Carlito"/>
                <a:cs typeface="Carlito"/>
              </a:rPr>
              <a:t>3</a:t>
            </a:r>
            <a:endParaRPr sz="4000">
              <a:latin typeface="Carlito"/>
              <a:cs typeface="Carli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697912" y="1600200"/>
            <a:ext cx="5764265" cy="4059570"/>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140144" y="140144"/>
            <a:ext cx="8255634" cy="788035"/>
            <a:chOff x="140144" y="140144"/>
            <a:chExt cx="8255634" cy="788035"/>
          </a:xfrm>
        </p:grpSpPr>
        <p:sp>
          <p:nvSpPr>
            <p:cNvPr id="4" name="object 4"/>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5" name="object 5"/>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6" name="object 6"/>
          <p:cNvSpPr txBox="1"/>
          <p:nvPr/>
        </p:nvSpPr>
        <p:spPr>
          <a:xfrm>
            <a:off x="2802382" y="184149"/>
            <a:ext cx="2927350"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FFFFFF"/>
                </a:solidFill>
                <a:latin typeface="Carlito"/>
                <a:cs typeface="Carlito"/>
              </a:rPr>
              <a:t>A </a:t>
            </a:r>
            <a:r>
              <a:rPr sz="4000" spc="-15" dirty="0">
                <a:solidFill>
                  <a:srgbClr val="FFFFFF"/>
                </a:solidFill>
                <a:latin typeface="Carlito"/>
                <a:cs typeface="Carlito"/>
              </a:rPr>
              <a:t>brief</a:t>
            </a:r>
            <a:r>
              <a:rPr sz="4000" spc="-80" dirty="0">
                <a:solidFill>
                  <a:srgbClr val="FFFFFF"/>
                </a:solidFill>
                <a:latin typeface="Carlito"/>
                <a:cs typeface="Carlito"/>
              </a:rPr>
              <a:t> </a:t>
            </a:r>
            <a:r>
              <a:rPr sz="4000" spc="-15" dirty="0">
                <a:solidFill>
                  <a:srgbClr val="FFFFFF"/>
                </a:solidFill>
                <a:latin typeface="Carlito"/>
                <a:cs typeface="Carlito"/>
              </a:rPr>
              <a:t>history</a:t>
            </a:r>
            <a:endParaRPr sz="4000">
              <a:latin typeface="Carlito"/>
              <a:cs typeface="Carlito"/>
            </a:endParaRPr>
          </a:p>
        </p:txBody>
      </p:sp>
      <p:grpSp>
        <p:nvGrpSpPr>
          <p:cNvPr id="7" name="object 7"/>
          <p:cNvGrpSpPr/>
          <p:nvPr/>
        </p:nvGrpSpPr>
        <p:grpSpPr>
          <a:xfrm>
            <a:off x="8378952" y="0"/>
            <a:ext cx="765175" cy="1172210"/>
            <a:chOff x="8378952" y="0"/>
            <a:chExt cx="765175" cy="1172210"/>
          </a:xfrm>
        </p:grpSpPr>
        <p:sp>
          <p:nvSpPr>
            <p:cNvPr id="8" name="object 8"/>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8378952" y="24383"/>
              <a:ext cx="765048" cy="1147572"/>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1" name="object 11"/>
          <p:cNvSpPr txBox="1"/>
          <p:nvPr/>
        </p:nvSpPr>
        <p:spPr>
          <a:xfrm>
            <a:off x="8569452" y="0"/>
            <a:ext cx="574675" cy="1001394"/>
          </a:xfrm>
          <a:prstGeom prst="rect">
            <a:avLst/>
          </a:prstGeom>
          <a:ln w="9144">
            <a:solidFill>
              <a:srgbClr val="BD4A47"/>
            </a:solidFill>
          </a:ln>
        </p:spPr>
        <p:txBody>
          <a:bodyPr vert="horz" wrap="square" lIns="0" tIns="163195" rIns="0" bIns="0" rtlCol="0">
            <a:spAutoFit/>
          </a:bodyPr>
          <a:lstStyle/>
          <a:p>
            <a:pPr marL="158750">
              <a:lnSpc>
                <a:spcPct val="100000"/>
              </a:lnSpc>
              <a:spcBef>
                <a:spcPts val="1285"/>
              </a:spcBef>
            </a:pPr>
            <a:r>
              <a:rPr sz="4000" spc="-5" dirty="0">
                <a:solidFill>
                  <a:srgbClr val="FFFFFF"/>
                </a:solidFill>
                <a:latin typeface="Carlito"/>
                <a:cs typeface="Carlito"/>
              </a:rPr>
              <a:t>4</a:t>
            </a:r>
            <a:endParaRPr sz="4000">
              <a:latin typeface="Carlito"/>
              <a:cs typeface="Carli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5940" y="1613357"/>
            <a:ext cx="6931659" cy="3830954"/>
          </a:xfrm>
          <a:prstGeom prst="rect">
            <a:avLst/>
          </a:prstGeom>
        </p:spPr>
        <p:txBody>
          <a:bodyPr vert="horz" wrap="square" lIns="0" tIns="12700" rIns="0" bIns="0" rtlCol="0">
            <a:spAutoFit/>
          </a:bodyPr>
          <a:lstStyle/>
          <a:p>
            <a:pPr marL="355600" indent="-343535">
              <a:lnSpc>
                <a:spcPct val="100000"/>
              </a:lnSpc>
              <a:spcBef>
                <a:spcPts val="100"/>
              </a:spcBef>
              <a:buFont typeface="Arial"/>
              <a:buChar char="•"/>
              <a:tabLst>
                <a:tab pos="355600" algn="l"/>
                <a:tab pos="356235" algn="l"/>
              </a:tabLst>
            </a:pPr>
            <a:r>
              <a:rPr sz="2400" u="heavy" spc="-5" dirty="0">
                <a:solidFill>
                  <a:srgbClr val="C00000"/>
                </a:solidFill>
                <a:uFill>
                  <a:solidFill>
                    <a:srgbClr val="C00000"/>
                  </a:solidFill>
                </a:uFill>
                <a:latin typeface="Carlito"/>
                <a:cs typeface="Carlito"/>
              </a:rPr>
              <a:t>Benefits of </a:t>
            </a:r>
            <a:r>
              <a:rPr sz="2400" u="heavy" spc="-10" dirty="0">
                <a:solidFill>
                  <a:srgbClr val="C00000"/>
                </a:solidFill>
                <a:uFill>
                  <a:solidFill>
                    <a:srgbClr val="C00000"/>
                  </a:solidFill>
                </a:uFill>
                <a:latin typeface="Carlito"/>
                <a:cs typeface="Carlito"/>
              </a:rPr>
              <a:t>Relational</a:t>
            </a:r>
            <a:r>
              <a:rPr sz="2400" u="heavy" spc="-50" dirty="0">
                <a:solidFill>
                  <a:srgbClr val="C00000"/>
                </a:solidFill>
                <a:uFill>
                  <a:solidFill>
                    <a:srgbClr val="C00000"/>
                  </a:solidFill>
                </a:uFill>
                <a:latin typeface="Carlito"/>
                <a:cs typeface="Carlito"/>
              </a:rPr>
              <a:t> </a:t>
            </a:r>
            <a:r>
              <a:rPr sz="2400" u="heavy" spc="-5" dirty="0">
                <a:solidFill>
                  <a:srgbClr val="C00000"/>
                </a:solidFill>
                <a:uFill>
                  <a:solidFill>
                    <a:srgbClr val="C00000"/>
                  </a:solidFill>
                </a:uFill>
                <a:latin typeface="Carlito"/>
                <a:cs typeface="Carlito"/>
              </a:rPr>
              <a:t>databases:</a:t>
            </a:r>
            <a:endParaRPr sz="2400">
              <a:latin typeface="Carlito"/>
              <a:cs typeface="Carlito"/>
            </a:endParaRPr>
          </a:p>
          <a:p>
            <a:pPr>
              <a:lnSpc>
                <a:spcPct val="100000"/>
              </a:lnSpc>
              <a:spcBef>
                <a:spcPts val="5"/>
              </a:spcBef>
            </a:pPr>
            <a:endParaRPr sz="3300">
              <a:latin typeface="Carlito"/>
              <a:cs typeface="Carlito"/>
            </a:endParaRPr>
          </a:p>
          <a:p>
            <a:pPr marL="299085" indent="-287020">
              <a:lnSpc>
                <a:spcPct val="100000"/>
              </a:lnSpc>
              <a:spcBef>
                <a:spcPts val="5"/>
              </a:spcBef>
              <a:buClr>
                <a:srgbClr val="77923B"/>
              </a:buClr>
              <a:buFont typeface="Wingdings"/>
              <a:buChar char=""/>
              <a:tabLst>
                <a:tab pos="299720" algn="l"/>
              </a:tabLst>
            </a:pPr>
            <a:r>
              <a:rPr sz="2400" spc="-5" dirty="0">
                <a:latin typeface="Carlito"/>
                <a:cs typeface="Carlito"/>
              </a:rPr>
              <a:t>Designed </a:t>
            </a:r>
            <a:r>
              <a:rPr sz="2400" spc="-20" dirty="0">
                <a:latin typeface="Carlito"/>
                <a:cs typeface="Carlito"/>
              </a:rPr>
              <a:t>for </a:t>
            </a:r>
            <a:r>
              <a:rPr sz="2400" dirty="0">
                <a:latin typeface="Carlito"/>
                <a:cs typeface="Carlito"/>
              </a:rPr>
              <a:t>all</a:t>
            </a:r>
            <a:r>
              <a:rPr sz="2400" spc="10" dirty="0">
                <a:latin typeface="Carlito"/>
                <a:cs typeface="Carlito"/>
              </a:rPr>
              <a:t> </a:t>
            </a:r>
            <a:r>
              <a:rPr sz="2400" spc="-5" dirty="0">
                <a:latin typeface="Carlito"/>
                <a:cs typeface="Carlito"/>
              </a:rPr>
              <a:t>purposes</a:t>
            </a:r>
            <a:endParaRPr sz="2400">
              <a:latin typeface="Carlito"/>
              <a:cs typeface="Carlito"/>
            </a:endParaRPr>
          </a:p>
          <a:p>
            <a:pPr marL="299085" indent="-287020">
              <a:lnSpc>
                <a:spcPct val="100000"/>
              </a:lnSpc>
              <a:spcBef>
                <a:spcPts val="575"/>
              </a:spcBef>
              <a:buClr>
                <a:srgbClr val="77923B"/>
              </a:buClr>
              <a:buFont typeface="Wingdings"/>
              <a:buChar char=""/>
              <a:tabLst>
                <a:tab pos="299720" algn="l"/>
              </a:tabLst>
            </a:pPr>
            <a:r>
              <a:rPr sz="2400" dirty="0">
                <a:latin typeface="Carlito"/>
                <a:cs typeface="Carlito"/>
              </a:rPr>
              <a:t>ACID</a:t>
            </a:r>
            <a:endParaRPr sz="2400">
              <a:latin typeface="Carlito"/>
              <a:cs typeface="Carlito"/>
            </a:endParaRPr>
          </a:p>
          <a:p>
            <a:pPr marL="299085" indent="-287020">
              <a:lnSpc>
                <a:spcPct val="100000"/>
              </a:lnSpc>
              <a:spcBef>
                <a:spcPts val="575"/>
              </a:spcBef>
              <a:buClr>
                <a:srgbClr val="77923B"/>
              </a:buClr>
              <a:buFont typeface="Wingdings"/>
              <a:buChar char=""/>
              <a:tabLst>
                <a:tab pos="299720" algn="l"/>
              </a:tabLst>
            </a:pPr>
            <a:r>
              <a:rPr sz="2400" spc="-10" dirty="0">
                <a:latin typeface="Carlito"/>
                <a:cs typeface="Carlito"/>
              </a:rPr>
              <a:t>Strong </a:t>
            </a:r>
            <a:r>
              <a:rPr sz="2400" spc="-25" dirty="0">
                <a:latin typeface="Carlito"/>
                <a:cs typeface="Carlito"/>
              </a:rPr>
              <a:t>consistancy, </a:t>
            </a:r>
            <a:r>
              <a:rPr sz="2400" spc="-20" dirty="0">
                <a:latin typeface="Carlito"/>
                <a:cs typeface="Carlito"/>
              </a:rPr>
              <a:t>concurrency,</a:t>
            </a:r>
            <a:r>
              <a:rPr sz="2400" spc="-25" dirty="0">
                <a:latin typeface="Carlito"/>
                <a:cs typeface="Carlito"/>
              </a:rPr>
              <a:t> </a:t>
            </a:r>
            <a:r>
              <a:rPr sz="2400" spc="-10" dirty="0">
                <a:latin typeface="Carlito"/>
                <a:cs typeface="Carlito"/>
              </a:rPr>
              <a:t>recovery</a:t>
            </a:r>
            <a:endParaRPr sz="2400">
              <a:latin typeface="Carlito"/>
              <a:cs typeface="Carlito"/>
            </a:endParaRPr>
          </a:p>
          <a:p>
            <a:pPr marL="299085" indent="-287020">
              <a:lnSpc>
                <a:spcPct val="100000"/>
              </a:lnSpc>
              <a:spcBef>
                <a:spcPts val="580"/>
              </a:spcBef>
              <a:buClr>
                <a:srgbClr val="77923B"/>
              </a:buClr>
              <a:buFont typeface="Wingdings"/>
              <a:buChar char=""/>
              <a:tabLst>
                <a:tab pos="299720" algn="l"/>
              </a:tabLst>
            </a:pPr>
            <a:r>
              <a:rPr sz="2400" spc="-5" dirty="0">
                <a:latin typeface="Carlito"/>
                <a:cs typeface="Carlito"/>
              </a:rPr>
              <a:t>Mathematical</a:t>
            </a:r>
            <a:r>
              <a:rPr sz="2400" spc="-25" dirty="0">
                <a:latin typeface="Carlito"/>
                <a:cs typeface="Carlito"/>
              </a:rPr>
              <a:t> </a:t>
            </a:r>
            <a:r>
              <a:rPr sz="2400" spc="-10" dirty="0">
                <a:latin typeface="Carlito"/>
                <a:cs typeface="Carlito"/>
              </a:rPr>
              <a:t>background</a:t>
            </a:r>
            <a:endParaRPr sz="2400">
              <a:latin typeface="Carlito"/>
              <a:cs typeface="Carlito"/>
            </a:endParaRPr>
          </a:p>
          <a:p>
            <a:pPr marL="299085" indent="-287020">
              <a:lnSpc>
                <a:spcPct val="100000"/>
              </a:lnSpc>
              <a:spcBef>
                <a:spcPts val="575"/>
              </a:spcBef>
              <a:buClr>
                <a:srgbClr val="77923B"/>
              </a:buClr>
              <a:buFont typeface="Wingdings"/>
              <a:buChar char=""/>
              <a:tabLst>
                <a:tab pos="299720" algn="l"/>
              </a:tabLst>
            </a:pPr>
            <a:r>
              <a:rPr sz="2400" spc="-10" dirty="0">
                <a:latin typeface="Carlito"/>
                <a:cs typeface="Carlito"/>
              </a:rPr>
              <a:t>Standard </a:t>
            </a:r>
            <a:r>
              <a:rPr sz="2400" spc="5" dirty="0">
                <a:latin typeface="Carlito"/>
                <a:cs typeface="Carlito"/>
              </a:rPr>
              <a:t>Query </a:t>
            </a:r>
            <a:r>
              <a:rPr sz="2400" spc="-5" dirty="0">
                <a:latin typeface="Carlito"/>
                <a:cs typeface="Carlito"/>
              </a:rPr>
              <a:t>language</a:t>
            </a:r>
            <a:r>
              <a:rPr sz="2400" spc="-15" dirty="0">
                <a:latin typeface="Carlito"/>
                <a:cs typeface="Carlito"/>
              </a:rPr>
              <a:t> </a:t>
            </a:r>
            <a:r>
              <a:rPr sz="2400" dirty="0">
                <a:latin typeface="Carlito"/>
                <a:cs typeface="Carlito"/>
              </a:rPr>
              <a:t>(SQL)</a:t>
            </a:r>
            <a:endParaRPr sz="2400">
              <a:latin typeface="Carlito"/>
              <a:cs typeface="Carlito"/>
            </a:endParaRPr>
          </a:p>
          <a:p>
            <a:pPr marL="299085" indent="-287020">
              <a:lnSpc>
                <a:spcPct val="100000"/>
              </a:lnSpc>
              <a:spcBef>
                <a:spcPts val="575"/>
              </a:spcBef>
              <a:buClr>
                <a:srgbClr val="77923B"/>
              </a:buClr>
              <a:buFont typeface="Wingdings"/>
              <a:buChar char=""/>
              <a:tabLst>
                <a:tab pos="299720" algn="l"/>
              </a:tabLst>
            </a:pPr>
            <a:r>
              <a:rPr sz="2400" spc="-5" dirty="0">
                <a:latin typeface="Carlito"/>
                <a:cs typeface="Carlito"/>
              </a:rPr>
              <a:t>Lots of </a:t>
            </a:r>
            <a:r>
              <a:rPr sz="2400" spc="-10" dirty="0">
                <a:latin typeface="Carlito"/>
                <a:cs typeface="Carlito"/>
              </a:rPr>
              <a:t>tools </a:t>
            </a:r>
            <a:r>
              <a:rPr sz="2400" spc="-15" dirty="0">
                <a:latin typeface="Carlito"/>
                <a:cs typeface="Carlito"/>
              </a:rPr>
              <a:t>to </a:t>
            </a:r>
            <a:r>
              <a:rPr sz="2400" spc="-5" dirty="0">
                <a:latin typeface="Carlito"/>
                <a:cs typeface="Carlito"/>
              </a:rPr>
              <a:t>use </a:t>
            </a:r>
            <a:r>
              <a:rPr sz="2400" dirty="0">
                <a:latin typeface="Carlito"/>
                <a:cs typeface="Carlito"/>
              </a:rPr>
              <a:t>with i.e: </a:t>
            </a:r>
            <a:r>
              <a:rPr sz="2400" spc="-5" dirty="0">
                <a:latin typeface="Carlito"/>
                <a:cs typeface="Carlito"/>
              </a:rPr>
              <a:t>Reporting </a:t>
            </a:r>
            <a:r>
              <a:rPr sz="2400" dirty="0">
                <a:latin typeface="Carlito"/>
                <a:cs typeface="Carlito"/>
              </a:rPr>
              <a:t>services, </a:t>
            </a:r>
            <a:r>
              <a:rPr sz="2400" spc="-5" dirty="0">
                <a:latin typeface="Carlito"/>
                <a:cs typeface="Carlito"/>
              </a:rPr>
              <a:t>entity</a:t>
            </a:r>
            <a:endParaRPr sz="2400">
              <a:latin typeface="Carlito"/>
              <a:cs typeface="Carlito"/>
            </a:endParaRPr>
          </a:p>
          <a:p>
            <a:pPr marL="299085">
              <a:lnSpc>
                <a:spcPct val="100000"/>
              </a:lnSpc>
              <a:spcBef>
                <a:spcPts val="5"/>
              </a:spcBef>
            </a:pPr>
            <a:r>
              <a:rPr sz="2400" spc="-10" dirty="0">
                <a:latin typeface="Carlito"/>
                <a:cs typeface="Carlito"/>
              </a:rPr>
              <a:t>frameworks,</a:t>
            </a:r>
            <a:r>
              <a:rPr sz="2400" spc="-20" dirty="0">
                <a:latin typeface="Carlito"/>
                <a:cs typeface="Carlito"/>
              </a:rPr>
              <a:t> </a:t>
            </a:r>
            <a:r>
              <a:rPr sz="2400" spc="-5" dirty="0">
                <a:latin typeface="Carlito"/>
                <a:cs typeface="Carlito"/>
              </a:rPr>
              <a:t>...</a:t>
            </a:r>
            <a:endParaRPr sz="2400">
              <a:latin typeface="Carlito"/>
              <a:cs typeface="Carlito"/>
            </a:endParaRPr>
          </a:p>
        </p:txBody>
      </p:sp>
      <p:grpSp>
        <p:nvGrpSpPr>
          <p:cNvPr id="3" name="object 3"/>
          <p:cNvGrpSpPr/>
          <p:nvPr/>
        </p:nvGrpSpPr>
        <p:grpSpPr>
          <a:xfrm>
            <a:off x="140144" y="140144"/>
            <a:ext cx="8255634" cy="788035"/>
            <a:chOff x="140144" y="140144"/>
            <a:chExt cx="8255634" cy="788035"/>
          </a:xfrm>
        </p:grpSpPr>
        <p:sp>
          <p:nvSpPr>
            <p:cNvPr id="4" name="object 4"/>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5" name="object 5"/>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6" name="object 6"/>
          <p:cNvSpPr txBox="1">
            <a:spLocks noGrp="1"/>
          </p:cNvSpPr>
          <p:nvPr>
            <p:ph type="title"/>
          </p:nvPr>
        </p:nvSpPr>
        <p:spPr>
          <a:xfrm>
            <a:off x="2133345" y="184149"/>
            <a:ext cx="4265930" cy="635000"/>
          </a:xfrm>
          <a:prstGeom prst="rect">
            <a:avLst/>
          </a:prstGeom>
        </p:spPr>
        <p:txBody>
          <a:bodyPr vert="horz" wrap="square" lIns="0" tIns="12065" rIns="0" bIns="0" rtlCol="0">
            <a:spAutoFit/>
          </a:bodyPr>
          <a:lstStyle/>
          <a:p>
            <a:pPr marL="12700">
              <a:lnSpc>
                <a:spcPct val="100000"/>
              </a:lnSpc>
              <a:spcBef>
                <a:spcPts val="95"/>
              </a:spcBef>
            </a:pPr>
            <a:r>
              <a:rPr sz="4000" spc="-15" dirty="0"/>
              <a:t>Relational</a:t>
            </a:r>
            <a:r>
              <a:rPr sz="4000" spc="-70" dirty="0"/>
              <a:t> </a:t>
            </a:r>
            <a:r>
              <a:rPr sz="4000" spc="-15" dirty="0"/>
              <a:t>databases</a:t>
            </a:r>
            <a:endParaRPr sz="4000"/>
          </a:p>
        </p:txBody>
      </p:sp>
      <p:grpSp>
        <p:nvGrpSpPr>
          <p:cNvPr id="7" name="object 7"/>
          <p:cNvGrpSpPr/>
          <p:nvPr/>
        </p:nvGrpSpPr>
        <p:grpSpPr>
          <a:xfrm>
            <a:off x="8378952" y="0"/>
            <a:ext cx="765175" cy="1172210"/>
            <a:chOff x="8378952" y="0"/>
            <a:chExt cx="765175" cy="1172210"/>
          </a:xfrm>
        </p:grpSpPr>
        <p:sp>
          <p:nvSpPr>
            <p:cNvPr id="8" name="object 8"/>
            <p:cNvSpPr/>
            <p:nvPr/>
          </p:nvSpPr>
          <p:spPr>
            <a:xfrm>
              <a:off x="8531219" y="0"/>
              <a:ext cx="612780" cy="1057759"/>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8378952" y="24383"/>
              <a:ext cx="765048" cy="1147572"/>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8569452" y="0"/>
              <a:ext cx="574548" cy="1001267"/>
            </a:xfrm>
            <a:prstGeom prst="rect">
              <a:avLst/>
            </a:prstGeom>
            <a:blipFill>
              <a:blip r:embed="rId4" cstate="print"/>
              <a:stretch>
                <a:fillRect/>
              </a:stretch>
            </a:blipFill>
          </p:spPr>
          <p:txBody>
            <a:bodyPr wrap="square" lIns="0" tIns="0" rIns="0" bIns="0" rtlCol="0"/>
            <a:lstStyle/>
            <a:p>
              <a:endParaRPr/>
            </a:p>
          </p:txBody>
        </p:sp>
      </p:grpSp>
      <p:sp>
        <p:nvSpPr>
          <p:cNvPr id="11" name="object 11"/>
          <p:cNvSpPr txBox="1"/>
          <p:nvPr/>
        </p:nvSpPr>
        <p:spPr>
          <a:xfrm>
            <a:off x="8569452" y="0"/>
            <a:ext cx="574675" cy="1001394"/>
          </a:xfrm>
          <a:prstGeom prst="rect">
            <a:avLst/>
          </a:prstGeom>
          <a:ln w="9144">
            <a:solidFill>
              <a:srgbClr val="BD4A47"/>
            </a:solidFill>
          </a:ln>
        </p:spPr>
        <p:txBody>
          <a:bodyPr vert="horz" wrap="square" lIns="0" tIns="163195" rIns="0" bIns="0" rtlCol="0">
            <a:spAutoFit/>
          </a:bodyPr>
          <a:lstStyle/>
          <a:p>
            <a:pPr marL="158750">
              <a:lnSpc>
                <a:spcPct val="100000"/>
              </a:lnSpc>
              <a:spcBef>
                <a:spcPts val="1285"/>
              </a:spcBef>
            </a:pPr>
            <a:r>
              <a:rPr sz="4000" spc="-5" dirty="0">
                <a:solidFill>
                  <a:srgbClr val="FFFFFF"/>
                </a:solidFill>
                <a:latin typeface="Carlito"/>
                <a:cs typeface="Carlito"/>
              </a:rPr>
              <a:t>5</a:t>
            </a:r>
            <a:endParaRPr sz="4000">
              <a:latin typeface="Carlito"/>
              <a:cs typeface="Carli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96704-AFC9-805F-F2E2-32E1B1F6C2A0}"/>
              </a:ext>
            </a:extLst>
          </p:cNvPr>
          <p:cNvSpPr>
            <a:spLocks noGrp="1"/>
          </p:cNvSpPr>
          <p:nvPr>
            <p:ph type="title"/>
          </p:nvPr>
        </p:nvSpPr>
        <p:spPr/>
        <p:txBody>
          <a:bodyPr/>
          <a:lstStyle/>
          <a:p>
            <a:endParaRPr lang="en-PK"/>
          </a:p>
        </p:txBody>
      </p:sp>
      <p:sp>
        <p:nvSpPr>
          <p:cNvPr id="3" name="Text Placeholder 2">
            <a:extLst>
              <a:ext uri="{FF2B5EF4-FFF2-40B4-BE49-F238E27FC236}">
                <a16:creationId xmlns:a16="http://schemas.microsoft.com/office/drawing/2014/main" id="{101FC877-C7BE-5E42-1B74-F734F69E630B}"/>
              </a:ext>
            </a:extLst>
          </p:cNvPr>
          <p:cNvSpPr>
            <a:spLocks noGrp="1"/>
          </p:cNvSpPr>
          <p:nvPr>
            <p:ph type="body" idx="1"/>
          </p:nvPr>
        </p:nvSpPr>
        <p:spPr/>
        <p:txBody>
          <a:bodyPr/>
          <a:lstStyle/>
          <a:p>
            <a:endParaRPr lang="en-PK"/>
          </a:p>
        </p:txBody>
      </p:sp>
      <p:pic>
        <p:nvPicPr>
          <p:cNvPr id="5" name="Picture 4">
            <a:extLst>
              <a:ext uri="{FF2B5EF4-FFF2-40B4-BE49-F238E27FC236}">
                <a16:creationId xmlns:a16="http://schemas.microsoft.com/office/drawing/2014/main" id="{A5EE7EB5-2178-3BED-7509-7A41D4CD2295}"/>
              </a:ext>
            </a:extLst>
          </p:cNvPr>
          <p:cNvPicPr>
            <a:picLocks noChangeAspect="1"/>
          </p:cNvPicPr>
          <p:nvPr/>
        </p:nvPicPr>
        <p:blipFill>
          <a:blip r:embed="rId2"/>
          <a:stretch>
            <a:fillRect/>
          </a:stretch>
        </p:blipFill>
        <p:spPr>
          <a:xfrm>
            <a:off x="535941" y="1022226"/>
            <a:ext cx="7917179" cy="4813547"/>
          </a:xfrm>
          <a:prstGeom prst="rect">
            <a:avLst/>
          </a:prstGeom>
        </p:spPr>
      </p:pic>
    </p:spTree>
    <p:extLst>
      <p:ext uri="{BB962C8B-B14F-4D97-AF65-F5344CB8AC3E}">
        <p14:creationId xmlns:p14="http://schemas.microsoft.com/office/powerpoint/2010/main" val="1864548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93572" y="1918529"/>
            <a:ext cx="7336790" cy="3202305"/>
            <a:chOff x="993572" y="1918529"/>
            <a:chExt cx="7336790" cy="3202305"/>
          </a:xfrm>
        </p:grpSpPr>
        <p:sp>
          <p:nvSpPr>
            <p:cNvPr id="3" name="object 3"/>
            <p:cNvSpPr/>
            <p:nvPr/>
          </p:nvSpPr>
          <p:spPr>
            <a:xfrm>
              <a:off x="993572" y="1918529"/>
              <a:ext cx="7336686" cy="320229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152143" y="2077212"/>
              <a:ext cx="6839711" cy="2705100"/>
            </a:xfrm>
            <a:prstGeom prst="rect">
              <a:avLst/>
            </a:prstGeom>
            <a:blipFill>
              <a:blip r:embed="rId3" cstate="print"/>
              <a:stretch>
                <a:fillRect/>
              </a:stretch>
            </a:blipFill>
          </p:spPr>
          <p:txBody>
            <a:bodyPr wrap="square" lIns="0" tIns="0" rIns="0" bIns="0" rtlCol="0"/>
            <a:lstStyle/>
            <a:p>
              <a:endParaRPr/>
            </a:p>
          </p:txBody>
        </p:sp>
      </p:grpSp>
      <p:grpSp>
        <p:nvGrpSpPr>
          <p:cNvPr id="5" name="object 5"/>
          <p:cNvGrpSpPr/>
          <p:nvPr/>
        </p:nvGrpSpPr>
        <p:grpSpPr>
          <a:xfrm>
            <a:off x="140144" y="140144"/>
            <a:ext cx="8255634" cy="788035"/>
            <a:chOff x="140144" y="140144"/>
            <a:chExt cx="8255634" cy="788035"/>
          </a:xfrm>
        </p:grpSpPr>
        <p:sp>
          <p:nvSpPr>
            <p:cNvPr id="6" name="object 6"/>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7" name="object 7"/>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8" name="object 8"/>
          <p:cNvSpPr txBox="1"/>
          <p:nvPr/>
        </p:nvSpPr>
        <p:spPr>
          <a:xfrm>
            <a:off x="2765805" y="184149"/>
            <a:ext cx="3001010" cy="635000"/>
          </a:xfrm>
          <a:prstGeom prst="rect">
            <a:avLst/>
          </a:prstGeom>
        </p:spPr>
        <p:txBody>
          <a:bodyPr vert="horz" wrap="square" lIns="0" tIns="12065" rIns="0" bIns="0" rtlCol="0">
            <a:spAutoFit/>
          </a:bodyPr>
          <a:lstStyle/>
          <a:p>
            <a:pPr marL="12700">
              <a:lnSpc>
                <a:spcPct val="100000"/>
              </a:lnSpc>
              <a:spcBef>
                <a:spcPts val="95"/>
              </a:spcBef>
            </a:pPr>
            <a:r>
              <a:rPr sz="4000" spc="-10" dirty="0">
                <a:solidFill>
                  <a:srgbClr val="FFFFFF"/>
                </a:solidFill>
                <a:latin typeface="Carlito"/>
                <a:cs typeface="Carlito"/>
              </a:rPr>
              <a:t>SQL</a:t>
            </a:r>
            <a:r>
              <a:rPr sz="4000" spc="-55" dirty="0">
                <a:solidFill>
                  <a:srgbClr val="FFFFFF"/>
                </a:solidFill>
                <a:latin typeface="Carlito"/>
                <a:cs typeface="Carlito"/>
              </a:rPr>
              <a:t> </a:t>
            </a:r>
            <a:r>
              <a:rPr sz="4000" spc="-15" dirty="0">
                <a:solidFill>
                  <a:srgbClr val="FFFFFF"/>
                </a:solidFill>
                <a:latin typeface="Carlito"/>
                <a:cs typeface="Carlito"/>
              </a:rPr>
              <a:t>databases</a:t>
            </a:r>
            <a:endParaRPr sz="4000">
              <a:latin typeface="Carlito"/>
              <a:cs typeface="Carlito"/>
            </a:endParaRPr>
          </a:p>
        </p:txBody>
      </p:sp>
      <p:grpSp>
        <p:nvGrpSpPr>
          <p:cNvPr id="9" name="object 9"/>
          <p:cNvGrpSpPr/>
          <p:nvPr/>
        </p:nvGrpSpPr>
        <p:grpSpPr>
          <a:xfrm>
            <a:off x="8378952" y="0"/>
            <a:ext cx="765175" cy="1172210"/>
            <a:chOff x="8378952" y="0"/>
            <a:chExt cx="765175" cy="1172210"/>
          </a:xfrm>
        </p:grpSpPr>
        <p:sp>
          <p:nvSpPr>
            <p:cNvPr id="10" name="object 10"/>
            <p:cNvSpPr/>
            <p:nvPr/>
          </p:nvSpPr>
          <p:spPr>
            <a:xfrm>
              <a:off x="8531219" y="0"/>
              <a:ext cx="612780" cy="1057759"/>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8378952" y="24383"/>
              <a:ext cx="765048" cy="1147572"/>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569452" y="0"/>
              <a:ext cx="574548" cy="1001267"/>
            </a:xfrm>
            <a:prstGeom prst="rect">
              <a:avLst/>
            </a:prstGeom>
            <a:blipFill>
              <a:blip r:embed="rId6" cstate="print"/>
              <a:stretch>
                <a:fillRect/>
              </a:stretch>
            </a:blipFill>
          </p:spPr>
          <p:txBody>
            <a:bodyPr wrap="square" lIns="0" tIns="0" rIns="0" bIns="0" rtlCol="0"/>
            <a:lstStyle/>
            <a:p>
              <a:endParaRPr/>
            </a:p>
          </p:txBody>
        </p:sp>
      </p:grpSp>
      <p:sp>
        <p:nvSpPr>
          <p:cNvPr id="13" name="object 13"/>
          <p:cNvSpPr txBox="1"/>
          <p:nvPr/>
        </p:nvSpPr>
        <p:spPr>
          <a:xfrm>
            <a:off x="8569452" y="0"/>
            <a:ext cx="574675" cy="1001394"/>
          </a:xfrm>
          <a:prstGeom prst="rect">
            <a:avLst/>
          </a:prstGeom>
          <a:ln w="9144">
            <a:solidFill>
              <a:srgbClr val="BD4A47"/>
            </a:solidFill>
          </a:ln>
        </p:spPr>
        <p:txBody>
          <a:bodyPr vert="horz" wrap="square" lIns="0" tIns="163195" rIns="0" bIns="0" rtlCol="0">
            <a:spAutoFit/>
          </a:bodyPr>
          <a:lstStyle/>
          <a:p>
            <a:pPr marL="158750">
              <a:lnSpc>
                <a:spcPct val="100000"/>
              </a:lnSpc>
              <a:spcBef>
                <a:spcPts val="1285"/>
              </a:spcBef>
            </a:pPr>
            <a:r>
              <a:rPr sz="4000" spc="-5" dirty="0">
                <a:solidFill>
                  <a:srgbClr val="FFFFFF"/>
                </a:solidFill>
                <a:latin typeface="Carlito"/>
                <a:cs typeface="Carlito"/>
              </a:rPr>
              <a:t>6</a:t>
            </a:r>
            <a:endParaRPr sz="4000">
              <a:latin typeface="Carlito"/>
              <a:cs typeface="Carli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79064" y="-381000"/>
            <a:ext cx="8352155" cy="6223000"/>
            <a:chOff x="140144" y="140144"/>
            <a:chExt cx="8352155" cy="6223000"/>
          </a:xfrm>
        </p:grpSpPr>
        <p:sp>
          <p:nvSpPr>
            <p:cNvPr id="3" name="object 3"/>
            <p:cNvSpPr/>
            <p:nvPr/>
          </p:nvSpPr>
          <p:spPr>
            <a:xfrm>
              <a:off x="618618" y="1136821"/>
              <a:ext cx="7873235" cy="5225859"/>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777240" y="1295399"/>
              <a:ext cx="7376159" cy="4728972"/>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6" name="object 6"/>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7" name="object 7"/>
          <p:cNvSpPr txBox="1"/>
          <p:nvPr/>
        </p:nvSpPr>
        <p:spPr>
          <a:xfrm>
            <a:off x="3488563" y="184149"/>
            <a:ext cx="1556385"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FFFFFF"/>
                </a:solidFill>
                <a:latin typeface="Carlito"/>
                <a:cs typeface="Carlito"/>
              </a:rPr>
              <a:t>RDBMS</a:t>
            </a:r>
            <a:endParaRPr sz="4000">
              <a:latin typeface="Carlito"/>
              <a:cs typeface="Carlito"/>
            </a:endParaRPr>
          </a:p>
        </p:txBody>
      </p:sp>
      <p:grpSp>
        <p:nvGrpSpPr>
          <p:cNvPr id="8" name="object 8"/>
          <p:cNvGrpSpPr/>
          <p:nvPr/>
        </p:nvGrpSpPr>
        <p:grpSpPr>
          <a:xfrm>
            <a:off x="8378952" y="0"/>
            <a:ext cx="765175" cy="1172210"/>
            <a:chOff x="8378952" y="0"/>
            <a:chExt cx="765175" cy="1172210"/>
          </a:xfrm>
        </p:grpSpPr>
        <p:sp>
          <p:nvSpPr>
            <p:cNvPr id="9" name="object 9"/>
            <p:cNvSpPr/>
            <p:nvPr/>
          </p:nvSpPr>
          <p:spPr>
            <a:xfrm>
              <a:off x="8531219" y="0"/>
              <a:ext cx="612780" cy="1057759"/>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8378952" y="24383"/>
              <a:ext cx="765048" cy="1147572"/>
            </a:xfrm>
            <a:prstGeom prst="rect">
              <a:avLst/>
            </a:prstGeom>
            <a:blipFill>
              <a:blip r:embed="rId5" cstate="print"/>
              <a:stretch>
                <a:fillRect/>
              </a:stretch>
            </a:blipFill>
          </p:spPr>
          <p:txBody>
            <a:bodyPr wrap="square" lIns="0" tIns="0" rIns="0" bIns="0" rtlCol="0"/>
            <a:lstStyle/>
            <a:p>
              <a:endParaRPr/>
            </a:p>
          </p:txBody>
        </p:sp>
        <p:sp>
          <p:nvSpPr>
            <p:cNvPr id="11" name="object 11"/>
            <p:cNvSpPr/>
            <p:nvPr/>
          </p:nvSpPr>
          <p:spPr>
            <a:xfrm>
              <a:off x="8569452" y="0"/>
              <a:ext cx="574548" cy="1001267"/>
            </a:xfrm>
            <a:prstGeom prst="rect">
              <a:avLst/>
            </a:prstGeom>
            <a:blipFill>
              <a:blip r:embed="rId6" cstate="print"/>
              <a:stretch>
                <a:fillRect/>
              </a:stretch>
            </a:blipFill>
          </p:spPr>
          <p:txBody>
            <a:bodyPr wrap="square" lIns="0" tIns="0" rIns="0" bIns="0" rtlCol="0"/>
            <a:lstStyle/>
            <a:p>
              <a:endParaRPr/>
            </a:p>
          </p:txBody>
        </p:sp>
      </p:grpSp>
      <p:sp>
        <p:nvSpPr>
          <p:cNvPr id="12" name="object 12"/>
          <p:cNvSpPr txBox="1"/>
          <p:nvPr/>
        </p:nvSpPr>
        <p:spPr>
          <a:xfrm>
            <a:off x="8569452" y="0"/>
            <a:ext cx="574675" cy="1001394"/>
          </a:xfrm>
          <a:prstGeom prst="rect">
            <a:avLst/>
          </a:prstGeom>
          <a:ln w="9144">
            <a:solidFill>
              <a:srgbClr val="BD4A47"/>
            </a:solidFill>
          </a:ln>
        </p:spPr>
        <p:txBody>
          <a:bodyPr vert="horz" wrap="square" lIns="0" tIns="163195" rIns="0" bIns="0" rtlCol="0">
            <a:spAutoFit/>
          </a:bodyPr>
          <a:lstStyle/>
          <a:p>
            <a:pPr marL="158750">
              <a:lnSpc>
                <a:spcPct val="100000"/>
              </a:lnSpc>
              <a:spcBef>
                <a:spcPts val="1285"/>
              </a:spcBef>
            </a:pPr>
            <a:r>
              <a:rPr sz="4000" spc="-5" dirty="0">
                <a:solidFill>
                  <a:srgbClr val="FFFFFF"/>
                </a:solidFill>
                <a:latin typeface="Carlito"/>
                <a:cs typeface="Carlito"/>
              </a:rPr>
              <a:t>7</a:t>
            </a:r>
            <a:endParaRPr sz="4000">
              <a:latin typeface="Carlito"/>
              <a:cs typeface="Carl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0965" y="1204721"/>
            <a:ext cx="4439604" cy="5948423"/>
          </a:xfrm>
          <a:prstGeom prst="rect">
            <a:avLst/>
          </a:prstGeom>
        </p:spPr>
        <p:txBody>
          <a:bodyPr vert="horz" wrap="square" lIns="0" tIns="13335" rIns="0" bIns="0" rtlCol="0">
            <a:spAutoFit/>
          </a:bodyPr>
          <a:lstStyle/>
          <a:p>
            <a:pPr marL="12700">
              <a:lnSpc>
                <a:spcPct val="100000"/>
              </a:lnSpc>
              <a:spcBef>
                <a:spcPts val="105"/>
              </a:spcBef>
            </a:pPr>
            <a:r>
              <a:rPr sz="3200" spc="-5" dirty="0">
                <a:solidFill>
                  <a:srgbClr val="FF0000"/>
                </a:solidFill>
                <a:latin typeface="Carlito"/>
                <a:cs typeface="Carlito"/>
              </a:rPr>
              <a:t>But...</a:t>
            </a:r>
            <a:endParaRPr sz="3200" dirty="0">
              <a:latin typeface="Carlito"/>
              <a:cs typeface="Carlito"/>
            </a:endParaRPr>
          </a:p>
          <a:p>
            <a:pPr marL="299085" indent="-287020">
              <a:lnSpc>
                <a:spcPct val="100000"/>
              </a:lnSpc>
              <a:spcBef>
                <a:spcPts val="80"/>
              </a:spcBef>
              <a:buFont typeface="Wingdings"/>
              <a:buChar char=""/>
              <a:tabLst>
                <a:tab pos="299720" algn="l"/>
              </a:tabLst>
            </a:pPr>
            <a:r>
              <a:rPr sz="1800" spc="-10" dirty="0">
                <a:latin typeface="Carlito"/>
                <a:cs typeface="Carlito"/>
              </a:rPr>
              <a:t>Relational </a:t>
            </a:r>
            <a:r>
              <a:rPr sz="1800" spc="-5" dirty="0">
                <a:latin typeface="Carlito"/>
                <a:cs typeface="Carlito"/>
              </a:rPr>
              <a:t>databases </a:t>
            </a:r>
            <a:r>
              <a:rPr sz="1800" spc="-15" dirty="0">
                <a:latin typeface="Carlito"/>
                <a:cs typeface="Carlito"/>
              </a:rPr>
              <a:t>were </a:t>
            </a:r>
            <a:r>
              <a:rPr sz="1800" spc="-5" dirty="0">
                <a:latin typeface="Carlito"/>
                <a:cs typeface="Carlito"/>
              </a:rPr>
              <a:t>not built</a:t>
            </a:r>
            <a:endParaRPr sz="1800" dirty="0">
              <a:latin typeface="Carlito"/>
              <a:cs typeface="Carlito"/>
            </a:endParaRPr>
          </a:p>
          <a:p>
            <a:pPr marL="326390">
              <a:lnSpc>
                <a:spcPct val="100000"/>
              </a:lnSpc>
            </a:pPr>
            <a:r>
              <a:rPr sz="1800" spc="-15" dirty="0">
                <a:latin typeface="Carlito"/>
                <a:cs typeface="Carlito"/>
              </a:rPr>
              <a:t>for </a:t>
            </a:r>
            <a:r>
              <a:rPr sz="1800" b="1" spc="-10" dirty="0">
                <a:latin typeface="Carlito"/>
                <a:cs typeface="Carlito"/>
              </a:rPr>
              <a:t>distributed</a:t>
            </a:r>
            <a:r>
              <a:rPr sz="1800" b="1" spc="10" dirty="0">
                <a:latin typeface="Carlito"/>
                <a:cs typeface="Carlito"/>
              </a:rPr>
              <a:t> </a:t>
            </a:r>
            <a:r>
              <a:rPr sz="1800" b="1" spc="-10" dirty="0">
                <a:latin typeface="Carlito"/>
                <a:cs typeface="Carlito"/>
              </a:rPr>
              <a:t>applications.</a:t>
            </a:r>
            <a:endParaRPr sz="1800" dirty="0">
              <a:latin typeface="Carlito"/>
              <a:cs typeface="Carlito"/>
            </a:endParaRPr>
          </a:p>
          <a:p>
            <a:pPr marL="12700">
              <a:lnSpc>
                <a:spcPct val="100000"/>
              </a:lnSpc>
              <a:spcBef>
                <a:spcPts val="5"/>
              </a:spcBef>
            </a:pPr>
            <a:r>
              <a:rPr sz="2800" spc="-5" dirty="0">
                <a:latin typeface="Carlito"/>
                <a:cs typeface="Carlito"/>
              </a:rPr>
              <a:t>Because...</a:t>
            </a:r>
            <a:endParaRPr sz="2800" dirty="0">
              <a:latin typeface="Carlito"/>
              <a:cs typeface="Carlito"/>
            </a:endParaRPr>
          </a:p>
          <a:p>
            <a:pPr marL="299085" indent="-287020">
              <a:lnSpc>
                <a:spcPct val="100000"/>
              </a:lnSpc>
              <a:spcBef>
                <a:spcPts val="60"/>
              </a:spcBef>
              <a:buFont typeface="Wingdings"/>
              <a:buChar char=""/>
              <a:tabLst>
                <a:tab pos="299720" algn="l"/>
              </a:tabLst>
            </a:pPr>
            <a:r>
              <a:rPr sz="1800" dirty="0">
                <a:highlight>
                  <a:srgbClr val="FFFF00"/>
                </a:highlight>
                <a:latin typeface="Carlito"/>
                <a:cs typeface="Carlito"/>
              </a:rPr>
              <a:t>Joins </a:t>
            </a:r>
            <a:r>
              <a:rPr sz="1800" spc="-10" dirty="0">
                <a:highlight>
                  <a:srgbClr val="FFFF00"/>
                </a:highlight>
                <a:latin typeface="Carlito"/>
                <a:cs typeface="Carlito"/>
              </a:rPr>
              <a:t>are</a:t>
            </a:r>
            <a:r>
              <a:rPr sz="1800" spc="5" dirty="0">
                <a:highlight>
                  <a:srgbClr val="FFFF00"/>
                </a:highlight>
                <a:latin typeface="Carlito"/>
                <a:cs typeface="Carlito"/>
              </a:rPr>
              <a:t> </a:t>
            </a:r>
            <a:r>
              <a:rPr sz="1800" spc="-5" dirty="0">
                <a:highlight>
                  <a:srgbClr val="FFFF00"/>
                </a:highlight>
                <a:latin typeface="Carlito"/>
                <a:cs typeface="Carlito"/>
              </a:rPr>
              <a:t>expensive</a:t>
            </a:r>
            <a:endParaRPr sz="1800" dirty="0">
              <a:highlight>
                <a:srgbClr val="FFFF00"/>
              </a:highlight>
              <a:latin typeface="Carlito"/>
              <a:cs typeface="Carlito"/>
            </a:endParaRPr>
          </a:p>
          <a:p>
            <a:pPr marL="299085" indent="-287020">
              <a:lnSpc>
                <a:spcPct val="100000"/>
              </a:lnSpc>
              <a:spcBef>
                <a:spcPts val="5"/>
              </a:spcBef>
              <a:buFont typeface="Wingdings"/>
              <a:buChar char=""/>
              <a:tabLst>
                <a:tab pos="299720" algn="l"/>
              </a:tabLst>
            </a:pPr>
            <a:r>
              <a:rPr sz="1800" spc="-10" dirty="0">
                <a:highlight>
                  <a:srgbClr val="FFFF00"/>
                </a:highlight>
                <a:latin typeface="Carlito"/>
                <a:cs typeface="Carlito"/>
              </a:rPr>
              <a:t>Hard to </a:t>
            </a:r>
            <a:r>
              <a:rPr sz="1800" spc="-5" dirty="0">
                <a:highlight>
                  <a:srgbClr val="FFFF00"/>
                </a:highlight>
                <a:latin typeface="Carlito"/>
                <a:cs typeface="Carlito"/>
              </a:rPr>
              <a:t>scale</a:t>
            </a:r>
            <a:r>
              <a:rPr sz="1800" spc="30" dirty="0">
                <a:highlight>
                  <a:srgbClr val="FFFF00"/>
                </a:highlight>
                <a:latin typeface="Carlito"/>
                <a:cs typeface="Carlito"/>
              </a:rPr>
              <a:t> </a:t>
            </a:r>
            <a:r>
              <a:rPr sz="1800" spc="-15" dirty="0">
                <a:highlight>
                  <a:srgbClr val="FFFF00"/>
                </a:highlight>
                <a:latin typeface="Carlito"/>
                <a:cs typeface="Carlito"/>
              </a:rPr>
              <a:t>horizontally</a:t>
            </a:r>
            <a:endParaRPr lang="en-US" sz="1800" spc="-15" dirty="0">
              <a:highlight>
                <a:srgbClr val="FFFF00"/>
              </a:highlight>
              <a:latin typeface="Carlito"/>
              <a:cs typeface="Carlito"/>
            </a:endParaRPr>
          </a:p>
          <a:p>
            <a:pPr marL="12065">
              <a:lnSpc>
                <a:spcPct val="100000"/>
              </a:lnSpc>
              <a:spcBef>
                <a:spcPts val="5"/>
              </a:spcBef>
              <a:tabLst>
                <a:tab pos="299720" algn="l"/>
              </a:tabLst>
            </a:pPr>
            <a:r>
              <a:rPr lang="en-US" i="1" spc="-15" dirty="0">
                <a:latin typeface="Carlito"/>
                <a:cs typeface="Carlito"/>
              </a:rPr>
              <a:t>(</a:t>
            </a:r>
            <a:r>
              <a:rPr lang="en-US" b="0" i="1" dirty="0">
                <a:solidFill>
                  <a:srgbClr val="202124"/>
                </a:solidFill>
                <a:effectLst/>
                <a:latin typeface="Google Sans"/>
              </a:rPr>
              <a:t>Horizontal scaling means that you scale by adding more machines into your pool of resources whereas Vertical scaling means that you scale by adding more power (CPU, RAM) to an existing machine.</a:t>
            </a:r>
            <a:r>
              <a:rPr lang="en-US" i="1" spc="-15" dirty="0">
                <a:latin typeface="Carlito"/>
                <a:cs typeface="Carlito"/>
              </a:rPr>
              <a:t>)</a:t>
            </a:r>
            <a:endParaRPr sz="1800" i="1" dirty="0">
              <a:latin typeface="Carlito"/>
              <a:cs typeface="Carlito"/>
            </a:endParaRPr>
          </a:p>
          <a:p>
            <a:pPr marL="299085" indent="-287020">
              <a:lnSpc>
                <a:spcPct val="100000"/>
              </a:lnSpc>
              <a:buFont typeface="Wingdings"/>
              <a:buChar char=""/>
              <a:tabLst>
                <a:tab pos="299720" algn="l"/>
              </a:tabLst>
            </a:pPr>
            <a:r>
              <a:rPr sz="1800" dirty="0">
                <a:highlight>
                  <a:srgbClr val="FFFF00"/>
                </a:highlight>
                <a:latin typeface="Carlito"/>
                <a:cs typeface="Carlito"/>
              </a:rPr>
              <a:t>Impedance </a:t>
            </a:r>
            <a:r>
              <a:rPr sz="1800" spc="-10" dirty="0">
                <a:highlight>
                  <a:srgbClr val="FFFF00"/>
                </a:highlight>
                <a:latin typeface="Carlito"/>
                <a:cs typeface="Carlito"/>
              </a:rPr>
              <a:t>mismatch</a:t>
            </a:r>
            <a:r>
              <a:rPr sz="1800" spc="5" dirty="0">
                <a:highlight>
                  <a:srgbClr val="FFFF00"/>
                </a:highlight>
                <a:latin typeface="Carlito"/>
                <a:cs typeface="Carlito"/>
              </a:rPr>
              <a:t> </a:t>
            </a:r>
            <a:r>
              <a:rPr sz="1800" spc="-15" dirty="0">
                <a:highlight>
                  <a:srgbClr val="FFFF00"/>
                </a:highlight>
                <a:latin typeface="Carlito"/>
                <a:cs typeface="Carlito"/>
              </a:rPr>
              <a:t>occurs</a:t>
            </a:r>
            <a:endParaRPr lang="en-US" sz="1800" spc="-15" dirty="0">
              <a:highlight>
                <a:srgbClr val="FFFF00"/>
              </a:highlight>
              <a:latin typeface="Carlito"/>
              <a:cs typeface="Carlito"/>
            </a:endParaRPr>
          </a:p>
          <a:p>
            <a:pPr marL="12065">
              <a:lnSpc>
                <a:spcPct val="100000"/>
              </a:lnSpc>
              <a:tabLst>
                <a:tab pos="299720" algn="l"/>
              </a:tabLst>
            </a:pPr>
            <a:r>
              <a:rPr lang="en-US" i="1" spc="-15" dirty="0">
                <a:latin typeface="Carlito"/>
                <a:cs typeface="Carlito"/>
              </a:rPr>
              <a:t>(</a:t>
            </a:r>
            <a:r>
              <a:rPr lang="en-US" i="1" dirty="0">
                <a:solidFill>
                  <a:srgbClr val="202124"/>
                </a:solidFill>
                <a:latin typeface="Google Sans"/>
              </a:rPr>
              <a:t>An impedance mismatch can occur when accessing a relational database in an object-oriented programming language. Problems can arise because object-oriented programming languages like C++ or Python have very different approaches to accessing data.)</a:t>
            </a:r>
            <a:endParaRPr i="1" dirty="0">
              <a:solidFill>
                <a:srgbClr val="202124"/>
              </a:solidFill>
              <a:latin typeface="Google Sans"/>
            </a:endParaRPr>
          </a:p>
          <a:p>
            <a:pPr marL="274320" marR="17780" indent="-262255">
              <a:lnSpc>
                <a:spcPct val="100000"/>
              </a:lnSpc>
              <a:buFont typeface="Wingdings"/>
              <a:buChar char=""/>
              <a:tabLst>
                <a:tab pos="299720" algn="l"/>
              </a:tabLst>
            </a:pPr>
            <a:r>
              <a:rPr sz="1800" spc="-5" dirty="0">
                <a:highlight>
                  <a:srgbClr val="FFFF00"/>
                </a:highlight>
                <a:latin typeface="Carlito"/>
                <a:cs typeface="Carlito"/>
              </a:rPr>
              <a:t>Expensive </a:t>
            </a:r>
            <a:r>
              <a:rPr sz="1800" spc="-10" dirty="0">
                <a:highlight>
                  <a:srgbClr val="FFFF00"/>
                </a:highlight>
                <a:latin typeface="Carlito"/>
                <a:cs typeface="Carlito"/>
              </a:rPr>
              <a:t>(product cost, hardware,  </a:t>
            </a:r>
            <a:r>
              <a:rPr sz="1800" spc="-5" dirty="0">
                <a:highlight>
                  <a:srgbClr val="FFFF00"/>
                </a:highlight>
                <a:latin typeface="Carlito"/>
                <a:cs typeface="Carlito"/>
              </a:rPr>
              <a:t>Maintenance)</a:t>
            </a:r>
            <a:endParaRPr sz="1800" dirty="0">
              <a:highlight>
                <a:srgbClr val="FFFF00"/>
              </a:highlight>
              <a:latin typeface="Carlito"/>
              <a:cs typeface="Carlito"/>
            </a:endParaRPr>
          </a:p>
        </p:txBody>
      </p:sp>
      <p:sp>
        <p:nvSpPr>
          <p:cNvPr id="3" name="object 3"/>
          <p:cNvSpPr/>
          <p:nvPr/>
        </p:nvSpPr>
        <p:spPr>
          <a:xfrm>
            <a:off x="4590569" y="2486949"/>
            <a:ext cx="4402466" cy="3913850"/>
          </a:xfrm>
          <a:prstGeom prst="rect">
            <a:avLst/>
          </a:prstGeom>
          <a:blipFill>
            <a:blip r:embed="rId2" cstate="print"/>
            <a:stretch>
              <a:fillRect/>
            </a:stretch>
          </a:blipFill>
        </p:spPr>
        <p:txBody>
          <a:bodyPr wrap="square" lIns="0" tIns="0" rIns="0" bIns="0" rtlCol="0"/>
          <a:lstStyle/>
          <a:p>
            <a:endParaRPr/>
          </a:p>
        </p:txBody>
      </p:sp>
      <p:grpSp>
        <p:nvGrpSpPr>
          <p:cNvPr id="4" name="object 4"/>
          <p:cNvGrpSpPr/>
          <p:nvPr/>
        </p:nvGrpSpPr>
        <p:grpSpPr>
          <a:xfrm>
            <a:off x="140144" y="140144"/>
            <a:ext cx="8255634" cy="788035"/>
            <a:chOff x="140144" y="140144"/>
            <a:chExt cx="8255634" cy="788035"/>
          </a:xfrm>
        </p:grpSpPr>
        <p:sp>
          <p:nvSpPr>
            <p:cNvPr id="5" name="object 5"/>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6" name="object 6"/>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7" name="object 7"/>
          <p:cNvSpPr txBox="1">
            <a:spLocks noGrp="1"/>
          </p:cNvSpPr>
          <p:nvPr>
            <p:ph type="title"/>
          </p:nvPr>
        </p:nvSpPr>
        <p:spPr>
          <a:xfrm>
            <a:off x="1262888" y="184149"/>
            <a:ext cx="6009640" cy="635000"/>
          </a:xfrm>
          <a:prstGeom prst="rect">
            <a:avLst/>
          </a:prstGeom>
        </p:spPr>
        <p:txBody>
          <a:bodyPr vert="horz" wrap="square" lIns="0" tIns="12065" rIns="0" bIns="0" rtlCol="0">
            <a:spAutoFit/>
          </a:bodyPr>
          <a:lstStyle/>
          <a:p>
            <a:pPr marL="12700">
              <a:lnSpc>
                <a:spcPct val="100000"/>
              </a:lnSpc>
              <a:spcBef>
                <a:spcPts val="95"/>
              </a:spcBef>
            </a:pPr>
            <a:r>
              <a:rPr sz="4000" spc="-5" dirty="0"/>
              <a:t>NoSQL </a:t>
            </a:r>
            <a:r>
              <a:rPr sz="4000" spc="-95" dirty="0"/>
              <a:t>why, </a:t>
            </a:r>
            <a:r>
              <a:rPr sz="4000" spc="-10" dirty="0"/>
              <a:t>what </a:t>
            </a:r>
            <a:r>
              <a:rPr sz="4000" spc="-5" dirty="0"/>
              <a:t>and</a:t>
            </a:r>
            <a:r>
              <a:rPr sz="4000" spc="50" dirty="0"/>
              <a:t> </a:t>
            </a:r>
            <a:r>
              <a:rPr sz="4000" spc="-5" dirty="0"/>
              <a:t>when?</a:t>
            </a:r>
            <a:endParaRPr sz="4000"/>
          </a:p>
        </p:txBody>
      </p:sp>
      <p:grpSp>
        <p:nvGrpSpPr>
          <p:cNvPr id="8" name="object 8"/>
          <p:cNvGrpSpPr/>
          <p:nvPr/>
        </p:nvGrpSpPr>
        <p:grpSpPr>
          <a:xfrm>
            <a:off x="8378952" y="0"/>
            <a:ext cx="765175" cy="1172210"/>
            <a:chOff x="8378952" y="0"/>
            <a:chExt cx="765175" cy="1172210"/>
          </a:xfrm>
        </p:grpSpPr>
        <p:sp>
          <p:nvSpPr>
            <p:cNvPr id="9" name="object 9"/>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8378952" y="24383"/>
              <a:ext cx="765048" cy="1147572"/>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2" name="object 12"/>
          <p:cNvSpPr txBox="1"/>
          <p:nvPr/>
        </p:nvSpPr>
        <p:spPr>
          <a:xfrm>
            <a:off x="8569452" y="0"/>
            <a:ext cx="574675" cy="1001394"/>
          </a:xfrm>
          <a:prstGeom prst="rect">
            <a:avLst/>
          </a:prstGeom>
          <a:ln w="9144">
            <a:solidFill>
              <a:srgbClr val="BD4A47"/>
            </a:solidFill>
          </a:ln>
        </p:spPr>
        <p:txBody>
          <a:bodyPr vert="horz" wrap="square" lIns="0" tIns="163195" rIns="0" bIns="0" rtlCol="0">
            <a:spAutoFit/>
          </a:bodyPr>
          <a:lstStyle/>
          <a:p>
            <a:pPr marL="158750">
              <a:lnSpc>
                <a:spcPct val="100000"/>
              </a:lnSpc>
              <a:spcBef>
                <a:spcPts val="1285"/>
              </a:spcBef>
            </a:pPr>
            <a:r>
              <a:rPr sz="4000" spc="-5" dirty="0">
                <a:solidFill>
                  <a:srgbClr val="FFFFFF"/>
                </a:solidFill>
                <a:latin typeface="Carlito"/>
                <a:cs typeface="Carlito"/>
              </a:rPr>
              <a:t>8</a:t>
            </a:r>
            <a:endParaRPr sz="4000">
              <a:latin typeface="Carlito"/>
              <a:cs typeface="Carlito"/>
            </a:endParaRPr>
          </a:p>
        </p:txBody>
      </p:sp>
      <p:sp>
        <p:nvSpPr>
          <p:cNvPr id="13" name="object 13"/>
          <p:cNvSpPr/>
          <p:nvPr/>
        </p:nvSpPr>
        <p:spPr>
          <a:xfrm>
            <a:off x="5191816" y="1283040"/>
            <a:ext cx="3094566" cy="934490"/>
          </a:xfrm>
          <a:prstGeom prst="rect">
            <a:avLst/>
          </a:prstGeom>
          <a:blipFill>
            <a:blip r:embed="rId6" cstate="print"/>
            <a:stretch>
              <a:fillRect/>
            </a:stretch>
          </a:blipFill>
        </p:spPr>
        <p:txBody>
          <a:bodyPr wrap="square" lIns="0" tIns="0" rIns="0" bIns="0" rtlCol="0"/>
          <a:lstStyle/>
          <a:p>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622600" y="2455731"/>
            <a:ext cx="4306362" cy="3928304"/>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724916" y="4729988"/>
            <a:ext cx="2278380" cy="1557655"/>
          </a:xfrm>
          <a:prstGeom prst="rect">
            <a:avLst/>
          </a:prstGeom>
        </p:spPr>
        <p:txBody>
          <a:bodyPr vert="horz" wrap="square" lIns="0" tIns="12065" rIns="0" bIns="0" rtlCol="0">
            <a:spAutoFit/>
          </a:bodyPr>
          <a:lstStyle/>
          <a:p>
            <a:pPr marL="12700">
              <a:lnSpc>
                <a:spcPct val="100000"/>
              </a:lnSpc>
              <a:spcBef>
                <a:spcPts val="95"/>
              </a:spcBef>
            </a:pPr>
            <a:r>
              <a:rPr sz="2800" spc="-5" dirty="0">
                <a:latin typeface="Carlito"/>
                <a:cs typeface="Carlito"/>
              </a:rPr>
              <a:t>And....</a:t>
            </a:r>
            <a:endParaRPr sz="2800">
              <a:latin typeface="Carlito"/>
              <a:cs typeface="Carlito"/>
            </a:endParaRPr>
          </a:p>
          <a:p>
            <a:pPr marL="12700">
              <a:lnSpc>
                <a:spcPct val="100000"/>
              </a:lnSpc>
              <a:spcBef>
                <a:spcPts val="65"/>
              </a:spcBef>
            </a:pPr>
            <a:r>
              <a:rPr sz="1800" spc="-15" dirty="0">
                <a:latin typeface="Carlito"/>
                <a:cs typeface="Carlito"/>
              </a:rPr>
              <a:t>It’s </a:t>
            </a:r>
            <a:r>
              <a:rPr sz="1800" spc="-5" dirty="0">
                <a:latin typeface="Carlito"/>
                <a:cs typeface="Carlito"/>
              </a:rPr>
              <a:t>weak</a:t>
            </a:r>
            <a:r>
              <a:rPr sz="1800" spc="-80" dirty="0">
                <a:latin typeface="Carlito"/>
                <a:cs typeface="Carlito"/>
              </a:rPr>
              <a:t> </a:t>
            </a:r>
            <a:r>
              <a:rPr sz="1800" dirty="0">
                <a:latin typeface="Carlito"/>
                <a:cs typeface="Carlito"/>
              </a:rPr>
              <a:t>in:</a:t>
            </a:r>
            <a:endParaRPr sz="1800">
              <a:latin typeface="Carlito"/>
              <a:cs typeface="Carlito"/>
            </a:endParaRPr>
          </a:p>
          <a:p>
            <a:pPr marL="299085" indent="-287020">
              <a:lnSpc>
                <a:spcPct val="100000"/>
              </a:lnSpc>
              <a:buFont typeface="Wingdings"/>
              <a:buChar char=""/>
              <a:tabLst>
                <a:tab pos="299720" algn="l"/>
              </a:tabLst>
            </a:pPr>
            <a:r>
              <a:rPr sz="1800" spc="-5" dirty="0">
                <a:latin typeface="Carlito"/>
                <a:cs typeface="Carlito"/>
              </a:rPr>
              <a:t>Speed</a:t>
            </a:r>
            <a:r>
              <a:rPr sz="1800" spc="-65" dirty="0">
                <a:latin typeface="Carlito"/>
                <a:cs typeface="Carlito"/>
              </a:rPr>
              <a:t> </a:t>
            </a:r>
            <a:r>
              <a:rPr sz="1800" spc="-5" dirty="0">
                <a:latin typeface="Carlito"/>
                <a:cs typeface="Carlito"/>
              </a:rPr>
              <a:t>(performance)</a:t>
            </a:r>
            <a:endParaRPr sz="1800">
              <a:latin typeface="Carlito"/>
              <a:cs typeface="Carlito"/>
            </a:endParaRPr>
          </a:p>
          <a:p>
            <a:pPr marL="299085" indent="-287020">
              <a:lnSpc>
                <a:spcPct val="100000"/>
              </a:lnSpc>
              <a:buFont typeface="Wingdings"/>
              <a:buChar char=""/>
              <a:tabLst>
                <a:tab pos="299720" algn="l"/>
              </a:tabLst>
            </a:pPr>
            <a:r>
              <a:rPr sz="1800" spc="-5" dirty="0">
                <a:latin typeface="Carlito"/>
                <a:cs typeface="Carlito"/>
              </a:rPr>
              <a:t>High</a:t>
            </a:r>
            <a:r>
              <a:rPr sz="1800" spc="10" dirty="0">
                <a:latin typeface="Carlito"/>
                <a:cs typeface="Carlito"/>
              </a:rPr>
              <a:t> </a:t>
            </a:r>
            <a:r>
              <a:rPr sz="1800" spc="-10" dirty="0">
                <a:latin typeface="Carlito"/>
                <a:cs typeface="Carlito"/>
              </a:rPr>
              <a:t>availability</a:t>
            </a:r>
            <a:endParaRPr sz="1800">
              <a:latin typeface="Carlito"/>
              <a:cs typeface="Carlito"/>
            </a:endParaRPr>
          </a:p>
          <a:p>
            <a:pPr marL="299085" indent="-287020">
              <a:lnSpc>
                <a:spcPct val="100000"/>
              </a:lnSpc>
              <a:buFont typeface="Wingdings"/>
              <a:buChar char=""/>
              <a:tabLst>
                <a:tab pos="299720" algn="l"/>
              </a:tabLst>
            </a:pPr>
            <a:r>
              <a:rPr sz="1800" spc="-10" dirty="0">
                <a:latin typeface="Carlito"/>
                <a:cs typeface="Carlito"/>
              </a:rPr>
              <a:t>Partition</a:t>
            </a:r>
            <a:r>
              <a:rPr sz="1800" spc="-5" dirty="0">
                <a:latin typeface="Carlito"/>
                <a:cs typeface="Carlito"/>
              </a:rPr>
              <a:t> </a:t>
            </a:r>
            <a:r>
              <a:rPr sz="1800" spc="-10" dirty="0">
                <a:latin typeface="Carlito"/>
                <a:cs typeface="Carlito"/>
              </a:rPr>
              <a:t>tolerance</a:t>
            </a:r>
            <a:endParaRPr sz="1800">
              <a:latin typeface="Carlito"/>
              <a:cs typeface="Carlito"/>
            </a:endParaRPr>
          </a:p>
        </p:txBody>
      </p:sp>
      <p:grpSp>
        <p:nvGrpSpPr>
          <p:cNvPr id="4" name="object 4"/>
          <p:cNvGrpSpPr/>
          <p:nvPr/>
        </p:nvGrpSpPr>
        <p:grpSpPr>
          <a:xfrm>
            <a:off x="140144" y="140144"/>
            <a:ext cx="8255634" cy="788035"/>
            <a:chOff x="140144" y="140144"/>
            <a:chExt cx="8255634" cy="788035"/>
          </a:xfrm>
        </p:grpSpPr>
        <p:sp>
          <p:nvSpPr>
            <p:cNvPr id="5" name="object 5"/>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6" name="object 6"/>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7" name="object 7"/>
          <p:cNvSpPr txBox="1">
            <a:spLocks noGrp="1"/>
          </p:cNvSpPr>
          <p:nvPr>
            <p:ph type="title"/>
          </p:nvPr>
        </p:nvSpPr>
        <p:spPr>
          <a:xfrm>
            <a:off x="1262888" y="184149"/>
            <a:ext cx="6009640" cy="635000"/>
          </a:xfrm>
          <a:prstGeom prst="rect">
            <a:avLst/>
          </a:prstGeom>
        </p:spPr>
        <p:txBody>
          <a:bodyPr vert="horz" wrap="square" lIns="0" tIns="12065" rIns="0" bIns="0" rtlCol="0">
            <a:spAutoFit/>
          </a:bodyPr>
          <a:lstStyle/>
          <a:p>
            <a:pPr marL="12700">
              <a:lnSpc>
                <a:spcPct val="100000"/>
              </a:lnSpc>
              <a:spcBef>
                <a:spcPts val="95"/>
              </a:spcBef>
            </a:pPr>
            <a:r>
              <a:rPr sz="4000" spc="-5" dirty="0"/>
              <a:t>NoSQL </a:t>
            </a:r>
            <a:r>
              <a:rPr sz="4000" spc="-95" dirty="0"/>
              <a:t>why, </a:t>
            </a:r>
            <a:r>
              <a:rPr sz="4000" spc="-10" dirty="0"/>
              <a:t>what </a:t>
            </a:r>
            <a:r>
              <a:rPr sz="4000" spc="-5" dirty="0"/>
              <a:t>and</a:t>
            </a:r>
            <a:r>
              <a:rPr sz="4000" spc="50" dirty="0"/>
              <a:t> </a:t>
            </a:r>
            <a:r>
              <a:rPr sz="4000" spc="-5" dirty="0"/>
              <a:t>when?</a:t>
            </a:r>
            <a:endParaRPr sz="4000"/>
          </a:p>
        </p:txBody>
      </p:sp>
      <p:sp>
        <p:nvSpPr>
          <p:cNvPr id="8" name="object 8"/>
          <p:cNvSpPr/>
          <p:nvPr/>
        </p:nvSpPr>
        <p:spPr>
          <a:xfrm>
            <a:off x="812412" y="1399981"/>
            <a:ext cx="3601793" cy="3047354"/>
          </a:xfrm>
          <a:prstGeom prst="rect">
            <a:avLst/>
          </a:prstGeom>
          <a:blipFill>
            <a:blip r:embed="rId3" cstate="print"/>
            <a:stretch>
              <a:fillRect/>
            </a:stretch>
          </a:blipFill>
        </p:spPr>
        <p:txBody>
          <a:bodyPr wrap="square" lIns="0" tIns="0" rIns="0" bIns="0" rtlCol="0"/>
          <a:lstStyle/>
          <a:p>
            <a:endParaRPr/>
          </a:p>
        </p:txBody>
      </p:sp>
      <p:grpSp>
        <p:nvGrpSpPr>
          <p:cNvPr id="9" name="object 9"/>
          <p:cNvGrpSpPr/>
          <p:nvPr/>
        </p:nvGrpSpPr>
        <p:grpSpPr>
          <a:xfrm>
            <a:off x="8378952" y="0"/>
            <a:ext cx="765175" cy="1172210"/>
            <a:chOff x="8378952" y="0"/>
            <a:chExt cx="765175" cy="1172210"/>
          </a:xfrm>
        </p:grpSpPr>
        <p:sp>
          <p:nvSpPr>
            <p:cNvPr id="10" name="object 10"/>
            <p:cNvSpPr/>
            <p:nvPr/>
          </p:nvSpPr>
          <p:spPr>
            <a:xfrm>
              <a:off x="8531219" y="0"/>
              <a:ext cx="612780" cy="1057759"/>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8378952" y="24383"/>
              <a:ext cx="765048" cy="1147572"/>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8569452" y="0"/>
              <a:ext cx="574548" cy="1001267"/>
            </a:xfrm>
            <a:prstGeom prst="rect">
              <a:avLst/>
            </a:prstGeom>
            <a:blipFill>
              <a:blip r:embed="rId6" cstate="print"/>
              <a:stretch>
                <a:fillRect/>
              </a:stretch>
            </a:blipFill>
          </p:spPr>
          <p:txBody>
            <a:bodyPr wrap="square" lIns="0" tIns="0" rIns="0" bIns="0" rtlCol="0"/>
            <a:lstStyle/>
            <a:p>
              <a:endParaRPr/>
            </a:p>
          </p:txBody>
        </p:sp>
      </p:grpSp>
      <p:sp>
        <p:nvSpPr>
          <p:cNvPr id="13" name="object 13"/>
          <p:cNvSpPr txBox="1"/>
          <p:nvPr/>
        </p:nvSpPr>
        <p:spPr>
          <a:xfrm>
            <a:off x="8569452" y="0"/>
            <a:ext cx="574675" cy="1001394"/>
          </a:xfrm>
          <a:prstGeom prst="rect">
            <a:avLst/>
          </a:prstGeom>
          <a:ln w="9144">
            <a:solidFill>
              <a:srgbClr val="BD4A47"/>
            </a:solidFill>
          </a:ln>
        </p:spPr>
        <p:txBody>
          <a:bodyPr vert="horz" wrap="square" lIns="0" tIns="163195" rIns="0" bIns="0" rtlCol="0">
            <a:spAutoFit/>
          </a:bodyPr>
          <a:lstStyle/>
          <a:p>
            <a:pPr marL="158750">
              <a:lnSpc>
                <a:spcPct val="100000"/>
              </a:lnSpc>
              <a:spcBef>
                <a:spcPts val="1285"/>
              </a:spcBef>
            </a:pPr>
            <a:r>
              <a:rPr sz="4000" spc="-5" dirty="0">
                <a:solidFill>
                  <a:srgbClr val="FFFFFF"/>
                </a:solidFill>
                <a:latin typeface="Carlito"/>
                <a:cs typeface="Carlito"/>
              </a:rPr>
              <a:t>9</a:t>
            </a:r>
            <a:endParaRPr sz="4000">
              <a:latin typeface="Carlito"/>
              <a:cs typeface="Carli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40144" y="140144"/>
            <a:ext cx="8255634" cy="6045200"/>
            <a:chOff x="140144" y="140144"/>
            <a:chExt cx="8255634" cy="6045200"/>
          </a:xfrm>
        </p:grpSpPr>
        <p:sp>
          <p:nvSpPr>
            <p:cNvPr id="3" name="object 3"/>
            <p:cNvSpPr/>
            <p:nvPr/>
          </p:nvSpPr>
          <p:spPr>
            <a:xfrm>
              <a:off x="588262" y="917444"/>
              <a:ext cx="7559804" cy="526771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5" name="object 5"/>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6" name="object 6"/>
          <p:cNvSpPr txBox="1">
            <a:spLocks noGrp="1"/>
          </p:cNvSpPr>
          <p:nvPr>
            <p:ph type="title"/>
          </p:nvPr>
        </p:nvSpPr>
        <p:spPr>
          <a:xfrm>
            <a:off x="268325" y="217119"/>
            <a:ext cx="3618865" cy="574675"/>
          </a:xfrm>
          <a:prstGeom prst="rect">
            <a:avLst/>
          </a:prstGeom>
        </p:spPr>
        <p:txBody>
          <a:bodyPr vert="horz" wrap="square" lIns="0" tIns="12700" rIns="0" bIns="0" rtlCol="0">
            <a:spAutoFit/>
          </a:bodyPr>
          <a:lstStyle/>
          <a:p>
            <a:pPr marL="12700">
              <a:lnSpc>
                <a:spcPct val="100000"/>
              </a:lnSpc>
              <a:spcBef>
                <a:spcPts val="100"/>
              </a:spcBef>
            </a:pPr>
            <a:r>
              <a:rPr spc="-25" dirty="0"/>
              <a:t>Why </a:t>
            </a:r>
            <a:r>
              <a:rPr dirty="0"/>
              <a:t>NOSQL</a:t>
            </a:r>
            <a:r>
              <a:rPr spc="-60" dirty="0"/>
              <a:t> </a:t>
            </a:r>
            <a:r>
              <a:rPr spc="-5" dirty="0"/>
              <a:t>now??</a:t>
            </a:r>
          </a:p>
        </p:txBody>
      </p:sp>
      <p:sp>
        <p:nvSpPr>
          <p:cNvPr id="7" name="object 7"/>
          <p:cNvSpPr txBox="1"/>
          <p:nvPr/>
        </p:nvSpPr>
        <p:spPr>
          <a:xfrm>
            <a:off x="4374851" y="217119"/>
            <a:ext cx="3582035" cy="574675"/>
          </a:xfrm>
          <a:prstGeom prst="rect">
            <a:avLst/>
          </a:prstGeom>
        </p:spPr>
        <p:txBody>
          <a:bodyPr vert="horz" wrap="square" lIns="0" tIns="12700" rIns="0" bIns="0" rtlCol="0">
            <a:spAutoFit/>
          </a:bodyPr>
          <a:lstStyle/>
          <a:p>
            <a:pPr marL="12700">
              <a:lnSpc>
                <a:spcPct val="100000"/>
              </a:lnSpc>
              <a:spcBef>
                <a:spcPts val="100"/>
              </a:spcBef>
            </a:pPr>
            <a:r>
              <a:rPr sz="3600" dirty="0">
                <a:solidFill>
                  <a:srgbClr val="FFFFFF"/>
                </a:solidFill>
                <a:latin typeface="Carlito"/>
                <a:cs typeface="Carlito"/>
              </a:rPr>
              <a:t>Ans. Driving</a:t>
            </a:r>
            <a:r>
              <a:rPr sz="3600" spc="-95" dirty="0">
                <a:solidFill>
                  <a:srgbClr val="FFFFFF"/>
                </a:solidFill>
                <a:latin typeface="Carlito"/>
                <a:cs typeface="Carlito"/>
              </a:rPr>
              <a:t> </a:t>
            </a:r>
            <a:r>
              <a:rPr sz="3600" spc="-50" dirty="0">
                <a:solidFill>
                  <a:srgbClr val="FFFFFF"/>
                </a:solidFill>
                <a:latin typeface="Carlito"/>
                <a:cs typeface="Carlito"/>
              </a:rPr>
              <a:t>Trends</a:t>
            </a:r>
            <a:endParaRPr sz="3600">
              <a:latin typeface="Carlito"/>
              <a:cs typeface="Carlito"/>
            </a:endParaRPr>
          </a:p>
        </p:txBody>
      </p:sp>
      <p:grpSp>
        <p:nvGrpSpPr>
          <p:cNvPr id="8" name="object 8"/>
          <p:cNvGrpSpPr/>
          <p:nvPr/>
        </p:nvGrpSpPr>
        <p:grpSpPr>
          <a:xfrm>
            <a:off x="6769607" y="0"/>
            <a:ext cx="2374900" cy="1309370"/>
            <a:chOff x="6769607" y="0"/>
            <a:chExt cx="2374900" cy="1309370"/>
          </a:xfrm>
        </p:grpSpPr>
        <p:sp>
          <p:nvSpPr>
            <p:cNvPr id="9" name="object 9"/>
            <p:cNvSpPr/>
            <p:nvPr/>
          </p:nvSpPr>
          <p:spPr>
            <a:xfrm>
              <a:off x="6782561" y="991361"/>
              <a:ext cx="1295400" cy="304800"/>
            </a:xfrm>
            <a:custGeom>
              <a:avLst/>
              <a:gdLst/>
              <a:ahLst/>
              <a:cxnLst/>
              <a:rect l="l" t="t" r="r" b="b"/>
              <a:pathLst>
                <a:path w="1295400" h="304800">
                  <a:moveTo>
                    <a:pt x="1295400" y="0"/>
                  </a:moveTo>
                  <a:lnTo>
                    <a:pt x="0" y="0"/>
                  </a:lnTo>
                  <a:lnTo>
                    <a:pt x="0" y="304800"/>
                  </a:lnTo>
                  <a:lnTo>
                    <a:pt x="1295400" y="304800"/>
                  </a:lnTo>
                  <a:lnTo>
                    <a:pt x="1295400" y="0"/>
                  </a:lnTo>
                  <a:close/>
                </a:path>
              </a:pathLst>
            </a:custGeom>
            <a:solidFill>
              <a:srgbClr val="4F81BC"/>
            </a:solidFill>
          </p:spPr>
          <p:txBody>
            <a:bodyPr wrap="square" lIns="0" tIns="0" rIns="0" bIns="0" rtlCol="0"/>
            <a:lstStyle/>
            <a:p>
              <a:endParaRPr/>
            </a:p>
          </p:txBody>
        </p:sp>
        <p:sp>
          <p:nvSpPr>
            <p:cNvPr id="10" name="object 10"/>
            <p:cNvSpPr/>
            <p:nvPr/>
          </p:nvSpPr>
          <p:spPr>
            <a:xfrm>
              <a:off x="6782561" y="991361"/>
              <a:ext cx="1295400" cy="304800"/>
            </a:xfrm>
            <a:custGeom>
              <a:avLst/>
              <a:gdLst/>
              <a:ahLst/>
              <a:cxnLst/>
              <a:rect l="l" t="t" r="r" b="b"/>
              <a:pathLst>
                <a:path w="1295400" h="304800">
                  <a:moveTo>
                    <a:pt x="0" y="304800"/>
                  </a:moveTo>
                  <a:lnTo>
                    <a:pt x="1295400" y="304800"/>
                  </a:lnTo>
                  <a:lnTo>
                    <a:pt x="1295400" y="0"/>
                  </a:lnTo>
                  <a:lnTo>
                    <a:pt x="0" y="0"/>
                  </a:lnTo>
                  <a:lnTo>
                    <a:pt x="0" y="304800"/>
                  </a:lnTo>
                  <a:close/>
                </a:path>
              </a:pathLst>
            </a:custGeom>
            <a:ln w="25908">
              <a:solidFill>
                <a:srgbClr val="4F81BC"/>
              </a:solidFill>
            </a:ln>
          </p:spPr>
          <p:txBody>
            <a:bodyPr wrap="square" lIns="0" tIns="0" rIns="0" bIns="0" rtlCol="0"/>
            <a:lstStyle/>
            <a:p>
              <a:endParaRPr/>
            </a:p>
          </p:txBody>
        </p:sp>
        <p:sp>
          <p:nvSpPr>
            <p:cNvPr id="11" name="object 11"/>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8420099" y="161544"/>
              <a:ext cx="723900" cy="827531"/>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8569451"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4" name="object 14"/>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11</a:t>
            </a:r>
            <a:endParaRPr sz="2800">
              <a:latin typeface="Carlito"/>
              <a:cs typeface="Carli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298447" y="1850133"/>
            <a:ext cx="7241286" cy="4441702"/>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140144" y="140144"/>
            <a:ext cx="8255634" cy="788035"/>
            <a:chOff x="140144" y="140144"/>
            <a:chExt cx="8255634" cy="788035"/>
          </a:xfrm>
        </p:grpSpPr>
        <p:sp>
          <p:nvSpPr>
            <p:cNvPr id="4" name="object 4"/>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5" name="object 5"/>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6" name="object 6"/>
          <p:cNvSpPr txBox="1">
            <a:spLocks noGrp="1"/>
          </p:cNvSpPr>
          <p:nvPr>
            <p:ph type="title"/>
          </p:nvPr>
        </p:nvSpPr>
        <p:spPr>
          <a:xfrm>
            <a:off x="268325" y="217119"/>
            <a:ext cx="5873115" cy="574675"/>
          </a:xfrm>
          <a:prstGeom prst="rect">
            <a:avLst/>
          </a:prstGeom>
        </p:spPr>
        <p:txBody>
          <a:bodyPr vert="horz" wrap="square" lIns="0" tIns="12700" rIns="0" bIns="0" rtlCol="0">
            <a:spAutoFit/>
          </a:bodyPr>
          <a:lstStyle/>
          <a:p>
            <a:pPr marL="12700">
              <a:lnSpc>
                <a:spcPct val="100000"/>
              </a:lnSpc>
              <a:spcBef>
                <a:spcPts val="100"/>
              </a:spcBef>
            </a:pPr>
            <a:r>
              <a:rPr spc="-5" dirty="0"/>
              <a:t>Side </a:t>
            </a:r>
            <a:r>
              <a:rPr spc="-10" dirty="0"/>
              <a:t>note: </a:t>
            </a:r>
            <a:r>
              <a:rPr dirty="0"/>
              <a:t>RDBMS</a:t>
            </a:r>
            <a:r>
              <a:rPr spc="-125" dirty="0"/>
              <a:t> </a:t>
            </a:r>
            <a:r>
              <a:rPr spc="-10" dirty="0"/>
              <a:t>performance</a:t>
            </a:r>
          </a:p>
        </p:txBody>
      </p:sp>
      <p:grpSp>
        <p:nvGrpSpPr>
          <p:cNvPr id="7" name="object 7"/>
          <p:cNvGrpSpPr/>
          <p:nvPr/>
        </p:nvGrpSpPr>
        <p:grpSpPr>
          <a:xfrm>
            <a:off x="8420100" y="0"/>
            <a:ext cx="723900" cy="1057910"/>
            <a:chOff x="8420100" y="0"/>
            <a:chExt cx="723900" cy="1057910"/>
          </a:xfrm>
        </p:grpSpPr>
        <p:sp>
          <p:nvSpPr>
            <p:cNvPr id="8" name="object 8"/>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8420100" y="161544"/>
              <a:ext cx="723900" cy="827531"/>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1" name="object 11"/>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12</a:t>
            </a:r>
            <a:endParaRPr sz="2800">
              <a:latin typeface="Carlito"/>
              <a:cs typeface="Carli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708640" y="1362441"/>
            <a:ext cx="2327924" cy="1152935"/>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743813" y="1764919"/>
            <a:ext cx="5646420" cy="3683635"/>
          </a:xfrm>
          <a:prstGeom prst="rect">
            <a:avLst/>
          </a:prstGeom>
        </p:spPr>
        <p:txBody>
          <a:bodyPr vert="horz" wrap="square" lIns="0" tIns="12700" rIns="0" bIns="0" rtlCol="0">
            <a:spAutoFit/>
          </a:bodyPr>
          <a:lstStyle/>
          <a:p>
            <a:pPr marL="299085" marR="5080" indent="-287020">
              <a:lnSpc>
                <a:spcPct val="100000"/>
              </a:lnSpc>
              <a:spcBef>
                <a:spcPts val="100"/>
              </a:spcBef>
              <a:buFont typeface="Wingdings"/>
              <a:buChar char=""/>
              <a:tabLst>
                <a:tab pos="299720" algn="l"/>
              </a:tabLst>
            </a:pPr>
            <a:r>
              <a:rPr sz="2400" dirty="0">
                <a:latin typeface="Carlito"/>
                <a:cs typeface="Carlito"/>
              </a:rPr>
              <a:t>A No SQL </a:t>
            </a:r>
            <a:r>
              <a:rPr sz="2400" spc="-10" dirty="0">
                <a:latin typeface="Carlito"/>
                <a:cs typeface="Carlito"/>
              </a:rPr>
              <a:t>database provides </a:t>
            </a:r>
            <a:r>
              <a:rPr sz="2400" dirty="0">
                <a:latin typeface="Carlito"/>
                <a:cs typeface="Carlito"/>
              </a:rPr>
              <a:t>a </a:t>
            </a:r>
            <a:r>
              <a:rPr sz="2400" spc="-5" dirty="0">
                <a:latin typeface="Carlito"/>
                <a:cs typeface="Carlito"/>
              </a:rPr>
              <a:t>mechanism  </a:t>
            </a:r>
            <a:r>
              <a:rPr sz="2400" spc="-20" dirty="0">
                <a:latin typeface="Carlito"/>
                <a:cs typeface="Carlito"/>
              </a:rPr>
              <a:t>for </a:t>
            </a:r>
            <a:r>
              <a:rPr sz="2400" spc="-25" dirty="0">
                <a:latin typeface="Carlito"/>
                <a:cs typeface="Carlito"/>
              </a:rPr>
              <a:t>storage </a:t>
            </a:r>
            <a:r>
              <a:rPr sz="2400" dirty="0">
                <a:latin typeface="Carlito"/>
                <a:cs typeface="Carlito"/>
              </a:rPr>
              <a:t>and </a:t>
            </a:r>
            <a:r>
              <a:rPr sz="2400" spc="-10" dirty="0">
                <a:latin typeface="Carlito"/>
                <a:cs typeface="Carlito"/>
              </a:rPr>
              <a:t>retrieval </a:t>
            </a:r>
            <a:r>
              <a:rPr sz="2400" spc="-5" dirty="0">
                <a:latin typeface="Carlito"/>
                <a:cs typeface="Carlito"/>
              </a:rPr>
              <a:t>of </a:t>
            </a:r>
            <a:r>
              <a:rPr sz="2400" spc="-15" dirty="0">
                <a:latin typeface="Carlito"/>
                <a:cs typeface="Carlito"/>
              </a:rPr>
              <a:t>data </a:t>
            </a:r>
            <a:r>
              <a:rPr sz="2400" spc="-10" dirty="0">
                <a:latin typeface="Carlito"/>
                <a:cs typeface="Carlito"/>
              </a:rPr>
              <a:t>that  </a:t>
            </a:r>
            <a:r>
              <a:rPr sz="2400" spc="-5" dirty="0">
                <a:latin typeface="Carlito"/>
                <a:cs typeface="Carlito"/>
              </a:rPr>
              <a:t>employs </a:t>
            </a:r>
            <a:r>
              <a:rPr sz="2400" dirty="0">
                <a:latin typeface="Carlito"/>
                <a:cs typeface="Carlito"/>
              </a:rPr>
              <a:t>less </a:t>
            </a:r>
            <a:r>
              <a:rPr sz="2400" spc="-15" dirty="0">
                <a:latin typeface="Carlito"/>
                <a:cs typeface="Carlito"/>
              </a:rPr>
              <a:t>constrained </a:t>
            </a:r>
            <a:r>
              <a:rPr sz="2400" spc="-10" dirty="0">
                <a:latin typeface="Carlito"/>
                <a:cs typeface="Carlito"/>
              </a:rPr>
              <a:t>consistency  </a:t>
            </a:r>
            <a:r>
              <a:rPr sz="2400" dirty="0">
                <a:latin typeface="Carlito"/>
                <a:cs typeface="Carlito"/>
              </a:rPr>
              <a:t>models than </a:t>
            </a:r>
            <a:r>
              <a:rPr sz="2400" spc="-5" dirty="0">
                <a:latin typeface="Carlito"/>
                <a:cs typeface="Carlito"/>
              </a:rPr>
              <a:t>traditional </a:t>
            </a:r>
            <a:r>
              <a:rPr sz="2400" spc="-10" dirty="0">
                <a:latin typeface="Carlito"/>
                <a:cs typeface="Carlito"/>
              </a:rPr>
              <a:t>relational</a:t>
            </a:r>
            <a:r>
              <a:rPr sz="2400" spc="-70" dirty="0">
                <a:latin typeface="Carlito"/>
                <a:cs typeface="Carlito"/>
              </a:rPr>
              <a:t> </a:t>
            </a:r>
            <a:r>
              <a:rPr sz="2400" spc="-10" dirty="0">
                <a:latin typeface="Carlito"/>
                <a:cs typeface="Carlito"/>
              </a:rPr>
              <a:t>database</a:t>
            </a:r>
            <a:endParaRPr sz="2400">
              <a:latin typeface="Carlito"/>
              <a:cs typeface="Carlito"/>
            </a:endParaRPr>
          </a:p>
          <a:p>
            <a:pPr>
              <a:lnSpc>
                <a:spcPct val="100000"/>
              </a:lnSpc>
              <a:buFont typeface="Wingdings"/>
              <a:buChar char=""/>
            </a:pPr>
            <a:endParaRPr sz="2400">
              <a:latin typeface="Carlito"/>
              <a:cs typeface="Carlito"/>
            </a:endParaRPr>
          </a:p>
          <a:p>
            <a:pPr>
              <a:lnSpc>
                <a:spcPct val="100000"/>
              </a:lnSpc>
              <a:spcBef>
                <a:spcPts val="20"/>
              </a:spcBef>
              <a:buFont typeface="Wingdings"/>
              <a:buChar char=""/>
            </a:pPr>
            <a:endParaRPr sz="2300">
              <a:latin typeface="Carlito"/>
              <a:cs typeface="Carlito"/>
            </a:endParaRPr>
          </a:p>
          <a:p>
            <a:pPr marL="299085" indent="-287020">
              <a:lnSpc>
                <a:spcPct val="100000"/>
              </a:lnSpc>
              <a:spcBef>
                <a:spcPts val="5"/>
              </a:spcBef>
              <a:buFont typeface="Wingdings"/>
              <a:buChar char=""/>
              <a:tabLst>
                <a:tab pos="299720" algn="l"/>
              </a:tabLst>
            </a:pPr>
            <a:r>
              <a:rPr sz="2400" dirty="0">
                <a:latin typeface="Carlito"/>
                <a:cs typeface="Carlito"/>
              </a:rPr>
              <a:t>No </a:t>
            </a:r>
            <a:r>
              <a:rPr sz="2400" spc="-5" dirty="0">
                <a:latin typeface="Carlito"/>
                <a:cs typeface="Carlito"/>
              </a:rPr>
              <a:t>SQL </a:t>
            </a:r>
            <a:r>
              <a:rPr sz="2400" spc="-20" dirty="0">
                <a:latin typeface="Carlito"/>
                <a:cs typeface="Carlito"/>
              </a:rPr>
              <a:t>systems </a:t>
            </a:r>
            <a:r>
              <a:rPr sz="2400" spc="-15" dirty="0">
                <a:latin typeface="Carlito"/>
                <a:cs typeface="Carlito"/>
              </a:rPr>
              <a:t>are </a:t>
            </a:r>
            <a:r>
              <a:rPr sz="2400" dirty="0">
                <a:latin typeface="Carlito"/>
                <a:cs typeface="Carlito"/>
              </a:rPr>
              <a:t>also </a:t>
            </a:r>
            <a:r>
              <a:rPr sz="2400" spc="-20" dirty="0">
                <a:latin typeface="Carlito"/>
                <a:cs typeface="Carlito"/>
              </a:rPr>
              <a:t>referred </a:t>
            </a:r>
            <a:r>
              <a:rPr sz="2400" spc="-15" dirty="0">
                <a:latin typeface="Carlito"/>
                <a:cs typeface="Carlito"/>
              </a:rPr>
              <a:t>to </a:t>
            </a:r>
            <a:r>
              <a:rPr sz="2400" dirty="0">
                <a:latin typeface="Carlito"/>
                <a:cs typeface="Carlito"/>
              </a:rPr>
              <a:t>as</a:t>
            </a:r>
            <a:endParaRPr sz="2400">
              <a:latin typeface="Carlito"/>
              <a:cs typeface="Carlito"/>
            </a:endParaRPr>
          </a:p>
          <a:p>
            <a:pPr marL="299085" marR="67310">
              <a:lnSpc>
                <a:spcPct val="100000"/>
              </a:lnSpc>
            </a:pPr>
            <a:r>
              <a:rPr sz="2400" spc="-25" dirty="0">
                <a:latin typeface="Carlito"/>
                <a:cs typeface="Carlito"/>
              </a:rPr>
              <a:t>"NotonlySQL“ </a:t>
            </a:r>
            <a:r>
              <a:rPr sz="2400" spc="-15" dirty="0">
                <a:latin typeface="Carlito"/>
                <a:cs typeface="Carlito"/>
              </a:rPr>
              <a:t>to </a:t>
            </a:r>
            <a:r>
              <a:rPr sz="2400" spc="-10" dirty="0">
                <a:latin typeface="Carlito"/>
                <a:cs typeface="Carlito"/>
              </a:rPr>
              <a:t>emphasize that </a:t>
            </a:r>
            <a:r>
              <a:rPr sz="2400" spc="-5" dirty="0">
                <a:latin typeface="Carlito"/>
                <a:cs typeface="Carlito"/>
              </a:rPr>
              <a:t>they do </a:t>
            </a:r>
            <a:r>
              <a:rPr sz="2400" dirty="0">
                <a:latin typeface="Carlito"/>
                <a:cs typeface="Carlito"/>
              </a:rPr>
              <a:t>in  </a:t>
            </a:r>
            <a:r>
              <a:rPr sz="2400" spc="-15" dirty="0">
                <a:latin typeface="Carlito"/>
                <a:cs typeface="Carlito"/>
              </a:rPr>
              <a:t>fact </a:t>
            </a:r>
            <a:r>
              <a:rPr sz="2400" spc="-5" dirty="0">
                <a:latin typeface="Carlito"/>
                <a:cs typeface="Carlito"/>
              </a:rPr>
              <a:t>allow </a:t>
            </a:r>
            <a:r>
              <a:rPr sz="2400" spc="-10" dirty="0">
                <a:latin typeface="Carlito"/>
                <a:cs typeface="Carlito"/>
              </a:rPr>
              <a:t>SQL-like </a:t>
            </a:r>
            <a:r>
              <a:rPr sz="2400" dirty="0">
                <a:latin typeface="Carlito"/>
                <a:cs typeface="Carlito"/>
              </a:rPr>
              <a:t>query </a:t>
            </a:r>
            <a:r>
              <a:rPr sz="2400" spc="-5" dirty="0">
                <a:latin typeface="Carlito"/>
                <a:cs typeface="Carlito"/>
              </a:rPr>
              <a:t>languages </a:t>
            </a:r>
            <a:r>
              <a:rPr sz="2400" spc="-15" dirty="0">
                <a:latin typeface="Carlito"/>
                <a:cs typeface="Carlito"/>
              </a:rPr>
              <a:t>to </a:t>
            </a:r>
            <a:r>
              <a:rPr sz="2400" spc="-5" dirty="0">
                <a:latin typeface="Carlito"/>
                <a:cs typeface="Carlito"/>
              </a:rPr>
              <a:t>be  used.</a:t>
            </a:r>
            <a:endParaRPr sz="2400">
              <a:latin typeface="Carlito"/>
              <a:cs typeface="Carlito"/>
            </a:endParaRPr>
          </a:p>
        </p:txBody>
      </p:sp>
      <p:grpSp>
        <p:nvGrpSpPr>
          <p:cNvPr id="4" name="object 4"/>
          <p:cNvGrpSpPr/>
          <p:nvPr/>
        </p:nvGrpSpPr>
        <p:grpSpPr>
          <a:xfrm>
            <a:off x="6694930" y="3581400"/>
            <a:ext cx="2189480" cy="2559050"/>
            <a:chOff x="6694930" y="3581400"/>
            <a:chExt cx="2189480" cy="2559050"/>
          </a:xfrm>
        </p:grpSpPr>
        <p:sp>
          <p:nvSpPr>
            <p:cNvPr id="5" name="object 5"/>
            <p:cNvSpPr/>
            <p:nvPr/>
          </p:nvSpPr>
          <p:spPr>
            <a:xfrm>
              <a:off x="6694930" y="5577839"/>
              <a:ext cx="2189229" cy="562355"/>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6705599" y="3581400"/>
              <a:ext cx="2170176" cy="1997964"/>
            </a:xfrm>
            <a:prstGeom prst="rect">
              <a:avLst/>
            </a:prstGeom>
            <a:blipFill>
              <a:blip r:embed="rId4" cstate="print"/>
              <a:stretch>
                <a:fillRect/>
              </a:stretch>
            </a:blipFill>
          </p:spPr>
          <p:txBody>
            <a:bodyPr wrap="square" lIns="0" tIns="0" rIns="0" bIns="0" rtlCol="0"/>
            <a:lstStyle/>
            <a:p>
              <a:endParaRPr/>
            </a:p>
          </p:txBody>
        </p:sp>
      </p:grpSp>
      <p:grpSp>
        <p:nvGrpSpPr>
          <p:cNvPr id="7" name="object 7"/>
          <p:cNvGrpSpPr/>
          <p:nvPr/>
        </p:nvGrpSpPr>
        <p:grpSpPr>
          <a:xfrm>
            <a:off x="108907" y="337278"/>
            <a:ext cx="8255634" cy="788035"/>
            <a:chOff x="140144" y="140144"/>
            <a:chExt cx="8255634" cy="788035"/>
          </a:xfrm>
        </p:grpSpPr>
        <p:sp>
          <p:nvSpPr>
            <p:cNvPr id="8" name="object 8"/>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9" name="object 9"/>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10" name="object 10"/>
          <p:cNvSpPr txBox="1">
            <a:spLocks noGrp="1"/>
          </p:cNvSpPr>
          <p:nvPr>
            <p:ph type="title"/>
          </p:nvPr>
        </p:nvSpPr>
        <p:spPr>
          <a:xfrm>
            <a:off x="612139" y="347598"/>
            <a:ext cx="5778093" cy="635000"/>
          </a:xfrm>
          <a:prstGeom prst="rect">
            <a:avLst/>
          </a:prstGeom>
        </p:spPr>
        <p:txBody>
          <a:bodyPr vert="horz" wrap="square" lIns="0" tIns="12065" rIns="0" bIns="0" rtlCol="0">
            <a:spAutoFit/>
          </a:bodyPr>
          <a:lstStyle/>
          <a:p>
            <a:pPr marL="12700">
              <a:lnSpc>
                <a:spcPct val="100000"/>
              </a:lnSpc>
              <a:spcBef>
                <a:spcPts val="95"/>
              </a:spcBef>
            </a:pPr>
            <a:r>
              <a:rPr sz="4000" spc="-705" dirty="0"/>
              <a:t>Bu</a:t>
            </a:r>
            <a:r>
              <a:rPr sz="4800" spc="-1057" baseline="-3472" dirty="0">
                <a:solidFill>
                  <a:srgbClr val="000000"/>
                </a:solidFill>
              </a:rPr>
              <a:t>B</a:t>
            </a:r>
            <a:r>
              <a:rPr sz="4000" spc="-705" dirty="0"/>
              <a:t>t</a:t>
            </a:r>
            <a:r>
              <a:rPr sz="4800" spc="-1057" baseline="-3472" dirty="0">
                <a:solidFill>
                  <a:srgbClr val="000000"/>
                </a:solidFill>
              </a:rPr>
              <a:t>u</a:t>
            </a:r>
            <a:r>
              <a:rPr sz="4000" spc="-705" dirty="0"/>
              <a:t>.</a:t>
            </a:r>
            <a:r>
              <a:rPr sz="4800" spc="-1057" baseline="-3472" dirty="0">
                <a:solidFill>
                  <a:srgbClr val="000000"/>
                </a:solidFill>
              </a:rPr>
              <a:t>t</a:t>
            </a:r>
            <a:r>
              <a:rPr sz="4000" spc="-705" dirty="0"/>
              <a:t>.</a:t>
            </a:r>
            <a:r>
              <a:rPr sz="4800" spc="-1057" baseline="-3472" dirty="0">
                <a:solidFill>
                  <a:srgbClr val="000000"/>
                </a:solidFill>
              </a:rPr>
              <a:t>..</a:t>
            </a:r>
            <a:r>
              <a:rPr sz="4000" spc="-705" dirty="0"/>
              <a:t>W</a:t>
            </a:r>
            <a:r>
              <a:rPr sz="4800" spc="-1057" baseline="-3472" dirty="0">
                <a:solidFill>
                  <a:srgbClr val="000000"/>
                </a:solidFill>
              </a:rPr>
              <a:t>W</a:t>
            </a:r>
            <a:r>
              <a:rPr sz="4000" spc="-705" dirty="0"/>
              <a:t>h</a:t>
            </a:r>
            <a:r>
              <a:rPr sz="4800" spc="-1057" baseline="-3472" dirty="0">
                <a:solidFill>
                  <a:srgbClr val="000000"/>
                </a:solidFill>
              </a:rPr>
              <a:t>h</a:t>
            </a:r>
            <a:r>
              <a:rPr sz="4000" spc="-705" dirty="0"/>
              <a:t>a</a:t>
            </a:r>
            <a:r>
              <a:rPr sz="4800" spc="-1057" baseline="-3472" dirty="0">
                <a:solidFill>
                  <a:srgbClr val="000000"/>
                </a:solidFill>
              </a:rPr>
              <a:t>at</a:t>
            </a:r>
            <a:r>
              <a:rPr sz="4000" spc="-705" dirty="0"/>
              <a:t>t</a:t>
            </a:r>
            <a:r>
              <a:rPr sz="4800" spc="-1057" baseline="-3472" dirty="0">
                <a:solidFill>
                  <a:srgbClr val="000000"/>
                </a:solidFill>
              </a:rPr>
              <a:t>’</a:t>
            </a:r>
            <a:r>
              <a:rPr sz="4000" spc="-705" dirty="0"/>
              <a:t>’</a:t>
            </a:r>
            <a:r>
              <a:rPr sz="4800" spc="-1057" baseline="-3472" dirty="0">
                <a:solidFill>
                  <a:srgbClr val="000000"/>
                </a:solidFill>
              </a:rPr>
              <a:t>s</a:t>
            </a:r>
            <a:r>
              <a:rPr sz="4000" spc="-705" dirty="0"/>
              <a:t>s</a:t>
            </a:r>
            <a:r>
              <a:rPr sz="4800" spc="-1057" baseline="-3472" dirty="0">
                <a:solidFill>
                  <a:srgbClr val="000000"/>
                </a:solidFill>
              </a:rPr>
              <a:t>N</a:t>
            </a:r>
            <a:r>
              <a:rPr sz="4000" spc="-705" dirty="0"/>
              <a:t>N</a:t>
            </a:r>
            <a:r>
              <a:rPr sz="4800" spc="-1057" baseline="-3472" dirty="0">
                <a:solidFill>
                  <a:srgbClr val="000000"/>
                </a:solidFill>
              </a:rPr>
              <a:t>o</a:t>
            </a:r>
            <a:r>
              <a:rPr sz="4000" spc="-705" dirty="0"/>
              <a:t>o</a:t>
            </a:r>
            <a:r>
              <a:rPr sz="4800" spc="-1057" baseline="-3472" dirty="0">
                <a:solidFill>
                  <a:srgbClr val="000000"/>
                </a:solidFill>
              </a:rPr>
              <a:t>SQ</a:t>
            </a:r>
            <a:r>
              <a:rPr sz="4000" spc="-705" dirty="0"/>
              <a:t>S</a:t>
            </a:r>
            <a:r>
              <a:rPr sz="4800" spc="-1057" baseline="-3472" dirty="0">
                <a:solidFill>
                  <a:srgbClr val="000000"/>
                </a:solidFill>
              </a:rPr>
              <a:t>L</a:t>
            </a:r>
            <a:r>
              <a:rPr sz="4000" spc="-705" dirty="0"/>
              <a:t>Q</a:t>
            </a:r>
            <a:r>
              <a:rPr sz="4800" spc="-1057" baseline="-3472" dirty="0">
                <a:solidFill>
                  <a:srgbClr val="000000"/>
                </a:solidFill>
              </a:rPr>
              <a:t>?</a:t>
            </a:r>
            <a:r>
              <a:rPr sz="4000" spc="-705" dirty="0"/>
              <a:t>L?</a:t>
            </a:r>
            <a:endParaRPr sz="4000" dirty="0"/>
          </a:p>
        </p:txBody>
      </p:sp>
      <p:grpSp>
        <p:nvGrpSpPr>
          <p:cNvPr id="11" name="object 11"/>
          <p:cNvGrpSpPr/>
          <p:nvPr/>
        </p:nvGrpSpPr>
        <p:grpSpPr>
          <a:xfrm>
            <a:off x="8420100" y="0"/>
            <a:ext cx="723900" cy="1057910"/>
            <a:chOff x="8420100" y="0"/>
            <a:chExt cx="723900" cy="1057910"/>
          </a:xfrm>
        </p:grpSpPr>
        <p:sp>
          <p:nvSpPr>
            <p:cNvPr id="12" name="object 12"/>
            <p:cNvSpPr/>
            <p:nvPr/>
          </p:nvSpPr>
          <p:spPr>
            <a:xfrm>
              <a:off x="8531219" y="0"/>
              <a:ext cx="612780" cy="1057759"/>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8420100" y="161544"/>
              <a:ext cx="723900" cy="827531"/>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8569452" y="0"/>
              <a:ext cx="574548" cy="1001267"/>
            </a:xfrm>
            <a:prstGeom prst="rect">
              <a:avLst/>
            </a:prstGeom>
            <a:blipFill>
              <a:blip r:embed="rId7" cstate="print"/>
              <a:stretch>
                <a:fillRect/>
              </a:stretch>
            </a:blipFill>
          </p:spPr>
          <p:txBody>
            <a:bodyPr wrap="square" lIns="0" tIns="0" rIns="0" bIns="0" rtlCol="0"/>
            <a:lstStyle/>
            <a:p>
              <a:endParaRPr/>
            </a:p>
          </p:txBody>
        </p:sp>
      </p:grpSp>
      <p:sp>
        <p:nvSpPr>
          <p:cNvPr id="15" name="object 15"/>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13</a:t>
            </a:r>
            <a:endParaRPr sz="2800">
              <a:latin typeface="Carlito"/>
              <a:cs typeface="Carli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24916" y="1110282"/>
            <a:ext cx="4166235" cy="5080000"/>
          </a:xfrm>
          <a:prstGeom prst="rect">
            <a:avLst/>
          </a:prstGeom>
        </p:spPr>
        <p:txBody>
          <a:bodyPr vert="horz" wrap="square" lIns="0" tIns="138430" rIns="0" bIns="0" rtlCol="0">
            <a:spAutoFit/>
          </a:bodyPr>
          <a:lstStyle/>
          <a:p>
            <a:pPr marL="12700">
              <a:lnSpc>
                <a:spcPct val="100000"/>
              </a:lnSpc>
              <a:spcBef>
                <a:spcPts val="1090"/>
              </a:spcBef>
            </a:pPr>
            <a:r>
              <a:rPr sz="2000" dirty="0">
                <a:latin typeface="Carlito"/>
                <a:cs typeface="Carlito"/>
              </a:rPr>
              <a:t>NoSQL</a:t>
            </a:r>
            <a:r>
              <a:rPr sz="2000" spc="-15" dirty="0">
                <a:latin typeface="Carlito"/>
                <a:cs typeface="Carlito"/>
              </a:rPr>
              <a:t> avoids:</a:t>
            </a:r>
            <a:endParaRPr sz="2000">
              <a:latin typeface="Carlito"/>
              <a:cs typeface="Carlito"/>
            </a:endParaRPr>
          </a:p>
          <a:p>
            <a:pPr marL="12700">
              <a:lnSpc>
                <a:spcPct val="100000"/>
              </a:lnSpc>
              <a:spcBef>
                <a:spcPts val="994"/>
              </a:spcBef>
              <a:tabLst>
                <a:tab pos="354965" algn="l"/>
              </a:tabLst>
            </a:pPr>
            <a:r>
              <a:rPr sz="1600" spc="270" dirty="0">
                <a:solidFill>
                  <a:srgbClr val="4F81BC"/>
                </a:solidFill>
                <a:latin typeface="Arial"/>
                <a:cs typeface="Arial"/>
              </a:rPr>
              <a:t>	</a:t>
            </a:r>
            <a:r>
              <a:rPr sz="2000" spc="-5" dirty="0">
                <a:latin typeface="Carlito"/>
                <a:cs typeface="Carlito"/>
              </a:rPr>
              <a:t>Overhead </a:t>
            </a:r>
            <a:r>
              <a:rPr sz="2000" dirty="0">
                <a:latin typeface="Carlito"/>
                <a:cs typeface="Carlito"/>
              </a:rPr>
              <a:t>of </a:t>
            </a:r>
            <a:r>
              <a:rPr sz="2000" spc="-5" dirty="0">
                <a:latin typeface="Carlito"/>
                <a:cs typeface="Carlito"/>
              </a:rPr>
              <a:t>ACID</a:t>
            </a:r>
            <a:r>
              <a:rPr sz="2000" spc="-50" dirty="0">
                <a:latin typeface="Carlito"/>
                <a:cs typeface="Carlito"/>
              </a:rPr>
              <a:t> </a:t>
            </a:r>
            <a:r>
              <a:rPr sz="2000" spc="-5" dirty="0">
                <a:latin typeface="Carlito"/>
                <a:cs typeface="Carlito"/>
              </a:rPr>
              <a:t>transactions</a:t>
            </a:r>
            <a:endParaRPr sz="2000">
              <a:latin typeface="Carlito"/>
              <a:cs typeface="Carlito"/>
            </a:endParaRPr>
          </a:p>
          <a:p>
            <a:pPr marL="12700">
              <a:lnSpc>
                <a:spcPct val="100000"/>
              </a:lnSpc>
              <a:spcBef>
                <a:spcPts val="1010"/>
              </a:spcBef>
              <a:tabLst>
                <a:tab pos="354965" algn="l"/>
              </a:tabLst>
            </a:pPr>
            <a:r>
              <a:rPr sz="1600" spc="270" dirty="0">
                <a:solidFill>
                  <a:srgbClr val="4F81BC"/>
                </a:solidFill>
                <a:latin typeface="Arial"/>
                <a:cs typeface="Arial"/>
              </a:rPr>
              <a:t>	</a:t>
            </a:r>
            <a:r>
              <a:rPr sz="2000" spc="-10" dirty="0">
                <a:latin typeface="Carlito"/>
                <a:cs typeface="Carlito"/>
              </a:rPr>
              <a:t>Complexity </a:t>
            </a:r>
            <a:r>
              <a:rPr sz="2000" spc="-5" dirty="0">
                <a:latin typeface="Carlito"/>
                <a:cs typeface="Carlito"/>
              </a:rPr>
              <a:t>of SQL </a:t>
            </a:r>
            <a:r>
              <a:rPr sz="2000" dirty="0">
                <a:latin typeface="Carlito"/>
                <a:cs typeface="Carlito"/>
              </a:rPr>
              <a:t>query</a:t>
            </a:r>
            <a:endParaRPr sz="2000">
              <a:latin typeface="Carlito"/>
              <a:cs typeface="Carlito"/>
            </a:endParaRPr>
          </a:p>
          <a:p>
            <a:pPr marL="12700">
              <a:lnSpc>
                <a:spcPct val="100000"/>
              </a:lnSpc>
              <a:spcBef>
                <a:spcPts val="1000"/>
              </a:spcBef>
              <a:tabLst>
                <a:tab pos="354965" algn="l"/>
              </a:tabLst>
            </a:pPr>
            <a:r>
              <a:rPr sz="1600" spc="270" dirty="0">
                <a:solidFill>
                  <a:srgbClr val="4F81BC"/>
                </a:solidFill>
                <a:latin typeface="Arial"/>
                <a:cs typeface="Arial"/>
              </a:rPr>
              <a:t>	</a:t>
            </a:r>
            <a:r>
              <a:rPr sz="2000" spc="-5" dirty="0">
                <a:latin typeface="Carlito"/>
                <a:cs typeface="Carlito"/>
              </a:rPr>
              <a:t>Burden of </a:t>
            </a:r>
            <a:r>
              <a:rPr sz="2000" spc="-10" dirty="0">
                <a:latin typeface="Carlito"/>
                <a:cs typeface="Carlito"/>
              </a:rPr>
              <a:t>up-front </a:t>
            </a:r>
            <a:r>
              <a:rPr sz="2000" spc="-5" dirty="0">
                <a:latin typeface="Carlito"/>
                <a:cs typeface="Carlito"/>
              </a:rPr>
              <a:t>schema</a:t>
            </a:r>
            <a:r>
              <a:rPr sz="2000" spc="-30" dirty="0">
                <a:latin typeface="Carlito"/>
                <a:cs typeface="Carlito"/>
              </a:rPr>
              <a:t> </a:t>
            </a:r>
            <a:r>
              <a:rPr sz="2000" spc="-5" dirty="0">
                <a:latin typeface="Carlito"/>
                <a:cs typeface="Carlito"/>
              </a:rPr>
              <a:t>design</a:t>
            </a:r>
            <a:endParaRPr sz="2000">
              <a:latin typeface="Carlito"/>
              <a:cs typeface="Carlito"/>
            </a:endParaRPr>
          </a:p>
          <a:p>
            <a:pPr marL="12700">
              <a:lnSpc>
                <a:spcPct val="100000"/>
              </a:lnSpc>
              <a:spcBef>
                <a:spcPts val="994"/>
              </a:spcBef>
              <a:tabLst>
                <a:tab pos="354965" algn="l"/>
              </a:tabLst>
            </a:pPr>
            <a:r>
              <a:rPr sz="1600" spc="270" dirty="0">
                <a:solidFill>
                  <a:srgbClr val="4F81BC"/>
                </a:solidFill>
                <a:latin typeface="Arial"/>
                <a:cs typeface="Arial"/>
              </a:rPr>
              <a:t>	</a:t>
            </a:r>
            <a:r>
              <a:rPr sz="2000" spc="-10" dirty="0">
                <a:latin typeface="Carlito"/>
                <a:cs typeface="Carlito"/>
              </a:rPr>
              <a:t>DBA</a:t>
            </a:r>
            <a:r>
              <a:rPr sz="2000" spc="-25" dirty="0">
                <a:latin typeface="Carlito"/>
                <a:cs typeface="Carlito"/>
              </a:rPr>
              <a:t> </a:t>
            </a:r>
            <a:r>
              <a:rPr sz="2000" spc="-5" dirty="0">
                <a:latin typeface="Carlito"/>
                <a:cs typeface="Carlito"/>
              </a:rPr>
              <a:t>presence</a:t>
            </a:r>
            <a:endParaRPr sz="2000">
              <a:latin typeface="Carlito"/>
              <a:cs typeface="Carlito"/>
            </a:endParaRPr>
          </a:p>
          <a:p>
            <a:pPr marL="12700">
              <a:lnSpc>
                <a:spcPct val="100000"/>
              </a:lnSpc>
              <a:spcBef>
                <a:spcPts val="1005"/>
              </a:spcBef>
              <a:tabLst>
                <a:tab pos="354965" algn="l"/>
              </a:tabLst>
            </a:pPr>
            <a:r>
              <a:rPr sz="1600" spc="270" dirty="0">
                <a:solidFill>
                  <a:srgbClr val="4F81BC"/>
                </a:solidFill>
                <a:latin typeface="Arial"/>
                <a:cs typeface="Arial"/>
              </a:rPr>
              <a:t>	</a:t>
            </a:r>
            <a:r>
              <a:rPr sz="2000" spc="-15" dirty="0">
                <a:latin typeface="Carlito"/>
                <a:cs typeface="Carlito"/>
              </a:rPr>
              <a:t>Transactions </a:t>
            </a:r>
            <a:r>
              <a:rPr sz="2000" spc="-5" dirty="0">
                <a:latin typeface="Carlito"/>
                <a:cs typeface="Carlito"/>
              </a:rPr>
              <a:t>(It should </a:t>
            </a:r>
            <a:r>
              <a:rPr sz="2000" dirty="0">
                <a:latin typeface="Carlito"/>
                <a:cs typeface="Carlito"/>
              </a:rPr>
              <a:t>be </a:t>
            </a:r>
            <a:r>
              <a:rPr sz="2000" spc="-5" dirty="0">
                <a:latin typeface="Carlito"/>
                <a:cs typeface="Carlito"/>
              </a:rPr>
              <a:t>handled</a:t>
            </a:r>
            <a:r>
              <a:rPr sz="2000" spc="-40" dirty="0">
                <a:latin typeface="Carlito"/>
                <a:cs typeface="Carlito"/>
              </a:rPr>
              <a:t> </a:t>
            </a:r>
            <a:r>
              <a:rPr sz="2000" spc="-10" dirty="0">
                <a:latin typeface="Carlito"/>
                <a:cs typeface="Carlito"/>
              </a:rPr>
              <a:t>at</a:t>
            </a:r>
            <a:endParaRPr sz="2000">
              <a:latin typeface="Carlito"/>
              <a:cs typeface="Carlito"/>
            </a:endParaRPr>
          </a:p>
          <a:p>
            <a:pPr marL="355600">
              <a:lnSpc>
                <a:spcPct val="100000"/>
              </a:lnSpc>
              <a:spcBef>
                <a:spcPts val="5"/>
              </a:spcBef>
            </a:pPr>
            <a:r>
              <a:rPr sz="2000" spc="-5" dirty="0">
                <a:latin typeface="Carlito"/>
                <a:cs typeface="Carlito"/>
              </a:rPr>
              <a:t>application </a:t>
            </a:r>
            <a:r>
              <a:rPr sz="2000" spc="-10" dirty="0">
                <a:latin typeface="Carlito"/>
                <a:cs typeface="Carlito"/>
              </a:rPr>
              <a:t>layer)</a:t>
            </a:r>
            <a:endParaRPr sz="2000">
              <a:latin typeface="Carlito"/>
              <a:cs typeface="Carlito"/>
            </a:endParaRPr>
          </a:p>
          <a:p>
            <a:pPr marL="12700">
              <a:lnSpc>
                <a:spcPct val="100000"/>
              </a:lnSpc>
              <a:spcBef>
                <a:spcPts val="994"/>
              </a:spcBef>
            </a:pPr>
            <a:r>
              <a:rPr sz="2000" spc="-10" dirty="0">
                <a:latin typeface="Carlito"/>
                <a:cs typeface="Carlito"/>
              </a:rPr>
              <a:t>Provides:</a:t>
            </a:r>
            <a:endParaRPr sz="2000">
              <a:latin typeface="Carlito"/>
              <a:cs typeface="Carlito"/>
            </a:endParaRPr>
          </a:p>
          <a:p>
            <a:pPr marL="12700">
              <a:lnSpc>
                <a:spcPct val="100000"/>
              </a:lnSpc>
              <a:spcBef>
                <a:spcPts val="994"/>
              </a:spcBef>
              <a:tabLst>
                <a:tab pos="354965" algn="l"/>
              </a:tabLst>
            </a:pPr>
            <a:r>
              <a:rPr sz="1600" spc="270" dirty="0">
                <a:solidFill>
                  <a:srgbClr val="4F81BC"/>
                </a:solidFill>
                <a:latin typeface="Arial"/>
                <a:cs typeface="Arial"/>
              </a:rPr>
              <a:t>	</a:t>
            </a:r>
            <a:r>
              <a:rPr sz="2000" spc="-20" dirty="0">
                <a:latin typeface="Carlito"/>
                <a:cs typeface="Carlito"/>
              </a:rPr>
              <a:t>Easy </a:t>
            </a:r>
            <a:r>
              <a:rPr sz="2000" dirty="0">
                <a:latin typeface="Carlito"/>
                <a:cs typeface="Carlito"/>
              </a:rPr>
              <a:t>and </a:t>
            </a:r>
            <a:r>
              <a:rPr sz="2000" spc="-10" dirty="0">
                <a:latin typeface="Carlito"/>
                <a:cs typeface="Carlito"/>
              </a:rPr>
              <a:t>frequent </a:t>
            </a:r>
            <a:r>
              <a:rPr sz="2000" dirty="0">
                <a:latin typeface="Carlito"/>
                <a:cs typeface="Carlito"/>
              </a:rPr>
              <a:t>changes </a:t>
            </a:r>
            <a:r>
              <a:rPr sz="2000" spc="-15" dirty="0">
                <a:latin typeface="Carlito"/>
                <a:cs typeface="Carlito"/>
              </a:rPr>
              <a:t>to</a:t>
            </a:r>
            <a:r>
              <a:rPr sz="2000" spc="-25" dirty="0">
                <a:latin typeface="Carlito"/>
                <a:cs typeface="Carlito"/>
              </a:rPr>
              <a:t> </a:t>
            </a:r>
            <a:r>
              <a:rPr sz="2000" dirty="0">
                <a:latin typeface="Carlito"/>
                <a:cs typeface="Carlito"/>
              </a:rPr>
              <a:t>DB</a:t>
            </a:r>
            <a:endParaRPr sz="2000">
              <a:latin typeface="Carlito"/>
              <a:cs typeface="Carlito"/>
            </a:endParaRPr>
          </a:p>
          <a:p>
            <a:pPr marL="12700">
              <a:lnSpc>
                <a:spcPct val="100000"/>
              </a:lnSpc>
              <a:spcBef>
                <a:spcPts val="1010"/>
              </a:spcBef>
              <a:tabLst>
                <a:tab pos="354965" algn="l"/>
              </a:tabLst>
            </a:pPr>
            <a:r>
              <a:rPr sz="1600" spc="270" dirty="0">
                <a:solidFill>
                  <a:srgbClr val="4F81BC"/>
                </a:solidFill>
                <a:latin typeface="Arial"/>
                <a:cs typeface="Arial"/>
              </a:rPr>
              <a:t>	</a:t>
            </a:r>
            <a:r>
              <a:rPr sz="2000" spc="-20" dirty="0">
                <a:latin typeface="Carlito"/>
                <a:cs typeface="Carlito"/>
              </a:rPr>
              <a:t>Fast</a:t>
            </a:r>
            <a:r>
              <a:rPr sz="2000" spc="-5" dirty="0">
                <a:latin typeface="Carlito"/>
                <a:cs typeface="Carlito"/>
              </a:rPr>
              <a:t> </a:t>
            </a:r>
            <a:r>
              <a:rPr sz="2000" spc="-10" dirty="0">
                <a:latin typeface="Carlito"/>
                <a:cs typeface="Carlito"/>
              </a:rPr>
              <a:t>development</a:t>
            </a:r>
            <a:endParaRPr sz="2000">
              <a:latin typeface="Carlito"/>
              <a:cs typeface="Carlito"/>
            </a:endParaRPr>
          </a:p>
          <a:p>
            <a:pPr marL="12700">
              <a:lnSpc>
                <a:spcPct val="100000"/>
              </a:lnSpc>
              <a:spcBef>
                <a:spcPts val="1000"/>
              </a:spcBef>
              <a:tabLst>
                <a:tab pos="354965" algn="l"/>
              </a:tabLst>
            </a:pPr>
            <a:r>
              <a:rPr sz="1600" spc="270" dirty="0">
                <a:solidFill>
                  <a:srgbClr val="4F81BC"/>
                </a:solidFill>
                <a:latin typeface="Arial"/>
                <a:cs typeface="Arial"/>
              </a:rPr>
              <a:t>	</a:t>
            </a:r>
            <a:r>
              <a:rPr sz="2000" spc="-10" dirty="0">
                <a:latin typeface="Carlito"/>
                <a:cs typeface="Carlito"/>
              </a:rPr>
              <a:t>Large </a:t>
            </a:r>
            <a:r>
              <a:rPr sz="2000" spc="-15" dirty="0">
                <a:latin typeface="Carlito"/>
                <a:cs typeface="Carlito"/>
              </a:rPr>
              <a:t>data </a:t>
            </a:r>
            <a:r>
              <a:rPr sz="2000" spc="-5" dirty="0">
                <a:latin typeface="Carlito"/>
                <a:cs typeface="Carlito"/>
              </a:rPr>
              <a:t>volumes(eg.Google)</a:t>
            </a:r>
            <a:endParaRPr sz="2000">
              <a:latin typeface="Carlito"/>
              <a:cs typeface="Carlito"/>
            </a:endParaRPr>
          </a:p>
          <a:p>
            <a:pPr marL="12700">
              <a:lnSpc>
                <a:spcPct val="100000"/>
              </a:lnSpc>
              <a:spcBef>
                <a:spcPts val="994"/>
              </a:spcBef>
              <a:tabLst>
                <a:tab pos="354965" algn="l"/>
              </a:tabLst>
            </a:pPr>
            <a:r>
              <a:rPr sz="1600" spc="270" dirty="0">
                <a:solidFill>
                  <a:srgbClr val="4F81BC"/>
                </a:solidFill>
                <a:latin typeface="Arial"/>
                <a:cs typeface="Arial"/>
              </a:rPr>
              <a:t>	</a:t>
            </a:r>
            <a:r>
              <a:rPr sz="2000" spc="-5" dirty="0">
                <a:latin typeface="Carlito"/>
                <a:cs typeface="Carlito"/>
              </a:rPr>
              <a:t>Schema</a:t>
            </a:r>
            <a:r>
              <a:rPr sz="2000" spc="-10" dirty="0">
                <a:latin typeface="Carlito"/>
                <a:cs typeface="Carlito"/>
              </a:rPr>
              <a:t> </a:t>
            </a:r>
            <a:r>
              <a:rPr sz="2000" spc="-5" dirty="0">
                <a:latin typeface="Carlito"/>
                <a:cs typeface="Carlito"/>
              </a:rPr>
              <a:t>less</a:t>
            </a:r>
            <a:endParaRPr sz="2000">
              <a:latin typeface="Carlito"/>
              <a:cs typeface="Carlito"/>
            </a:endParaRPr>
          </a:p>
        </p:txBody>
      </p:sp>
      <p:sp>
        <p:nvSpPr>
          <p:cNvPr id="3" name="object 3"/>
          <p:cNvSpPr/>
          <p:nvPr/>
        </p:nvSpPr>
        <p:spPr>
          <a:xfrm>
            <a:off x="4570476" y="2436876"/>
            <a:ext cx="4261866" cy="3281934"/>
          </a:xfrm>
          <a:prstGeom prst="rect">
            <a:avLst/>
          </a:prstGeom>
          <a:blipFill>
            <a:blip r:embed="rId2" cstate="print"/>
            <a:stretch>
              <a:fillRect/>
            </a:stretch>
          </a:blipFill>
        </p:spPr>
        <p:txBody>
          <a:bodyPr wrap="square" lIns="0" tIns="0" rIns="0" bIns="0" rtlCol="0"/>
          <a:lstStyle/>
          <a:p>
            <a:endParaRPr/>
          </a:p>
        </p:txBody>
      </p:sp>
      <p:grpSp>
        <p:nvGrpSpPr>
          <p:cNvPr id="4" name="object 4"/>
          <p:cNvGrpSpPr/>
          <p:nvPr/>
        </p:nvGrpSpPr>
        <p:grpSpPr>
          <a:xfrm>
            <a:off x="140144" y="140144"/>
            <a:ext cx="8255634" cy="788035"/>
            <a:chOff x="140144" y="140144"/>
            <a:chExt cx="8255634" cy="788035"/>
          </a:xfrm>
        </p:grpSpPr>
        <p:sp>
          <p:nvSpPr>
            <p:cNvPr id="5" name="object 5"/>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6" name="object 6"/>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7" name="object 7"/>
          <p:cNvSpPr txBox="1">
            <a:spLocks noGrp="1"/>
          </p:cNvSpPr>
          <p:nvPr>
            <p:ph type="title"/>
          </p:nvPr>
        </p:nvSpPr>
        <p:spPr>
          <a:xfrm>
            <a:off x="268325" y="217119"/>
            <a:ext cx="6537959" cy="574675"/>
          </a:xfrm>
          <a:prstGeom prst="rect">
            <a:avLst/>
          </a:prstGeom>
        </p:spPr>
        <p:txBody>
          <a:bodyPr vert="horz" wrap="square" lIns="0" tIns="12700" rIns="0" bIns="0" rtlCol="0">
            <a:spAutoFit/>
          </a:bodyPr>
          <a:lstStyle/>
          <a:p>
            <a:pPr marL="12700">
              <a:lnSpc>
                <a:spcPct val="100000"/>
              </a:lnSpc>
              <a:spcBef>
                <a:spcPts val="100"/>
              </a:spcBef>
            </a:pPr>
            <a:r>
              <a:rPr spc="-10" dirty="0"/>
              <a:t>Characteristics </a:t>
            </a:r>
            <a:r>
              <a:rPr spc="-5" dirty="0"/>
              <a:t>of </a:t>
            </a:r>
            <a:r>
              <a:rPr dirty="0"/>
              <a:t>NoSQL</a:t>
            </a:r>
            <a:r>
              <a:rPr spc="-114" dirty="0"/>
              <a:t> </a:t>
            </a:r>
            <a:r>
              <a:rPr spc="-10" dirty="0"/>
              <a:t>databases</a:t>
            </a:r>
          </a:p>
        </p:txBody>
      </p:sp>
      <p:grpSp>
        <p:nvGrpSpPr>
          <p:cNvPr id="8" name="object 8"/>
          <p:cNvGrpSpPr/>
          <p:nvPr/>
        </p:nvGrpSpPr>
        <p:grpSpPr>
          <a:xfrm>
            <a:off x="8420100" y="0"/>
            <a:ext cx="723900" cy="1057910"/>
            <a:chOff x="8420100" y="0"/>
            <a:chExt cx="723900" cy="1057910"/>
          </a:xfrm>
        </p:grpSpPr>
        <p:sp>
          <p:nvSpPr>
            <p:cNvPr id="9" name="object 9"/>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8420100" y="161544"/>
              <a:ext cx="723900" cy="827531"/>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2" name="object 12"/>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14</a:t>
            </a:r>
            <a:endParaRPr sz="2800">
              <a:latin typeface="Carlito"/>
              <a:cs typeface="Carli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p:nvPr/>
        </p:nvSpPr>
        <p:spPr>
          <a:xfrm>
            <a:off x="717047" y="1143000"/>
            <a:ext cx="7091533" cy="4942605"/>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140144" y="140144"/>
            <a:ext cx="8255634" cy="788035"/>
            <a:chOff x="140144" y="140144"/>
            <a:chExt cx="8255634" cy="788035"/>
          </a:xfrm>
        </p:grpSpPr>
        <p:sp>
          <p:nvSpPr>
            <p:cNvPr id="4" name="object 4"/>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5" name="object 5"/>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6" name="object 6"/>
          <p:cNvSpPr txBox="1">
            <a:spLocks noGrp="1"/>
          </p:cNvSpPr>
          <p:nvPr>
            <p:ph type="title"/>
          </p:nvPr>
        </p:nvSpPr>
        <p:spPr>
          <a:xfrm>
            <a:off x="1262888" y="184149"/>
            <a:ext cx="6009640" cy="635000"/>
          </a:xfrm>
          <a:prstGeom prst="rect">
            <a:avLst/>
          </a:prstGeom>
        </p:spPr>
        <p:txBody>
          <a:bodyPr vert="horz" wrap="square" lIns="0" tIns="12065" rIns="0" bIns="0" rtlCol="0">
            <a:spAutoFit/>
          </a:bodyPr>
          <a:lstStyle/>
          <a:p>
            <a:pPr marL="12700">
              <a:lnSpc>
                <a:spcPct val="100000"/>
              </a:lnSpc>
              <a:spcBef>
                <a:spcPts val="95"/>
              </a:spcBef>
            </a:pPr>
            <a:r>
              <a:rPr sz="4000" spc="-5" dirty="0"/>
              <a:t>NoSQL </a:t>
            </a:r>
            <a:r>
              <a:rPr sz="4000" spc="-95" dirty="0"/>
              <a:t>why, </a:t>
            </a:r>
            <a:r>
              <a:rPr sz="4000" spc="-10" dirty="0"/>
              <a:t>what </a:t>
            </a:r>
            <a:r>
              <a:rPr sz="4000" spc="-5" dirty="0"/>
              <a:t>and</a:t>
            </a:r>
            <a:r>
              <a:rPr sz="4000" spc="50" dirty="0"/>
              <a:t> </a:t>
            </a:r>
            <a:r>
              <a:rPr sz="4000" spc="-5" dirty="0"/>
              <a:t>when?</a:t>
            </a:r>
            <a:endParaRPr sz="4000"/>
          </a:p>
        </p:txBody>
      </p:sp>
      <p:grpSp>
        <p:nvGrpSpPr>
          <p:cNvPr id="7" name="object 7"/>
          <p:cNvGrpSpPr/>
          <p:nvPr/>
        </p:nvGrpSpPr>
        <p:grpSpPr>
          <a:xfrm>
            <a:off x="8420100" y="0"/>
            <a:ext cx="723900" cy="1057910"/>
            <a:chOff x="8420100" y="0"/>
            <a:chExt cx="723900" cy="1057910"/>
          </a:xfrm>
        </p:grpSpPr>
        <p:sp>
          <p:nvSpPr>
            <p:cNvPr id="8" name="object 8"/>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8420100" y="161544"/>
              <a:ext cx="723900" cy="827531"/>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1" name="object 11"/>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10</a:t>
            </a:r>
            <a:endParaRPr sz="2800">
              <a:latin typeface="Carlito"/>
              <a:cs typeface="Carli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905000" y="1498091"/>
            <a:ext cx="2133600" cy="728472"/>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279647" y="2581655"/>
            <a:ext cx="2529840" cy="609600"/>
          </a:xfrm>
          <a:prstGeom prst="rect">
            <a:avLst/>
          </a:prstGeom>
          <a:blipFill>
            <a:blip r:embed="rId3" cstate="print"/>
            <a:stretch>
              <a:fillRect/>
            </a:stretch>
          </a:blipFill>
        </p:spPr>
        <p:txBody>
          <a:bodyPr wrap="square" lIns="0" tIns="0" rIns="0" bIns="0" rtlCol="0"/>
          <a:lstStyle/>
          <a:p>
            <a:endParaRPr/>
          </a:p>
        </p:txBody>
      </p:sp>
      <p:sp>
        <p:nvSpPr>
          <p:cNvPr id="4" name="object 4"/>
          <p:cNvSpPr/>
          <p:nvPr/>
        </p:nvSpPr>
        <p:spPr>
          <a:xfrm>
            <a:off x="4718337" y="5955813"/>
            <a:ext cx="2196658" cy="588617"/>
          </a:xfrm>
          <a:prstGeom prst="rect">
            <a:avLst/>
          </a:prstGeom>
          <a:blipFill>
            <a:blip r:embed="rId4" cstate="print"/>
            <a:stretch>
              <a:fillRect/>
            </a:stretch>
          </a:blipFill>
        </p:spPr>
        <p:txBody>
          <a:bodyPr wrap="square" lIns="0" tIns="0" rIns="0" bIns="0" rtlCol="0"/>
          <a:lstStyle/>
          <a:p>
            <a:endParaRPr/>
          </a:p>
        </p:txBody>
      </p:sp>
      <p:sp>
        <p:nvSpPr>
          <p:cNvPr id="5" name="object 5"/>
          <p:cNvSpPr/>
          <p:nvPr/>
        </p:nvSpPr>
        <p:spPr>
          <a:xfrm>
            <a:off x="6992408" y="3742204"/>
            <a:ext cx="1856716" cy="566031"/>
          </a:xfrm>
          <a:prstGeom prst="rect">
            <a:avLst/>
          </a:prstGeom>
          <a:blipFill>
            <a:blip r:embed="rId5" cstate="print"/>
            <a:stretch>
              <a:fillRect/>
            </a:stretch>
          </a:blipFill>
        </p:spPr>
        <p:txBody>
          <a:bodyPr wrap="square" lIns="0" tIns="0" rIns="0" bIns="0" rtlCol="0"/>
          <a:lstStyle/>
          <a:p>
            <a:endParaRPr/>
          </a:p>
        </p:txBody>
      </p:sp>
      <p:sp>
        <p:nvSpPr>
          <p:cNvPr id="6" name="object 6"/>
          <p:cNvSpPr/>
          <p:nvPr/>
        </p:nvSpPr>
        <p:spPr>
          <a:xfrm>
            <a:off x="4285488" y="3538728"/>
            <a:ext cx="1524000" cy="1524000"/>
          </a:xfrm>
          <a:prstGeom prst="rect">
            <a:avLst/>
          </a:prstGeom>
          <a:blipFill>
            <a:blip r:embed="rId6" cstate="print"/>
            <a:stretch>
              <a:fillRect/>
            </a:stretch>
          </a:blipFill>
        </p:spPr>
        <p:txBody>
          <a:bodyPr wrap="square" lIns="0" tIns="0" rIns="0" bIns="0" rtlCol="0"/>
          <a:lstStyle/>
          <a:p>
            <a:endParaRPr/>
          </a:p>
        </p:txBody>
      </p:sp>
      <p:sp>
        <p:nvSpPr>
          <p:cNvPr id="7" name="object 7"/>
          <p:cNvSpPr/>
          <p:nvPr/>
        </p:nvSpPr>
        <p:spPr>
          <a:xfrm>
            <a:off x="274320" y="2770632"/>
            <a:ext cx="2011680" cy="1130808"/>
          </a:xfrm>
          <a:prstGeom prst="rect">
            <a:avLst/>
          </a:prstGeom>
          <a:blipFill>
            <a:blip r:embed="rId7" cstate="print"/>
            <a:stretch>
              <a:fillRect/>
            </a:stretch>
          </a:blipFill>
        </p:spPr>
        <p:txBody>
          <a:bodyPr wrap="square" lIns="0" tIns="0" rIns="0" bIns="0" rtlCol="0"/>
          <a:lstStyle/>
          <a:p>
            <a:endParaRPr/>
          </a:p>
        </p:txBody>
      </p:sp>
      <p:sp>
        <p:nvSpPr>
          <p:cNvPr id="8" name="object 8"/>
          <p:cNvSpPr/>
          <p:nvPr/>
        </p:nvSpPr>
        <p:spPr>
          <a:xfrm>
            <a:off x="254508" y="4663440"/>
            <a:ext cx="3643884" cy="641604"/>
          </a:xfrm>
          <a:prstGeom prst="rect">
            <a:avLst/>
          </a:prstGeom>
          <a:blipFill>
            <a:blip r:embed="rId8" cstate="print"/>
            <a:stretch>
              <a:fillRect/>
            </a:stretch>
          </a:blipFill>
        </p:spPr>
        <p:txBody>
          <a:bodyPr wrap="square" lIns="0" tIns="0" rIns="0" bIns="0" rtlCol="0"/>
          <a:lstStyle/>
          <a:p>
            <a:endParaRPr/>
          </a:p>
        </p:txBody>
      </p:sp>
      <p:sp>
        <p:nvSpPr>
          <p:cNvPr id="9" name="object 9"/>
          <p:cNvSpPr/>
          <p:nvPr/>
        </p:nvSpPr>
        <p:spPr>
          <a:xfrm>
            <a:off x="6405371" y="1331975"/>
            <a:ext cx="1437131" cy="1438656"/>
          </a:xfrm>
          <a:prstGeom prst="rect">
            <a:avLst/>
          </a:prstGeom>
          <a:blipFill>
            <a:blip r:embed="rId9" cstate="print"/>
            <a:stretch>
              <a:fillRect/>
            </a:stretch>
          </a:blipFill>
        </p:spPr>
        <p:txBody>
          <a:bodyPr wrap="square" lIns="0" tIns="0" rIns="0" bIns="0" rtlCol="0"/>
          <a:lstStyle/>
          <a:p>
            <a:endParaRPr/>
          </a:p>
        </p:txBody>
      </p:sp>
      <p:sp>
        <p:nvSpPr>
          <p:cNvPr id="10" name="object 10"/>
          <p:cNvSpPr/>
          <p:nvPr/>
        </p:nvSpPr>
        <p:spPr>
          <a:xfrm>
            <a:off x="6705600" y="4648200"/>
            <a:ext cx="1277111" cy="1277112"/>
          </a:xfrm>
          <a:prstGeom prst="rect">
            <a:avLst/>
          </a:prstGeom>
          <a:blipFill>
            <a:blip r:embed="rId10" cstate="print"/>
            <a:stretch>
              <a:fillRect/>
            </a:stretch>
          </a:blipFill>
        </p:spPr>
        <p:txBody>
          <a:bodyPr wrap="square" lIns="0" tIns="0" rIns="0" bIns="0" rtlCol="0"/>
          <a:lstStyle/>
          <a:p>
            <a:endParaRPr/>
          </a:p>
        </p:txBody>
      </p:sp>
      <p:grpSp>
        <p:nvGrpSpPr>
          <p:cNvPr id="11" name="object 11"/>
          <p:cNvGrpSpPr/>
          <p:nvPr/>
        </p:nvGrpSpPr>
        <p:grpSpPr>
          <a:xfrm>
            <a:off x="140144" y="140144"/>
            <a:ext cx="8255634" cy="788035"/>
            <a:chOff x="140144" y="140144"/>
            <a:chExt cx="8255634" cy="788035"/>
          </a:xfrm>
        </p:grpSpPr>
        <p:sp>
          <p:nvSpPr>
            <p:cNvPr id="12" name="object 12"/>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13" name="object 13"/>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14" name="object 14"/>
          <p:cNvSpPr txBox="1">
            <a:spLocks noGrp="1"/>
          </p:cNvSpPr>
          <p:nvPr>
            <p:ph type="title"/>
          </p:nvPr>
        </p:nvSpPr>
        <p:spPr>
          <a:xfrm>
            <a:off x="268325" y="217119"/>
            <a:ext cx="7204075" cy="574675"/>
          </a:xfrm>
          <a:prstGeom prst="rect">
            <a:avLst/>
          </a:prstGeom>
        </p:spPr>
        <p:txBody>
          <a:bodyPr vert="horz" wrap="square" lIns="0" tIns="12700" rIns="0" bIns="0" rtlCol="0">
            <a:spAutoFit/>
          </a:bodyPr>
          <a:lstStyle/>
          <a:p>
            <a:pPr marL="12700">
              <a:lnSpc>
                <a:spcPct val="100000"/>
              </a:lnSpc>
              <a:spcBef>
                <a:spcPts val="100"/>
              </a:spcBef>
            </a:pPr>
            <a:r>
              <a:rPr dirty="0"/>
              <a:t>NoSQL is </a:t>
            </a:r>
            <a:r>
              <a:rPr spc="-15" dirty="0"/>
              <a:t>getting more </a:t>
            </a:r>
            <a:r>
              <a:rPr dirty="0"/>
              <a:t>&amp; </a:t>
            </a:r>
            <a:r>
              <a:rPr spc="-15" dirty="0"/>
              <a:t>more</a:t>
            </a:r>
            <a:r>
              <a:rPr spc="-75" dirty="0"/>
              <a:t> </a:t>
            </a:r>
            <a:r>
              <a:rPr spc="-5" dirty="0"/>
              <a:t>popular</a:t>
            </a:r>
          </a:p>
        </p:txBody>
      </p:sp>
      <p:grpSp>
        <p:nvGrpSpPr>
          <p:cNvPr id="15" name="object 15"/>
          <p:cNvGrpSpPr/>
          <p:nvPr/>
        </p:nvGrpSpPr>
        <p:grpSpPr>
          <a:xfrm>
            <a:off x="8420100" y="0"/>
            <a:ext cx="723900" cy="1057910"/>
            <a:chOff x="8420100" y="0"/>
            <a:chExt cx="723900" cy="1057910"/>
          </a:xfrm>
        </p:grpSpPr>
        <p:sp>
          <p:nvSpPr>
            <p:cNvPr id="16" name="object 16"/>
            <p:cNvSpPr/>
            <p:nvPr/>
          </p:nvSpPr>
          <p:spPr>
            <a:xfrm>
              <a:off x="8531219" y="0"/>
              <a:ext cx="612780" cy="1057759"/>
            </a:xfrm>
            <a:prstGeom prst="rect">
              <a:avLst/>
            </a:prstGeom>
            <a:blipFill>
              <a:blip r:embed="rId11" cstate="print"/>
              <a:stretch>
                <a:fillRect/>
              </a:stretch>
            </a:blipFill>
          </p:spPr>
          <p:txBody>
            <a:bodyPr wrap="square" lIns="0" tIns="0" rIns="0" bIns="0" rtlCol="0"/>
            <a:lstStyle/>
            <a:p>
              <a:endParaRPr/>
            </a:p>
          </p:txBody>
        </p:sp>
        <p:sp>
          <p:nvSpPr>
            <p:cNvPr id="17" name="object 17"/>
            <p:cNvSpPr/>
            <p:nvPr/>
          </p:nvSpPr>
          <p:spPr>
            <a:xfrm>
              <a:off x="8420100" y="161544"/>
              <a:ext cx="723900" cy="827531"/>
            </a:xfrm>
            <a:prstGeom prst="rect">
              <a:avLst/>
            </a:prstGeom>
            <a:blipFill>
              <a:blip r:embed="rId12" cstate="print"/>
              <a:stretch>
                <a:fillRect/>
              </a:stretch>
            </a:blipFill>
          </p:spPr>
          <p:txBody>
            <a:bodyPr wrap="square" lIns="0" tIns="0" rIns="0" bIns="0" rtlCol="0"/>
            <a:lstStyle/>
            <a:p>
              <a:endParaRPr/>
            </a:p>
          </p:txBody>
        </p:sp>
        <p:sp>
          <p:nvSpPr>
            <p:cNvPr id="18" name="object 18"/>
            <p:cNvSpPr/>
            <p:nvPr/>
          </p:nvSpPr>
          <p:spPr>
            <a:xfrm>
              <a:off x="8569452" y="0"/>
              <a:ext cx="574548" cy="1001267"/>
            </a:xfrm>
            <a:prstGeom prst="rect">
              <a:avLst/>
            </a:prstGeom>
            <a:blipFill>
              <a:blip r:embed="rId13" cstate="print"/>
              <a:stretch>
                <a:fillRect/>
              </a:stretch>
            </a:blipFill>
          </p:spPr>
          <p:txBody>
            <a:bodyPr wrap="square" lIns="0" tIns="0" rIns="0" bIns="0" rtlCol="0"/>
            <a:lstStyle/>
            <a:p>
              <a:endParaRPr/>
            </a:p>
          </p:txBody>
        </p:sp>
      </p:grpSp>
      <p:sp>
        <p:nvSpPr>
          <p:cNvPr id="19" name="object 19"/>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15</a:t>
            </a:r>
            <a:endParaRPr sz="2800">
              <a:latin typeface="Carlito"/>
              <a:cs typeface="Carli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1083309"/>
            <a:ext cx="3946525" cy="4625340"/>
          </a:xfrm>
          <a:prstGeom prst="rect">
            <a:avLst/>
          </a:prstGeom>
        </p:spPr>
        <p:txBody>
          <a:bodyPr vert="horz" wrap="square" lIns="0" tIns="13335" rIns="0" bIns="0" rtlCol="0">
            <a:spAutoFit/>
          </a:bodyPr>
          <a:lstStyle/>
          <a:p>
            <a:pPr marL="12700">
              <a:lnSpc>
                <a:spcPct val="100000"/>
              </a:lnSpc>
              <a:spcBef>
                <a:spcPts val="105"/>
              </a:spcBef>
            </a:pPr>
            <a:r>
              <a:rPr sz="2000" dirty="0">
                <a:latin typeface="Carlito"/>
                <a:cs typeface="Carlito"/>
              </a:rPr>
              <a:t>In </a:t>
            </a:r>
            <a:r>
              <a:rPr sz="2000" spc="-10" dirty="0">
                <a:latin typeface="Carlito"/>
                <a:cs typeface="Carlito"/>
              </a:rPr>
              <a:t>relational</a:t>
            </a:r>
            <a:r>
              <a:rPr sz="2000" dirty="0">
                <a:latin typeface="Carlito"/>
                <a:cs typeface="Carlito"/>
              </a:rPr>
              <a:t> </a:t>
            </a:r>
            <a:r>
              <a:rPr sz="2000" spc="-5" dirty="0">
                <a:latin typeface="Carlito"/>
                <a:cs typeface="Carlito"/>
              </a:rPr>
              <a:t>Databases:</a:t>
            </a:r>
            <a:endParaRPr sz="2000">
              <a:latin typeface="Carlito"/>
              <a:cs typeface="Carlito"/>
            </a:endParaRPr>
          </a:p>
          <a:p>
            <a:pPr>
              <a:lnSpc>
                <a:spcPct val="100000"/>
              </a:lnSpc>
            </a:pPr>
            <a:endParaRPr sz="2000">
              <a:latin typeface="Carlito"/>
              <a:cs typeface="Carlito"/>
            </a:endParaRPr>
          </a:p>
          <a:p>
            <a:pPr>
              <a:lnSpc>
                <a:spcPct val="100000"/>
              </a:lnSpc>
              <a:spcBef>
                <a:spcPts val="10"/>
              </a:spcBef>
            </a:pPr>
            <a:endParaRPr sz="1600">
              <a:latin typeface="Carlito"/>
              <a:cs typeface="Carlito"/>
            </a:endParaRPr>
          </a:p>
          <a:p>
            <a:pPr marL="355600" marR="61594" indent="-342900">
              <a:lnSpc>
                <a:spcPct val="100000"/>
              </a:lnSpc>
              <a:tabLst>
                <a:tab pos="354965" algn="l"/>
              </a:tabLst>
            </a:pPr>
            <a:r>
              <a:rPr sz="1600" spc="270" dirty="0">
                <a:solidFill>
                  <a:srgbClr val="17375E"/>
                </a:solidFill>
                <a:latin typeface="Arial"/>
                <a:cs typeface="Arial"/>
              </a:rPr>
              <a:t>	</a:t>
            </a:r>
            <a:r>
              <a:rPr sz="2000" spc="-50" dirty="0">
                <a:latin typeface="Carlito"/>
                <a:cs typeface="Carlito"/>
              </a:rPr>
              <a:t>You </a:t>
            </a:r>
            <a:r>
              <a:rPr sz="2000" dirty="0">
                <a:latin typeface="Carlito"/>
                <a:cs typeface="Carlito"/>
              </a:rPr>
              <a:t>can’t add a </a:t>
            </a:r>
            <a:r>
              <a:rPr sz="2000" spc="-10" dirty="0">
                <a:latin typeface="Carlito"/>
                <a:cs typeface="Carlito"/>
              </a:rPr>
              <a:t>record </a:t>
            </a:r>
            <a:r>
              <a:rPr sz="2000" dirty="0">
                <a:latin typeface="Carlito"/>
                <a:cs typeface="Carlito"/>
              </a:rPr>
              <a:t>which </a:t>
            </a:r>
            <a:r>
              <a:rPr sz="2000" spc="-5" dirty="0">
                <a:latin typeface="Carlito"/>
                <a:cs typeface="Carlito"/>
              </a:rPr>
              <a:t>does  </a:t>
            </a:r>
            <a:r>
              <a:rPr sz="2000" dirty="0">
                <a:latin typeface="Carlito"/>
                <a:cs typeface="Carlito"/>
              </a:rPr>
              <a:t>not </a:t>
            </a:r>
            <a:r>
              <a:rPr sz="2000" spc="-5" dirty="0">
                <a:latin typeface="Carlito"/>
                <a:cs typeface="Carlito"/>
              </a:rPr>
              <a:t>fit </a:t>
            </a:r>
            <a:r>
              <a:rPr sz="2000" dirty="0">
                <a:latin typeface="Carlito"/>
                <a:cs typeface="Carlito"/>
              </a:rPr>
              <a:t>the</a:t>
            </a:r>
            <a:r>
              <a:rPr sz="2000" spc="-10" dirty="0">
                <a:latin typeface="Carlito"/>
                <a:cs typeface="Carlito"/>
              </a:rPr>
              <a:t> </a:t>
            </a:r>
            <a:r>
              <a:rPr sz="2000" dirty="0">
                <a:latin typeface="Carlito"/>
                <a:cs typeface="Carlito"/>
              </a:rPr>
              <a:t>schema</a:t>
            </a:r>
            <a:endParaRPr sz="2000">
              <a:latin typeface="Carlito"/>
              <a:cs typeface="Carlito"/>
            </a:endParaRPr>
          </a:p>
          <a:p>
            <a:pPr marL="355600" marR="116839" indent="-342900">
              <a:lnSpc>
                <a:spcPct val="100000"/>
              </a:lnSpc>
              <a:spcBef>
                <a:spcPts val="994"/>
              </a:spcBef>
              <a:tabLst>
                <a:tab pos="354965" algn="l"/>
              </a:tabLst>
            </a:pPr>
            <a:r>
              <a:rPr sz="1600" spc="270" dirty="0">
                <a:solidFill>
                  <a:srgbClr val="17375E"/>
                </a:solidFill>
                <a:latin typeface="Arial"/>
                <a:cs typeface="Arial"/>
              </a:rPr>
              <a:t>	</a:t>
            </a:r>
            <a:r>
              <a:rPr sz="2000" spc="-50" dirty="0">
                <a:latin typeface="Carlito"/>
                <a:cs typeface="Carlito"/>
              </a:rPr>
              <a:t>You </a:t>
            </a:r>
            <a:r>
              <a:rPr sz="2000" dirty="0">
                <a:latin typeface="Carlito"/>
                <a:cs typeface="Carlito"/>
              </a:rPr>
              <a:t>need </a:t>
            </a:r>
            <a:r>
              <a:rPr sz="2000" spc="-10" dirty="0">
                <a:latin typeface="Carlito"/>
                <a:cs typeface="Carlito"/>
              </a:rPr>
              <a:t>to </a:t>
            </a:r>
            <a:r>
              <a:rPr sz="2000" dirty="0">
                <a:latin typeface="Carlito"/>
                <a:cs typeface="Carlito"/>
              </a:rPr>
              <a:t>add NULLs </a:t>
            </a:r>
            <a:r>
              <a:rPr sz="2000" spc="-15" dirty="0">
                <a:latin typeface="Carlito"/>
                <a:cs typeface="Carlito"/>
              </a:rPr>
              <a:t>to </a:t>
            </a:r>
            <a:r>
              <a:rPr sz="2000" dirty="0">
                <a:latin typeface="Carlito"/>
                <a:cs typeface="Carlito"/>
              </a:rPr>
              <a:t>unused  </a:t>
            </a:r>
            <a:r>
              <a:rPr sz="2000" spc="-5" dirty="0">
                <a:latin typeface="Carlito"/>
                <a:cs typeface="Carlito"/>
              </a:rPr>
              <a:t>items </a:t>
            </a:r>
            <a:r>
              <a:rPr sz="2000" dirty="0">
                <a:latin typeface="Carlito"/>
                <a:cs typeface="Carlito"/>
              </a:rPr>
              <a:t>in a</a:t>
            </a:r>
            <a:r>
              <a:rPr sz="2000" spc="10" dirty="0">
                <a:latin typeface="Carlito"/>
                <a:cs typeface="Carlito"/>
              </a:rPr>
              <a:t> </a:t>
            </a:r>
            <a:r>
              <a:rPr sz="2000" spc="-15" dirty="0">
                <a:latin typeface="Carlito"/>
                <a:cs typeface="Carlito"/>
              </a:rPr>
              <a:t>row</a:t>
            </a:r>
            <a:endParaRPr sz="2000">
              <a:latin typeface="Carlito"/>
              <a:cs typeface="Carlito"/>
            </a:endParaRPr>
          </a:p>
          <a:p>
            <a:pPr marL="12700">
              <a:lnSpc>
                <a:spcPct val="100000"/>
              </a:lnSpc>
              <a:spcBef>
                <a:spcPts val="1000"/>
              </a:spcBef>
              <a:tabLst>
                <a:tab pos="354965" algn="l"/>
              </a:tabLst>
            </a:pPr>
            <a:r>
              <a:rPr sz="1600" spc="270" dirty="0">
                <a:solidFill>
                  <a:srgbClr val="17375E"/>
                </a:solidFill>
                <a:latin typeface="Arial"/>
                <a:cs typeface="Arial"/>
              </a:rPr>
              <a:t>	</a:t>
            </a:r>
            <a:r>
              <a:rPr sz="2000" spc="-35" dirty="0">
                <a:latin typeface="Carlito"/>
                <a:cs typeface="Carlito"/>
              </a:rPr>
              <a:t>We </a:t>
            </a:r>
            <a:r>
              <a:rPr sz="2000" dirty="0">
                <a:latin typeface="Carlito"/>
                <a:cs typeface="Carlito"/>
              </a:rPr>
              <a:t>should consider the</a:t>
            </a:r>
            <a:r>
              <a:rPr sz="2000" spc="-60" dirty="0">
                <a:latin typeface="Carlito"/>
                <a:cs typeface="Carlito"/>
              </a:rPr>
              <a:t> </a:t>
            </a:r>
            <a:r>
              <a:rPr sz="2000" spc="-5" dirty="0">
                <a:latin typeface="Carlito"/>
                <a:cs typeface="Carlito"/>
              </a:rPr>
              <a:t>datatypes.</a:t>
            </a:r>
            <a:endParaRPr sz="2000">
              <a:latin typeface="Carlito"/>
              <a:cs typeface="Carlito"/>
            </a:endParaRPr>
          </a:p>
          <a:p>
            <a:pPr marL="355600" marR="346075">
              <a:lnSpc>
                <a:spcPct val="100000"/>
              </a:lnSpc>
            </a:pPr>
            <a:r>
              <a:rPr sz="2000" dirty="0">
                <a:latin typeface="Carlito"/>
                <a:cs typeface="Carlito"/>
              </a:rPr>
              <a:t>i.e : </a:t>
            </a:r>
            <a:r>
              <a:rPr sz="2000" spc="-10" dirty="0">
                <a:latin typeface="Carlito"/>
                <a:cs typeface="Carlito"/>
              </a:rPr>
              <a:t>you </a:t>
            </a:r>
            <a:r>
              <a:rPr sz="2000" dirty="0">
                <a:latin typeface="Carlito"/>
                <a:cs typeface="Carlito"/>
              </a:rPr>
              <a:t>can’t add a </a:t>
            </a:r>
            <a:r>
              <a:rPr sz="2000" spc="-5" dirty="0">
                <a:latin typeface="Carlito"/>
                <a:cs typeface="Carlito"/>
              </a:rPr>
              <a:t>stirng </a:t>
            </a:r>
            <a:r>
              <a:rPr sz="2000" spc="-10" dirty="0">
                <a:latin typeface="Carlito"/>
                <a:cs typeface="Carlito"/>
              </a:rPr>
              <a:t>to</a:t>
            </a:r>
            <a:r>
              <a:rPr sz="2000" spc="-60" dirty="0">
                <a:latin typeface="Carlito"/>
                <a:cs typeface="Carlito"/>
              </a:rPr>
              <a:t> </a:t>
            </a:r>
            <a:r>
              <a:rPr sz="2000" dirty="0">
                <a:latin typeface="Carlito"/>
                <a:cs typeface="Carlito"/>
              </a:rPr>
              <a:t>an  </a:t>
            </a:r>
            <a:r>
              <a:rPr sz="2000" spc="-10" dirty="0">
                <a:latin typeface="Carlito"/>
                <a:cs typeface="Carlito"/>
              </a:rPr>
              <a:t>interger </a:t>
            </a:r>
            <a:r>
              <a:rPr sz="2000" spc="-5" dirty="0">
                <a:latin typeface="Carlito"/>
                <a:cs typeface="Carlito"/>
              </a:rPr>
              <a:t>field</a:t>
            </a:r>
            <a:endParaRPr sz="2000">
              <a:latin typeface="Carlito"/>
              <a:cs typeface="Carlito"/>
            </a:endParaRPr>
          </a:p>
          <a:p>
            <a:pPr marL="355600" marR="216535" indent="-342900">
              <a:lnSpc>
                <a:spcPct val="100000"/>
              </a:lnSpc>
              <a:spcBef>
                <a:spcPts val="1005"/>
              </a:spcBef>
              <a:tabLst>
                <a:tab pos="354965" algn="l"/>
              </a:tabLst>
            </a:pPr>
            <a:r>
              <a:rPr sz="1600" spc="270" dirty="0">
                <a:solidFill>
                  <a:srgbClr val="17375E"/>
                </a:solidFill>
                <a:latin typeface="Arial"/>
                <a:cs typeface="Arial"/>
              </a:rPr>
              <a:t>	</a:t>
            </a:r>
            <a:r>
              <a:rPr sz="2000" spc="-50" dirty="0">
                <a:latin typeface="Carlito"/>
                <a:cs typeface="Carlito"/>
              </a:rPr>
              <a:t>You </a:t>
            </a:r>
            <a:r>
              <a:rPr sz="2000" dirty="0">
                <a:latin typeface="Carlito"/>
                <a:cs typeface="Carlito"/>
              </a:rPr>
              <a:t>can’t add multiple </a:t>
            </a:r>
            <a:r>
              <a:rPr sz="2000" spc="-5" dirty="0">
                <a:latin typeface="Carlito"/>
                <a:cs typeface="Carlito"/>
              </a:rPr>
              <a:t>items </a:t>
            </a:r>
            <a:r>
              <a:rPr sz="2000" dirty="0">
                <a:latin typeface="Carlito"/>
                <a:cs typeface="Carlito"/>
              </a:rPr>
              <a:t>in a  </a:t>
            </a:r>
            <a:r>
              <a:rPr sz="2000" spc="-5" dirty="0">
                <a:latin typeface="Carlito"/>
                <a:cs typeface="Carlito"/>
              </a:rPr>
              <a:t>field </a:t>
            </a:r>
            <a:r>
              <a:rPr sz="2000" spc="-40" dirty="0">
                <a:latin typeface="Carlito"/>
                <a:cs typeface="Carlito"/>
              </a:rPr>
              <a:t>(You </a:t>
            </a:r>
            <a:r>
              <a:rPr sz="2000" dirty="0">
                <a:latin typeface="Carlito"/>
                <a:cs typeface="Carlito"/>
              </a:rPr>
              <a:t>should </a:t>
            </a:r>
            <a:r>
              <a:rPr sz="2000" spc="-10" dirty="0">
                <a:latin typeface="Carlito"/>
                <a:cs typeface="Carlito"/>
              </a:rPr>
              <a:t>create </a:t>
            </a:r>
            <a:r>
              <a:rPr sz="2000" dirty="0">
                <a:latin typeface="Carlito"/>
                <a:cs typeface="Carlito"/>
              </a:rPr>
              <a:t>another  </a:t>
            </a:r>
            <a:r>
              <a:rPr sz="2000" spc="-5" dirty="0">
                <a:latin typeface="Carlito"/>
                <a:cs typeface="Carlito"/>
              </a:rPr>
              <a:t>table: </a:t>
            </a:r>
            <a:r>
              <a:rPr sz="2000" spc="-20" dirty="0">
                <a:latin typeface="Carlito"/>
                <a:cs typeface="Carlito"/>
              </a:rPr>
              <a:t>primary-key, </a:t>
            </a:r>
            <a:r>
              <a:rPr sz="2000" spc="-10" dirty="0">
                <a:latin typeface="Carlito"/>
                <a:cs typeface="Carlito"/>
              </a:rPr>
              <a:t>foreign </a:t>
            </a:r>
            <a:r>
              <a:rPr sz="2000" spc="-55" dirty="0">
                <a:latin typeface="Carlito"/>
                <a:cs typeface="Carlito"/>
              </a:rPr>
              <a:t>key,  </a:t>
            </a:r>
            <a:r>
              <a:rPr sz="2000" spc="-5" dirty="0">
                <a:latin typeface="Carlito"/>
                <a:cs typeface="Carlito"/>
              </a:rPr>
              <a:t>joins, </a:t>
            </a:r>
            <a:r>
              <a:rPr sz="2000" spc="-10" dirty="0">
                <a:latin typeface="Carlito"/>
                <a:cs typeface="Carlito"/>
              </a:rPr>
              <a:t>normalization, </a:t>
            </a:r>
            <a:r>
              <a:rPr sz="2000" spc="-5" dirty="0">
                <a:latin typeface="Carlito"/>
                <a:cs typeface="Carlito"/>
              </a:rPr>
              <a:t>...</a:t>
            </a:r>
            <a:r>
              <a:rPr sz="2000" spc="15" dirty="0">
                <a:latin typeface="Carlito"/>
                <a:cs typeface="Carlito"/>
              </a:rPr>
              <a:t> </a:t>
            </a:r>
            <a:r>
              <a:rPr sz="2000" spc="-5" dirty="0">
                <a:latin typeface="Carlito"/>
                <a:cs typeface="Carlito"/>
              </a:rPr>
              <a:t>!!!)</a:t>
            </a:r>
            <a:endParaRPr sz="2000">
              <a:latin typeface="Carlito"/>
              <a:cs typeface="Carlito"/>
            </a:endParaRPr>
          </a:p>
        </p:txBody>
      </p:sp>
      <p:sp>
        <p:nvSpPr>
          <p:cNvPr id="3" name="object 3"/>
          <p:cNvSpPr/>
          <p:nvPr/>
        </p:nvSpPr>
        <p:spPr>
          <a:xfrm>
            <a:off x="4820994" y="2190532"/>
            <a:ext cx="4064926" cy="2960517"/>
          </a:xfrm>
          <a:prstGeom prst="rect">
            <a:avLst/>
          </a:prstGeom>
          <a:blipFill>
            <a:blip r:embed="rId2" cstate="print"/>
            <a:stretch>
              <a:fillRect/>
            </a:stretch>
          </a:blipFill>
        </p:spPr>
        <p:txBody>
          <a:bodyPr wrap="square" lIns="0" tIns="0" rIns="0" bIns="0" rtlCol="0"/>
          <a:lstStyle/>
          <a:p>
            <a:endParaRPr/>
          </a:p>
        </p:txBody>
      </p:sp>
      <p:grpSp>
        <p:nvGrpSpPr>
          <p:cNvPr id="4" name="object 4"/>
          <p:cNvGrpSpPr/>
          <p:nvPr/>
        </p:nvGrpSpPr>
        <p:grpSpPr>
          <a:xfrm>
            <a:off x="140144" y="140144"/>
            <a:ext cx="8255634" cy="788035"/>
            <a:chOff x="140144" y="140144"/>
            <a:chExt cx="8255634" cy="788035"/>
          </a:xfrm>
        </p:grpSpPr>
        <p:sp>
          <p:nvSpPr>
            <p:cNvPr id="5" name="object 5"/>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6" name="object 6"/>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7" name="object 7"/>
          <p:cNvSpPr txBox="1">
            <a:spLocks noGrp="1"/>
          </p:cNvSpPr>
          <p:nvPr>
            <p:ph type="title"/>
          </p:nvPr>
        </p:nvSpPr>
        <p:spPr>
          <a:xfrm>
            <a:off x="268325" y="217119"/>
            <a:ext cx="6423025" cy="574675"/>
          </a:xfrm>
          <a:prstGeom prst="rect">
            <a:avLst/>
          </a:prstGeom>
        </p:spPr>
        <p:txBody>
          <a:bodyPr vert="horz" wrap="square" lIns="0" tIns="12700" rIns="0" bIns="0" rtlCol="0">
            <a:spAutoFit/>
          </a:bodyPr>
          <a:lstStyle/>
          <a:p>
            <a:pPr marL="12700">
              <a:lnSpc>
                <a:spcPct val="100000"/>
              </a:lnSpc>
              <a:spcBef>
                <a:spcPts val="100"/>
              </a:spcBef>
            </a:pPr>
            <a:r>
              <a:rPr spc="-10" dirty="0"/>
              <a:t>What </a:t>
            </a:r>
            <a:r>
              <a:rPr dirty="0"/>
              <a:t>is a </a:t>
            </a:r>
            <a:r>
              <a:rPr spc="-5" dirty="0"/>
              <a:t>schema-less</a:t>
            </a:r>
            <a:r>
              <a:rPr spc="-80" dirty="0"/>
              <a:t> </a:t>
            </a:r>
            <a:r>
              <a:rPr spc="-10" dirty="0"/>
              <a:t>datamodel?</a:t>
            </a:r>
          </a:p>
        </p:txBody>
      </p:sp>
      <p:grpSp>
        <p:nvGrpSpPr>
          <p:cNvPr id="8" name="object 8"/>
          <p:cNvGrpSpPr/>
          <p:nvPr/>
        </p:nvGrpSpPr>
        <p:grpSpPr>
          <a:xfrm>
            <a:off x="8420100" y="0"/>
            <a:ext cx="723900" cy="1057910"/>
            <a:chOff x="8420100" y="0"/>
            <a:chExt cx="723900" cy="1057910"/>
          </a:xfrm>
        </p:grpSpPr>
        <p:sp>
          <p:nvSpPr>
            <p:cNvPr id="9" name="object 9"/>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8420100" y="161544"/>
              <a:ext cx="723900" cy="827531"/>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2" name="object 12"/>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16</a:t>
            </a:r>
            <a:endParaRPr sz="2800">
              <a:latin typeface="Carlito"/>
              <a:cs typeface="Carli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24916" y="1977593"/>
            <a:ext cx="5271770" cy="3354070"/>
          </a:xfrm>
          <a:prstGeom prst="rect">
            <a:avLst/>
          </a:prstGeom>
        </p:spPr>
        <p:txBody>
          <a:bodyPr vert="horz" wrap="square" lIns="0" tIns="13335" rIns="0" bIns="0" rtlCol="0">
            <a:spAutoFit/>
          </a:bodyPr>
          <a:lstStyle/>
          <a:p>
            <a:pPr marL="12700">
              <a:lnSpc>
                <a:spcPct val="100000"/>
              </a:lnSpc>
              <a:spcBef>
                <a:spcPts val="105"/>
              </a:spcBef>
            </a:pPr>
            <a:r>
              <a:rPr sz="2000" dirty="0">
                <a:latin typeface="Carlito"/>
                <a:cs typeface="Carlito"/>
              </a:rPr>
              <a:t>In NoSQL</a:t>
            </a:r>
            <a:r>
              <a:rPr sz="2000" spc="-45" dirty="0">
                <a:latin typeface="Carlito"/>
                <a:cs typeface="Carlito"/>
              </a:rPr>
              <a:t> </a:t>
            </a:r>
            <a:r>
              <a:rPr sz="2000" spc="-5" dirty="0">
                <a:latin typeface="Carlito"/>
                <a:cs typeface="Carlito"/>
              </a:rPr>
              <a:t>Databases:</a:t>
            </a:r>
            <a:endParaRPr sz="2000">
              <a:latin typeface="Carlito"/>
              <a:cs typeface="Carlito"/>
            </a:endParaRPr>
          </a:p>
          <a:p>
            <a:pPr>
              <a:lnSpc>
                <a:spcPct val="100000"/>
              </a:lnSpc>
            </a:pPr>
            <a:endParaRPr sz="2000">
              <a:latin typeface="Carlito"/>
              <a:cs typeface="Carlito"/>
            </a:endParaRPr>
          </a:p>
          <a:p>
            <a:pPr>
              <a:lnSpc>
                <a:spcPct val="100000"/>
              </a:lnSpc>
              <a:spcBef>
                <a:spcPts val="10"/>
              </a:spcBef>
            </a:pPr>
            <a:endParaRPr sz="1600">
              <a:latin typeface="Carlito"/>
              <a:cs typeface="Carlito"/>
            </a:endParaRPr>
          </a:p>
          <a:p>
            <a:pPr marL="12700">
              <a:lnSpc>
                <a:spcPct val="100000"/>
              </a:lnSpc>
              <a:tabLst>
                <a:tab pos="354965" algn="l"/>
              </a:tabLst>
            </a:pPr>
            <a:r>
              <a:rPr sz="1600" spc="270" dirty="0">
                <a:solidFill>
                  <a:srgbClr val="17375E"/>
                </a:solidFill>
                <a:latin typeface="Arial"/>
                <a:cs typeface="Arial"/>
              </a:rPr>
              <a:t>	</a:t>
            </a:r>
            <a:r>
              <a:rPr sz="2000" spc="-10" dirty="0">
                <a:latin typeface="Carlito"/>
                <a:cs typeface="Carlito"/>
              </a:rPr>
              <a:t>There </a:t>
            </a:r>
            <a:r>
              <a:rPr sz="2000" dirty="0">
                <a:latin typeface="Carlito"/>
                <a:cs typeface="Carlito"/>
              </a:rPr>
              <a:t>is </a:t>
            </a:r>
            <a:r>
              <a:rPr sz="2000" spc="-5" dirty="0">
                <a:latin typeface="Carlito"/>
                <a:cs typeface="Carlito"/>
              </a:rPr>
              <a:t>no schema </a:t>
            </a:r>
            <a:r>
              <a:rPr sz="2000" spc="-15" dirty="0">
                <a:latin typeface="Carlito"/>
                <a:cs typeface="Carlito"/>
              </a:rPr>
              <a:t>to</a:t>
            </a:r>
            <a:r>
              <a:rPr sz="2000" spc="-5" dirty="0">
                <a:latin typeface="Carlito"/>
                <a:cs typeface="Carlito"/>
              </a:rPr>
              <a:t> consider</a:t>
            </a:r>
            <a:endParaRPr sz="2000">
              <a:latin typeface="Carlito"/>
              <a:cs typeface="Carlito"/>
            </a:endParaRPr>
          </a:p>
          <a:p>
            <a:pPr marL="12700">
              <a:lnSpc>
                <a:spcPct val="100000"/>
              </a:lnSpc>
              <a:spcBef>
                <a:spcPts val="1000"/>
              </a:spcBef>
              <a:tabLst>
                <a:tab pos="354965" algn="l"/>
              </a:tabLst>
            </a:pPr>
            <a:r>
              <a:rPr sz="1600" spc="270" dirty="0">
                <a:solidFill>
                  <a:srgbClr val="17375E"/>
                </a:solidFill>
                <a:latin typeface="Arial"/>
                <a:cs typeface="Arial"/>
              </a:rPr>
              <a:t>	</a:t>
            </a:r>
            <a:r>
              <a:rPr sz="2000" spc="-10" dirty="0">
                <a:latin typeface="Carlito"/>
                <a:cs typeface="Carlito"/>
              </a:rPr>
              <a:t>There </a:t>
            </a:r>
            <a:r>
              <a:rPr sz="2000" dirty="0">
                <a:latin typeface="Carlito"/>
                <a:cs typeface="Carlito"/>
              </a:rPr>
              <a:t>is </a:t>
            </a:r>
            <a:r>
              <a:rPr sz="2000" spc="-5" dirty="0">
                <a:latin typeface="Carlito"/>
                <a:cs typeface="Carlito"/>
              </a:rPr>
              <a:t>no unused</a:t>
            </a:r>
            <a:r>
              <a:rPr sz="2000" spc="-15" dirty="0">
                <a:latin typeface="Carlito"/>
                <a:cs typeface="Carlito"/>
              </a:rPr>
              <a:t> </a:t>
            </a:r>
            <a:r>
              <a:rPr sz="2000" dirty="0">
                <a:latin typeface="Carlito"/>
                <a:cs typeface="Carlito"/>
              </a:rPr>
              <a:t>cell</a:t>
            </a:r>
            <a:endParaRPr sz="2000">
              <a:latin typeface="Carlito"/>
              <a:cs typeface="Carlito"/>
            </a:endParaRPr>
          </a:p>
          <a:p>
            <a:pPr marL="12700">
              <a:lnSpc>
                <a:spcPct val="100000"/>
              </a:lnSpc>
              <a:spcBef>
                <a:spcPts val="994"/>
              </a:spcBef>
              <a:tabLst>
                <a:tab pos="354965" algn="l"/>
              </a:tabLst>
            </a:pPr>
            <a:r>
              <a:rPr sz="1600" spc="270" dirty="0">
                <a:solidFill>
                  <a:srgbClr val="17375E"/>
                </a:solidFill>
                <a:latin typeface="Arial"/>
                <a:cs typeface="Arial"/>
              </a:rPr>
              <a:t>	</a:t>
            </a:r>
            <a:r>
              <a:rPr sz="2000" spc="-10" dirty="0">
                <a:latin typeface="Carlito"/>
                <a:cs typeface="Carlito"/>
              </a:rPr>
              <a:t>There </a:t>
            </a:r>
            <a:r>
              <a:rPr sz="2000" dirty="0">
                <a:latin typeface="Carlito"/>
                <a:cs typeface="Carlito"/>
              </a:rPr>
              <a:t>is </a:t>
            </a:r>
            <a:r>
              <a:rPr sz="2000" spc="-5" dirty="0">
                <a:latin typeface="Carlito"/>
                <a:cs typeface="Carlito"/>
              </a:rPr>
              <a:t>no </a:t>
            </a:r>
            <a:r>
              <a:rPr sz="2000" spc="-10" dirty="0">
                <a:latin typeface="Carlito"/>
                <a:cs typeface="Carlito"/>
              </a:rPr>
              <a:t>datatype</a:t>
            </a:r>
            <a:r>
              <a:rPr sz="2000" spc="-5" dirty="0">
                <a:latin typeface="Carlito"/>
                <a:cs typeface="Carlito"/>
              </a:rPr>
              <a:t> (implicit)</a:t>
            </a:r>
            <a:endParaRPr sz="2000">
              <a:latin typeface="Carlito"/>
              <a:cs typeface="Carlito"/>
            </a:endParaRPr>
          </a:p>
          <a:p>
            <a:pPr marL="355600" marR="1316990" indent="-342900">
              <a:lnSpc>
                <a:spcPct val="141500"/>
              </a:lnSpc>
              <a:spcBef>
                <a:spcPts val="15"/>
              </a:spcBef>
              <a:tabLst>
                <a:tab pos="354965" algn="l"/>
              </a:tabLst>
            </a:pPr>
            <a:r>
              <a:rPr sz="1600" spc="270" dirty="0">
                <a:solidFill>
                  <a:srgbClr val="17375E"/>
                </a:solidFill>
                <a:latin typeface="Arial"/>
                <a:cs typeface="Arial"/>
              </a:rPr>
              <a:t>	</a:t>
            </a:r>
            <a:r>
              <a:rPr sz="2000" spc="-5" dirty="0">
                <a:latin typeface="Carlito"/>
                <a:cs typeface="Carlito"/>
              </a:rPr>
              <a:t>Most of </a:t>
            </a:r>
            <a:r>
              <a:rPr sz="2000" spc="-10" dirty="0">
                <a:latin typeface="Carlito"/>
                <a:cs typeface="Carlito"/>
              </a:rPr>
              <a:t>considerations are </a:t>
            </a:r>
            <a:r>
              <a:rPr sz="2000" dirty="0">
                <a:latin typeface="Carlito"/>
                <a:cs typeface="Carlito"/>
              </a:rPr>
              <a:t>done in  </a:t>
            </a:r>
            <a:r>
              <a:rPr sz="2000" spc="-5" dirty="0">
                <a:latin typeface="Carlito"/>
                <a:cs typeface="Carlito"/>
              </a:rPr>
              <a:t>application </a:t>
            </a:r>
            <a:r>
              <a:rPr sz="2000" spc="-15" dirty="0">
                <a:latin typeface="Carlito"/>
                <a:cs typeface="Carlito"/>
              </a:rPr>
              <a:t>layer</a:t>
            </a:r>
            <a:endParaRPr sz="2000">
              <a:latin typeface="Carlito"/>
              <a:cs typeface="Carlito"/>
            </a:endParaRPr>
          </a:p>
          <a:p>
            <a:pPr marL="12700">
              <a:lnSpc>
                <a:spcPct val="100000"/>
              </a:lnSpc>
              <a:spcBef>
                <a:spcPts val="994"/>
              </a:spcBef>
              <a:tabLst>
                <a:tab pos="354965" algn="l"/>
              </a:tabLst>
            </a:pPr>
            <a:r>
              <a:rPr sz="1600" spc="270" dirty="0">
                <a:solidFill>
                  <a:srgbClr val="17375E"/>
                </a:solidFill>
                <a:latin typeface="Arial"/>
                <a:cs typeface="Arial"/>
              </a:rPr>
              <a:t>	</a:t>
            </a:r>
            <a:r>
              <a:rPr sz="2000" spc="-35" dirty="0">
                <a:latin typeface="Carlito"/>
                <a:cs typeface="Carlito"/>
              </a:rPr>
              <a:t>We </a:t>
            </a:r>
            <a:r>
              <a:rPr sz="2000" spc="-10" dirty="0">
                <a:latin typeface="Carlito"/>
                <a:cs typeface="Carlito"/>
              </a:rPr>
              <a:t>gather </a:t>
            </a:r>
            <a:r>
              <a:rPr sz="2000" spc="-5" dirty="0">
                <a:latin typeface="Carlito"/>
                <a:cs typeface="Carlito"/>
              </a:rPr>
              <a:t>all </a:t>
            </a:r>
            <a:r>
              <a:rPr sz="2000" spc="-10" dirty="0">
                <a:latin typeface="Carlito"/>
                <a:cs typeface="Carlito"/>
              </a:rPr>
              <a:t>items </a:t>
            </a:r>
            <a:r>
              <a:rPr sz="2000" dirty="0">
                <a:latin typeface="Carlito"/>
                <a:cs typeface="Carlito"/>
              </a:rPr>
              <a:t>in an </a:t>
            </a:r>
            <a:r>
              <a:rPr sz="2000" spc="-10" dirty="0">
                <a:latin typeface="Carlito"/>
                <a:cs typeface="Carlito"/>
              </a:rPr>
              <a:t>aggregate</a:t>
            </a:r>
            <a:r>
              <a:rPr sz="2000" spc="45" dirty="0">
                <a:latin typeface="Carlito"/>
                <a:cs typeface="Carlito"/>
              </a:rPr>
              <a:t> </a:t>
            </a:r>
            <a:r>
              <a:rPr sz="2000" spc="-5" dirty="0">
                <a:latin typeface="Carlito"/>
                <a:cs typeface="Carlito"/>
              </a:rPr>
              <a:t>(document)</a:t>
            </a:r>
            <a:endParaRPr sz="2000">
              <a:latin typeface="Carlito"/>
              <a:cs typeface="Carlito"/>
            </a:endParaRPr>
          </a:p>
        </p:txBody>
      </p:sp>
      <p:sp>
        <p:nvSpPr>
          <p:cNvPr id="3" name="object 3"/>
          <p:cNvSpPr/>
          <p:nvPr/>
        </p:nvSpPr>
        <p:spPr>
          <a:xfrm>
            <a:off x="5360888" y="1604654"/>
            <a:ext cx="3529146" cy="3024553"/>
          </a:xfrm>
          <a:prstGeom prst="rect">
            <a:avLst/>
          </a:prstGeom>
          <a:blipFill>
            <a:blip r:embed="rId2" cstate="print"/>
            <a:stretch>
              <a:fillRect/>
            </a:stretch>
          </a:blipFill>
        </p:spPr>
        <p:txBody>
          <a:bodyPr wrap="square" lIns="0" tIns="0" rIns="0" bIns="0" rtlCol="0"/>
          <a:lstStyle/>
          <a:p>
            <a:endParaRPr/>
          </a:p>
        </p:txBody>
      </p:sp>
      <p:grpSp>
        <p:nvGrpSpPr>
          <p:cNvPr id="4" name="object 4"/>
          <p:cNvGrpSpPr/>
          <p:nvPr/>
        </p:nvGrpSpPr>
        <p:grpSpPr>
          <a:xfrm>
            <a:off x="140144" y="140144"/>
            <a:ext cx="8255634" cy="788035"/>
            <a:chOff x="140144" y="140144"/>
            <a:chExt cx="8255634" cy="788035"/>
          </a:xfrm>
        </p:grpSpPr>
        <p:sp>
          <p:nvSpPr>
            <p:cNvPr id="5" name="object 5"/>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6" name="object 6"/>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7" name="object 7"/>
          <p:cNvSpPr txBox="1">
            <a:spLocks noGrp="1"/>
          </p:cNvSpPr>
          <p:nvPr>
            <p:ph type="title"/>
          </p:nvPr>
        </p:nvSpPr>
        <p:spPr>
          <a:xfrm>
            <a:off x="268325" y="217119"/>
            <a:ext cx="6423025" cy="574675"/>
          </a:xfrm>
          <a:prstGeom prst="rect">
            <a:avLst/>
          </a:prstGeom>
        </p:spPr>
        <p:txBody>
          <a:bodyPr vert="horz" wrap="square" lIns="0" tIns="12700" rIns="0" bIns="0" rtlCol="0">
            <a:spAutoFit/>
          </a:bodyPr>
          <a:lstStyle/>
          <a:p>
            <a:pPr marL="12700">
              <a:lnSpc>
                <a:spcPct val="100000"/>
              </a:lnSpc>
              <a:spcBef>
                <a:spcPts val="100"/>
              </a:spcBef>
            </a:pPr>
            <a:r>
              <a:rPr spc="-10" dirty="0"/>
              <a:t>What </a:t>
            </a:r>
            <a:r>
              <a:rPr dirty="0"/>
              <a:t>is a </a:t>
            </a:r>
            <a:r>
              <a:rPr spc="-5" dirty="0"/>
              <a:t>schema-less</a:t>
            </a:r>
            <a:r>
              <a:rPr spc="-80" dirty="0"/>
              <a:t> </a:t>
            </a:r>
            <a:r>
              <a:rPr spc="-10" dirty="0"/>
              <a:t>datamodel?</a:t>
            </a:r>
          </a:p>
        </p:txBody>
      </p:sp>
      <p:grpSp>
        <p:nvGrpSpPr>
          <p:cNvPr id="8" name="object 8"/>
          <p:cNvGrpSpPr/>
          <p:nvPr/>
        </p:nvGrpSpPr>
        <p:grpSpPr>
          <a:xfrm>
            <a:off x="8420100" y="0"/>
            <a:ext cx="723900" cy="1057910"/>
            <a:chOff x="8420100" y="0"/>
            <a:chExt cx="723900" cy="1057910"/>
          </a:xfrm>
        </p:grpSpPr>
        <p:sp>
          <p:nvSpPr>
            <p:cNvPr id="9" name="object 9"/>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8420100" y="161544"/>
              <a:ext cx="723900" cy="827531"/>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2" name="object 12"/>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17</a:t>
            </a:r>
            <a:endParaRPr sz="2800">
              <a:latin typeface="Carlito"/>
              <a:cs typeface="Carli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77925" y="1871598"/>
            <a:ext cx="4148454" cy="3427729"/>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rlito"/>
                <a:cs typeface="Carlito"/>
              </a:rPr>
              <a:t>NoSQL </a:t>
            </a:r>
            <a:r>
              <a:rPr sz="1800" spc="-5" dirty="0">
                <a:latin typeface="Carlito"/>
                <a:cs typeface="Carlito"/>
              </a:rPr>
              <a:t>databases </a:t>
            </a:r>
            <a:r>
              <a:rPr sz="1800" spc="-10" dirty="0">
                <a:latin typeface="Carlito"/>
                <a:cs typeface="Carlito"/>
              </a:rPr>
              <a:t>are </a:t>
            </a:r>
            <a:r>
              <a:rPr sz="1800" spc="-5" dirty="0">
                <a:latin typeface="Carlito"/>
                <a:cs typeface="Carlito"/>
              </a:rPr>
              <a:t>classified in </a:t>
            </a:r>
            <a:r>
              <a:rPr sz="1800" spc="-10" dirty="0">
                <a:latin typeface="Carlito"/>
                <a:cs typeface="Carlito"/>
              </a:rPr>
              <a:t>four </a:t>
            </a:r>
            <a:r>
              <a:rPr sz="1800" spc="-5" dirty="0">
                <a:latin typeface="Carlito"/>
                <a:cs typeface="Carlito"/>
              </a:rPr>
              <a:t>major  datamodels:</a:t>
            </a:r>
            <a:endParaRPr sz="1800">
              <a:latin typeface="Carlito"/>
              <a:cs typeface="Carlito"/>
            </a:endParaRPr>
          </a:p>
          <a:p>
            <a:pPr>
              <a:lnSpc>
                <a:spcPct val="100000"/>
              </a:lnSpc>
              <a:spcBef>
                <a:spcPts val="15"/>
              </a:spcBef>
            </a:pPr>
            <a:endParaRPr sz="2550">
              <a:latin typeface="Carlito"/>
              <a:cs typeface="Carlito"/>
            </a:endParaRPr>
          </a:p>
          <a:p>
            <a:pPr marL="355600" indent="-342900">
              <a:lnSpc>
                <a:spcPct val="100000"/>
              </a:lnSpc>
              <a:spcBef>
                <a:spcPts val="5"/>
              </a:spcBef>
              <a:buClr>
                <a:srgbClr val="5F497A"/>
              </a:buClr>
              <a:buFont typeface="Arial"/>
              <a:buChar char="•"/>
              <a:tabLst>
                <a:tab pos="354965" algn="l"/>
                <a:tab pos="355600" algn="l"/>
              </a:tabLst>
            </a:pPr>
            <a:r>
              <a:rPr sz="2400" spc="-15" dirty="0">
                <a:latin typeface="Carlito"/>
                <a:cs typeface="Carlito"/>
              </a:rPr>
              <a:t>Key-value</a:t>
            </a:r>
            <a:endParaRPr sz="2400">
              <a:latin typeface="Carlito"/>
              <a:cs typeface="Carlito"/>
            </a:endParaRPr>
          </a:p>
          <a:p>
            <a:pPr marL="355600" indent="-342900">
              <a:lnSpc>
                <a:spcPct val="100000"/>
              </a:lnSpc>
              <a:spcBef>
                <a:spcPts val="575"/>
              </a:spcBef>
              <a:buClr>
                <a:srgbClr val="5F497A"/>
              </a:buClr>
              <a:buFont typeface="Arial"/>
              <a:buChar char="•"/>
              <a:tabLst>
                <a:tab pos="354965" algn="l"/>
                <a:tab pos="355600" algn="l"/>
              </a:tabLst>
            </a:pPr>
            <a:r>
              <a:rPr sz="2400" spc="-10" dirty="0">
                <a:latin typeface="Carlito"/>
                <a:cs typeface="Carlito"/>
              </a:rPr>
              <a:t>Document</a:t>
            </a:r>
            <a:endParaRPr sz="2400">
              <a:latin typeface="Carlito"/>
              <a:cs typeface="Carlito"/>
            </a:endParaRPr>
          </a:p>
          <a:p>
            <a:pPr marL="355600" indent="-342900">
              <a:lnSpc>
                <a:spcPct val="100000"/>
              </a:lnSpc>
              <a:spcBef>
                <a:spcPts val="575"/>
              </a:spcBef>
              <a:buClr>
                <a:srgbClr val="5F497A"/>
              </a:buClr>
              <a:buFont typeface="Arial"/>
              <a:buChar char="•"/>
              <a:tabLst>
                <a:tab pos="354965" algn="l"/>
                <a:tab pos="355600" algn="l"/>
              </a:tabLst>
            </a:pPr>
            <a:r>
              <a:rPr sz="2400" spc="-5" dirty="0">
                <a:latin typeface="Carlito"/>
                <a:cs typeface="Carlito"/>
              </a:rPr>
              <a:t>Column</a:t>
            </a:r>
            <a:r>
              <a:rPr sz="2400" spc="-20" dirty="0">
                <a:latin typeface="Carlito"/>
                <a:cs typeface="Carlito"/>
              </a:rPr>
              <a:t> </a:t>
            </a:r>
            <a:r>
              <a:rPr sz="2400" spc="-10" dirty="0">
                <a:latin typeface="Carlito"/>
                <a:cs typeface="Carlito"/>
              </a:rPr>
              <a:t>family</a:t>
            </a:r>
            <a:endParaRPr sz="2400">
              <a:latin typeface="Carlito"/>
              <a:cs typeface="Carlito"/>
            </a:endParaRPr>
          </a:p>
          <a:p>
            <a:pPr marL="355600" indent="-342900">
              <a:lnSpc>
                <a:spcPct val="100000"/>
              </a:lnSpc>
              <a:spcBef>
                <a:spcPts val="580"/>
              </a:spcBef>
              <a:buClr>
                <a:srgbClr val="5F497A"/>
              </a:buClr>
              <a:buFont typeface="Arial"/>
              <a:buChar char="•"/>
              <a:tabLst>
                <a:tab pos="354965" algn="l"/>
                <a:tab pos="355600" algn="l"/>
              </a:tabLst>
            </a:pPr>
            <a:r>
              <a:rPr sz="2400" spc="-10" dirty="0">
                <a:latin typeface="Carlito"/>
                <a:cs typeface="Carlito"/>
              </a:rPr>
              <a:t>Graph</a:t>
            </a:r>
            <a:endParaRPr sz="2400">
              <a:latin typeface="Carlito"/>
              <a:cs typeface="Carlito"/>
            </a:endParaRPr>
          </a:p>
          <a:p>
            <a:pPr>
              <a:lnSpc>
                <a:spcPct val="100000"/>
              </a:lnSpc>
              <a:spcBef>
                <a:spcPts val="20"/>
              </a:spcBef>
            </a:pPr>
            <a:endParaRPr sz="3200">
              <a:latin typeface="Carlito"/>
              <a:cs typeface="Carlito"/>
            </a:endParaRPr>
          </a:p>
          <a:p>
            <a:pPr marL="12700">
              <a:lnSpc>
                <a:spcPct val="100000"/>
              </a:lnSpc>
            </a:pPr>
            <a:r>
              <a:rPr sz="1800" u="heavy" spc="-10" dirty="0">
                <a:uFill>
                  <a:solidFill>
                    <a:srgbClr val="000000"/>
                  </a:solidFill>
                </a:uFill>
                <a:latin typeface="Carlito"/>
                <a:cs typeface="Carlito"/>
              </a:rPr>
              <a:t>Each </a:t>
            </a:r>
            <a:r>
              <a:rPr sz="1800" u="heavy" spc="-5" dirty="0">
                <a:uFill>
                  <a:solidFill>
                    <a:srgbClr val="000000"/>
                  </a:solidFill>
                </a:uFill>
                <a:latin typeface="Carlito"/>
                <a:cs typeface="Carlito"/>
              </a:rPr>
              <a:t>DB has its own </a:t>
            </a:r>
            <a:r>
              <a:rPr sz="1800" u="heavy" dirty="0">
                <a:uFill>
                  <a:solidFill>
                    <a:srgbClr val="000000"/>
                  </a:solidFill>
                </a:uFill>
                <a:latin typeface="Carlito"/>
                <a:cs typeface="Carlito"/>
              </a:rPr>
              <a:t>query</a:t>
            </a:r>
            <a:r>
              <a:rPr sz="1800" u="heavy" spc="40" dirty="0">
                <a:uFill>
                  <a:solidFill>
                    <a:srgbClr val="000000"/>
                  </a:solidFill>
                </a:uFill>
                <a:latin typeface="Carlito"/>
                <a:cs typeface="Carlito"/>
              </a:rPr>
              <a:t> </a:t>
            </a:r>
            <a:r>
              <a:rPr sz="1800" u="heavy" spc="-5" dirty="0">
                <a:uFill>
                  <a:solidFill>
                    <a:srgbClr val="000000"/>
                  </a:solidFill>
                </a:uFill>
                <a:latin typeface="Carlito"/>
                <a:cs typeface="Carlito"/>
              </a:rPr>
              <a:t>language</a:t>
            </a:r>
            <a:endParaRPr sz="1800">
              <a:latin typeface="Carlito"/>
              <a:cs typeface="Carlito"/>
            </a:endParaRPr>
          </a:p>
        </p:txBody>
      </p:sp>
      <p:grpSp>
        <p:nvGrpSpPr>
          <p:cNvPr id="3" name="object 3"/>
          <p:cNvGrpSpPr/>
          <p:nvPr/>
        </p:nvGrpSpPr>
        <p:grpSpPr>
          <a:xfrm>
            <a:off x="4337138" y="2355938"/>
            <a:ext cx="4624705" cy="3569970"/>
            <a:chOff x="4337138" y="2355938"/>
            <a:chExt cx="4624705" cy="3569970"/>
          </a:xfrm>
        </p:grpSpPr>
        <p:sp>
          <p:nvSpPr>
            <p:cNvPr id="4" name="object 4"/>
            <p:cNvSpPr/>
            <p:nvPr/>
          </p:nvSpPr>
          <p:spPr>
            <a:xfrm>
              <a:off x="4337138" y="2355938"/>
              <a:ext cx="4624146" cy="356951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4495800" y="2514600"/>
              <a:ext cx="4126992" cy="3072384"/>
            </a:xfrm>
            <a:prstGeom prst="rect">
              <a:avLst/>
            </a:prstGeom>
            <a:blipFill>
              <a:blip r:embed="rId3" cstate="print"/>
              <a:stretch>
                <a:fillRect/>
              </a:stretch>
            </a:blipFill>
          </p:spPr>
          <p:txBody>
            <a:bodyPr wrap="square" lIns="0" tIns="0" rIns="0" bIns="0" rtlCol="0"/>
            <a:lstStyle/>
            <a:p>
              <a:endParaRPr/>
            </a:p>
          </p:txBody>
        </p:sp>
      </p:grpSp>
      <p:grpSp>
        <p:nvGrpSpPr>
          <p:cNvPr id="6" name="object 6"/>
          <p:cNvGrpSpPr/>
          <p:nvPr/>
        </p:nvGrpSpPr>
        <p:grpSpPr>
          <a:xfrm>
            <a:off x="140144" y="140144"/>
            <a:ext cx="8255634" cy="788035"/>
            <a:chOff x="140144" y="140144"/>
            <a:chExt cx="8255634" cy="788035"/>
          </a:xfrm>
        </p:grpSpPr>
        <p:sp>
          <p:nvSpPr>
            <p:cNvPr id="7" name="object 7"/>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8" name="object 8"/>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9" name="object 9"/>
          <p:cNvSpPr txBox="1">
            <a:spLocks noGrp="1"/>
          </p:cNvSpPr>
          <p:nvPr>
            <p:ph type="title"/>
          </p:nvPr>
        </p:nvSpPr>
        <p:spPr>
          <a:xfrm>
            <a:off x="268325" y="217119"/>
            <a:ext cx="4356100" cy="574675"/>
          </a:xfrm>
          <a:prstGeom prst="rect">
            <a:avLst/>
          </a:prstGeom>
        </p:spPr>
        <p:txBody>
          <a:bodyPr vert="horz" wrap="square" lIns="0" tIns="12700" rIns="0" bIns="0" rtlCol="0">
            <a:spAutoFit/>
          </a:bodyPr>
          <a:lstStyle/>
          <a:p>
            <a:pPr marL="12700">
              <a:lnSpc>
                <a:spcPct val="100000"/>
              </a:lnSpc>
              <a:spcBef>
                <a:spcPts val="100"/>
              </a:spcBef>
            </a:pPr>
            <a:r>
              <a:rPr spc="-20" dirty="0"/>
              <a:t>Aggregate </a:t>
            </a:r>
            <a:r>
              <a:rPr spc="-25" dirty="0"/>
              <a:t>Data</a:t>
            </a:r>
            <a:r>
              <a:rPr spc="-45" dirty="0"/>
              <a:t> </a:t>
            </a:r>
            <a:r>
              <a:rPr dirty="0"/>
              <a:t>Models</a:t>
            </a:r>
          </a:p>
        </p:txBody>
      </p:sp>
      <p:grpSp>
        <p:nvGrpSpPr>
          <p:cNvPr id="10" name="object 10"/>
          <p:cNvGrpSpPr/>
          <p:nvPr/>
        </p:nvGrpSpPr>
        <p:grpSpPr>
          <a:xfrm>
            <a:off x="8420100" y="0"/>
            <a:ext cx="723900" cy="1057910"/>
            <a:chOff x="8420100" y="0"/>
            <a:chExt cx="723900" cy="1057910"/>
          </a:xfrm>
        </p:grpSpPr>
        <p:sp>
          <p:nvSpPr>
            <p:cNvPr id="11" name="object 11"/>
            <p:cNvSpPr/>
            <p:nvPr/>
          </p:nvSpPr>
          <p:spPr>
            <a:xfrm>
              <a:off x="8531219" y="0"/>
              <a:ext cx="612780" cy="1057759"/>
            </a:xfrm>
            <a:prstGeom prst="rect">
              <a:avLst/>
            </a:prstGeom>
            <a:blipFill>
              <a:blip r:embed="rId4" cstate="print"/>
              <a:stretch>
                <a:fillRect/>
              </a:stretch>
            </a:blipFill>
          </p:spPr>
          <p:txBody>
            <a:bodyPr wrap="square" lIns="0" tIns="0" rIns="0" bIns="0" rtlCol="0"/>
            <a:lstStyle/>
            <a:p>
              <a:endParaRPr/>
            </a:p>
          </p:txBody>
        </p:sp>
        <p:sp>
          <p:nvSpPr>
            <p:cNvPr id="12" name="object 12"/>
            <p:cNvSpPr/>
            <p:nvPr/>
          </p:nvSpPr>
          <p:spPr>
            <a:xfrm>
              <a:off x="8420100" y="161544"/>
              <a:ext cx="723900" cy="827531"/>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8569452" y="0"/>
              <a:ext cx="574548" cy="1001267"/>
            </a:xfrm>
            <a:prstGeom prst="rect">
              <a:avLst/>
            </a:prstGeom>
            <a:blipFill>
              <a:blip r:embed="rId6" cstate="print"/>
              <a:stretch>
                <a:fillRect/>
              </a:stretch>
            </a:blipFill>
          </p:spPr>
          <p:txBody>
            <a:bodyPr wrap="square" lIns="0" tIns="0" rIns="0" bIns="0" rtlCol="0"/>
            <a:lstStyle/>
            <a:p>
              <a:endParaRPr/>
            </a:p>
          </p:txBody>
        </p:sp>
      </p:grpSp>
      <p:sp>
        <p:nvSpPr>
          <p:cNvPr id="14" name="object 14"/>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18</a:t>
            </a:r>
            <a:endParaRPr sz="2800">
              <a:latin typeface="Carlito"/>
              <a:cs typeface="Carl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075166" y="836482"/>
            <a:ext cx="4497705" cy="3377565"/>
            <a:chOff x="4075166" y="836482"/>
            <a:chExt cx="4497705" cy="3377565"/>
          </a:xfrm>
        </p:grpSpPr>
        <p:sp>
          <p:nvSpPr>
            <p:cNvPr id="3" name="object 3"/>
            <p:cNvSpPr/>
            <p:nvPr/>
          </p:nvSpPr>
          <p:spPr>
            <a:xfrm>
              <a:off x="4075166" y="836482"/>
              <a:ext cx="4497342" cy="3377571"/>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4239767" y="1001378"/>
              <a:ext cx="4173752" cy="3061605"/>
            </a:xfrm>
            <a:prstGeom prst="rect">
              <a:avLst/>
            </a:prstGeom>
            <a:blipFill>
              <a:blip r:embed="rId3" cstate="print"/>
              <a:stretch>
                <a:fillRect/>
              </a:stretch>
            </a:blipFill>
          </p:spPr>
          <p:txBody>
            <a:bodyPr wrap="square" lIns="0" tIns="0" rIns="0" bIns="0" rtlCol="0"/>
            <a:lstStyle/>
            <a:p>
              <a:endParaRPr/>
            </a:p>
          </p:txBody>
        </p:sp>
      </p:grpSp>
      <p:sp>
        <p:nvSpPr>
          <p:cNvPr id="5" name="object 5"/>
          <p:cNvSpPr txBox="1"/>
          <p:nvPr/>
        </p:nvSpPr>
        <p:spPr>
          <a:xfrm>
            <a:off x="764540" y="1542034"/>
            <a:ext cx="3404870" cy="3317875"/>
          </a:xfrm>
          <a:prstGeom prst="rect">
            <a:avLst/>
          </a:prstGeom>
        </p:spPr>
        <p:txBody>
          <a:bodyPr vert="horz" wrap="square" lIns="0" tIns="12700" rIns="0" bIns="0" rtlCol="0">
            <a:spAutoFit/>
          </a:bodyPr>
          <a:lstStyle/>
          <a:p>
            <a:pPr marL="299085" indent="-287020">
              <a:lnSpc>
                <a:spcPct val="100000"/>
              </a:lnSpc>
              <a:spcBef>
                <a:spcPts val="100"/>
              </a:spcBef>
              <a:buClr>
                <a:srgbClr val="4F81BC"/>
              </a:buClr>
              <a:buFont typeface="Wingdings"/>
              <a:buChar char=""/>
              <a:tabLst>
                <a:tab pos="299720" algn="l"/>
              </a:tabLst>
            </a:pPr>
            <a:r>
              <a:rPr sz="1800" spc="-10" dirty="0">
                <a:latin typeface="Carlito"/>
                <a:cs typeface="Carlito"/>
              </a:rPr>
              <a:t>Simplest </a:t>
            </a:r>
            <a:r>
              <a:rPr sz="1800" dirty="0">
                <a:latin typeface="Carlito"/>
                <a:cs typeface="Carlito"/>
              </a:rPr>
              <a:t>NOSQL</a:t>
            </a:r>
            <a:r>
              <a:rPr sz="1800" spc="10" dirty="0">
                <a:latin typeface="Carlito"/>
                <a:cs typeface="Carlito"/>
              </a:rPr>
              <a:t> </a:t>
            </a:r>
            <a:r>
              <a:rPr sz="1800" spc="-5" dirty="0">
                <a:latin typeface="Carlito"/>
                <a:cs typeface="Carlito"/>
              </a:rPr>
              <a:t>databases</a:t>
            </a:r>
            <a:endParaRPr sz="1800">
              <a:latin typeface="Carlito"/>
              <a:cs typeface="Carlito"/>
            </a:endParaRPr>
          </a:p>
          <a:p>
            <a:pPr>
              <a:lnSpc>
                <a:spcPct val="100000"/>
              </a:lnSpc>
              <a:spcBef>
                <a:spcPts val="25"/>
              </a:spcBef>
              <a:buClr>
                <a:srgbClr val="4F81BC"/>
              </a:buClr>
              <a:buFont typeface="Wingdings"/>
              <a:buChar char=""/>
            </a:pPr>
            <a:endParaRPr sz="1750">
              <a:latin typeface="Carlito"/>
              <a:cs typeface="Carlito"/>
            </a:endParaRPr>
          </a:p>
          <a:p>
            <a:pPr marL="299085" marR="447040" indent="-287020">
              <a:lnSpc>
                <a:spcPct val="100000"/>
              </a:lnSpc>
              <a:buClr>
                <a:srgbClr val="4F81BC"/>
              </a:buClr>
              <a:buFont typeface="Wingdings"/>
              <a:buChar char=""/>
              <a:tabLst>
                <a:tab pos="299720" algn="l"/>
              </a:tabLst>
            </a:pPr>
            <a:r>
              <a:rPr sz="1800" spc="-5" dirty="0">
                <a:latin typeface="Carlito"/>
                <a:cs typeface="Carlito"/>
              </a:rPr>
              <a:t>The </a:t>
            </a:r>
            <a:r>
              <a:rPr sz="1800" dirty="0">
                <a:latin typeface="Carlito"/>
                <a:cs typeface="Carlito"/>
              </a:rPr>
              <a:t>main </a:t>
            </a:r>
            <a:r>
              <a:rPr sz="1800" spc="-5" dirty="0">
                <a:latin typeface="Carlito"/>
                <a:cs typeface="Carlito"/>
              </a:rPr>
              <a:t>idea is </a:t>
            </a:r>
            <a:r>
              <a:rPr sz="1800" dirty="0">
                <a:latin typeface="Carlito"/>
                <a:cs typeface="Carlito"/>
              </a:rPr>
              <a:t>the </a:t>
            </a:r>
            <a:r>
              <a:rPr sz="1800" spc="-5" dirty="0">
                <a:latin typeface="Carlito"/>
                <a:cs typeface="Carlito"/>
              </a:rPr>
              <a:t>use of </a:t>
            </a:r>
            <a:r>
              <a:rPr sz="1800" dirty="0">
                <a:latin typeface="Carlito"/>
                <a:cs typeface="Carlito"/>
              </a:rPr>
              <a:t>a  </a:t>
            </a:r>
            <a:r>
              <a:rPr sz="1800" spc="-5" dirty="0">
                <a:latin typeface="Carlito"/>
                <a:cs typeface="Carlito"/>
              </a:rPr>
              <a:t>hash</a:t>
            </a:r>
            <a:r>
              <a:rPr sz="1800" spc="-10" dirty="0">
                <a:latin typeface="Carlito"/>
                <a:cs typeface="Carlito"/>
              </a:rPr>
              <a:t> </a:t>
            </a:r>
            <a:r>
              <a:rPr sz="1800" spc="-5" dirty="0">
                <a:latin typeface="Carlito"/>
                <a:cs typeface="Carlito"/>
              </a:rPr>
              <a:t>table</a:t>
            </a:r>
            <a:endParaRPr sz="1800">
              <a:latin typeface="Carlito"/>
              <a:cs typeface="Carlito"/>
            </a:endParaRPr>
          </a:p>
          <a:p>
            <a:pPr>
              <a:lnSpc>
                <a:spcPct val="100000"/>
              </a:lnSpc>
              <a:spcBef>
                <a:spcPts val="25"/>
              </a:spcBef>
              <a:buClr>
                <a:srgbClr val="4F81BC"/>
              </a:buClr>
              <a:buFont typeface="Wingdings"/>
              <a:buChar char=""/>
            </a:pPr>
            <a:endParaRPr sz="1750">
              <a:latin typeface="Carlito"/>
              <a:cs typeface="Carlito"/>
            </a:endParaRPr>
          </a:p>
          <a:p>
            <a:pPr marL="299085" marR="300990" indent="-287020">
              <a:lnSpc>
                <a:spcPct val="100000"/>
              </a:lnSpc>
              <a:buClr>
                <a:srgbClr val="4F81BC"/>
              </a:buClr>
              <a:buFont typeface="Wingdings"/>
              <a:buChar char=""/>
              <a:tabLst>
                <a:tab pos="299720" algn="l"/>
              </a:tabLst>
            </a:pPr>
            <a:r>
              <a:rPr sz="1800" spc="-5" dirty="0">
                <a:latin typeface="Carlito"/>
                <a:cs typeface="Carlito"/>
              </a:rPr>
              <a:t>Access </a:t>
            </a:r>
            <a:r>
              <a:rPr sz="1800" spc="-15" dirty="0">
                <a:latin typeface="Carlito"/>
                <a:cs typeface="Carlito"/>
              </a:rPr>
              <a:t>data </a:t>
            </a:r>
            <a:r>
              <a:rPr sz="1800" spc="-5" dirty="0">
                <a:latin typeface="Carlito"/>
                <a:cs typeface="Carlito"/>
              </a:rPr>
              <a:t>(values) by </a:t>
            </a:r>
            <a:r>
              <a:rPr sz="1800" spc="-10" dirty="0">
                <a:latin typeface="Carlito"/>
                <a:cs typeface="Carlito"/>
              </a:rPr>
              <a:t>strings  called</a:t>
            </a:r>
            <a:r>
              <a:rPr sz="1800" spc="15" dirty="0">
                <a:latin typeface="Carlito"/>
                <a:cs typeface="Carlito"/>
              </a:rPr>
              <a:t> </a:t>
            </a:r>
            <a:r>
              <a:rPr sz="1800" spc="-25" dirty="0">
                <a:latin typeface="Carlito"/>
                <a:cs typeface="Carlito"/>
              </a:rPr>
              <a:t>keys</a:t>
            </a:r>
            <a:endParaRPr sz="1800">
              <a:latin typeface="Carlito"/>
              <a:cs typeface="Carlito"/>
            </a:endParaRPr>
          </a:p>
          <a:p>
            <a:pPr>
              <a:lnSpc>
                <a:spcPct val="100000"/>
              </a:lnSpc>
              <a:spcBef>
                <a:spcPts val="25"/>
              </a:spcBef>
              <a:buClr>
                <a:srgbClr val="4F81BC"/>
              </a:buClr>
              <a:buFont typeface="Wingdings"/>
              <a:buChar char=""/>
            </a:pPr>
            <a:endParaRPr sz="1750">
              <a:latin typeface="Carlito"/>
              <a:cs typeface="Carlito"/>
            </a:endParaRPr>
          </a:p>
          <a:p>
            <a:pPr marL="299085" marR="5080" indent="-287020">
              <a:lnSpc>
                <a:spcPct val="100000"/>
              </a:lnSpc>
              <a:buClr>
                <a:srgbClr val="4F81BC"/>
              </a:buClr>
              <a:buFont typeface="Wingdings"/>
              <a:buChar char=""/>
              <a:tabLst>
                <a:tab pos="299720" algn="l"/>
              </a:tabLst>
            </a:pPr>
            <a:r>
              <a:rPr sz="1800" spc="-15" dirty="0">
                <a:latin typeface="Carlito"/>
                <a:cs typeface="Carlito"/>
              </a:rPr>
              <a:t>Data </a:t>
            </a:r>
            <a:r>
              <a:rPr sz="1800" spc="-5" dirty="0">
                <a:latin typeface="Carlito"/>
                <a:cs typeface="Carlito"/>
              </a:rPr>
              <a:t>has no </a:t>
            </a:r>
            <a:r>
              <a:rPr sz="1800" spc="-10" dirty="0">
                <a:latin typeface="Carlito"/>
                <a:cs typeface="Carlito"/>
              </a:rPr>
              <a:t>required </a:t>
            </a:r>
            <a:r>
              <a:rPr sz="1800" spc="-15" dirty="0">
                <a:latin typeface="Carlito"/>
                <a:cs typeface="Carlito"/>
              </a:rPr>
              <a:t>format data  may </a:t>
            </a:r>
            <a:r>
              <a:rPr sz="1800" spc="-10" dirty="0">
                <a:latin typeface="Carlito"/>
                <a:cs typeface="Carlito"/>
              </a:rPr>
              <a:t>have </a:t>
            </a:r>
            <a:r>
              <a:rPr sz="1800" spc="-15" dirty="0">
                <a:latin typeface="Carlito"/>
                <a:cs typeface="Carlito"/>
              </a:rPr>
              <a:t>any</a:t>
            </a:r>
            <a:r>
              <a:rPr sz="1800" dirty="0">
                <a:latin typeface="Carlito"/>
                <a:cs typeface="Carlito"/>
              </a:rPr>
              <a:t> </a:t>
            </a:r>
            <a:r>
              <a:rPr sz="1800" spc="-15" dirty="0">
                <a:latin typeface="Carlito"/>
                <a:cs typeface="Carlito"/>
              </a:rPr>
              <a:t>format</a:t>
            </a:r>
            <a:endParaRPr sz="1800">
              <a:latin typeface="Carlito"/>
              <a:cs typeface="Carlito"/>
            </a:endParaRPr>
          </a:p>
          <a:p>
            <a:pPr>
              <a:lnSpc>
                <a:spcPct val="100000"/>
              </a:lnSpc>
              <a:spcBef>
                <a:spcPts val="25"/>
              </a:spcBef>
              <a:buClr>
                <a:srgbClr val="4F81BC"/>
              </a:buClr>
              <a:buFont typeface="Wingdings"/>
              <a:buChar char=""/>
            </a:pPr>
            <a:endParaRPr sz="1750">
              <a:latin typeface="Carlito"/>
              <a:cs typeface="Carlito"/>
            </a:endParaRPr>
          </a:p>
          <a:p>
            <a:pPr marL="299085" indent="-287020">
              <a:lnSpc>
                <a:spcPct val="100000"/>
              </a:lnSpc>
              <a:buClr>
                <a:srgbClr val="4F81BC"/>
              </a:buClr>
              <a:buFont typeface="Wingdings"/>
              <a:buChar char=""/>
              <a:tabLst>
                <a:tab pos="299720" algn="l"/>
              </a:tabLst>
            </a:pPr>
            <a:r>
              <a:rPr sz="1800" spc="-15" dirty="0">
                <a:latin typeface="Carlito"/>
                <a:cs typeface="Carlito"/>
              </a:rPr>
              <a:t>Data </a:t>
            </a:r>
            <a:r>
              <a:rPr sz="1800" dirty="0">
                <a:latin typeface="Carlito"/>
                <a:cs typeface="Carlito"/>
              </a:rPr>
              <a:t>model: </a:t>
            </a:r>
            <a:r>
              <a:rPr sz="1800" spc="-45" dirty="0">
                <a:latin typeface="Carlito"/>
                <a:cs typeface="Carlito"/>
              </a:rPr>
              <a:t>(key, </a:t>
            </a:r>
            <a:r>
              <a:rPr sz="1800" spc="-5" dirty="0">
                <a:latin typeface="Carlito"/>
                <a:cs typeface="Carlito"/>
              </a:rPr>
              <a:t>value)</a:t>
            </a:r>
            <a:r>
              <a:rPr sz="1800" spc="85" dirty="0">
                <a:latin typeface="Carlito"/>
                <a:cs typeface="Carlito"/>
              </a:rPr>
              <a:t> </a:t>
            </a:r>
            <a:r>
              <a:rPr sz="1800" spc="-15" dirty="0">
                <a:latin typeface="Carlito"/>
                <a:cs typeface="Carlito"/>
              </a:rPr>
              <a:t>pairs</a:t>
            </a:r>
            <a:endParaRPr sz="1800">
              <a:latin typeface="Carlito"/>
              <a:cs typeface="Carlito"/>
            </a:endParaRPr>
          </a:p>
        </p:txBody>
      </p:sp>
      <p:sp>
        <p:nvSpPr>
          <p:cNvPr id="6" name="object 6"/>
          <p:cNvSpPr txBox="1"/>
          <p:nvPr/>
        </p:nvSpPr>
        <p:spPr>
          <a:xfrm>
            <a:off x="546676" y="5001102"/>
            <a:ext cx="2152650" cy="1397819"/>
          </a:xfrm>
          <a:prstGeom prst="rect">
            <a:avLst/>
          </a:prstGeom>
        </p:spPr>
        <p:txBody>
          <a:bodyPr vert="horz" wrap="square" lIns="0" tIns="12700" rIns="0" bIns="0" rtlCol="0">
            <a:spAutoFit/>
          </a:bodyPr>
          <a:lstStyle/>
          <a:p>
            <a:pPr marL="554990" marR="5080" indent="-314325">
              <a:lnSpc>
                <a:spcPct val="100000"/>
              </a:lnSpc>
              <a:spcBef>
                <a:spcPts val="100"/>
              </a:spcBef>
              <a:buClr>
                <a:srgbClr val="4F81BC"/>
              </a:buClr>
              <a:buFont typeface="Wingdings"/>
              <a:buChar char=""/>
              <a:tabLst>
                <a:tab pos="528320" algn="l"/>
              </a:tabLst>
            </a:pPr>
            <a:r>
              <a:rPr sz="1800" spc="-5" dirty="0">
                <a:latin typeface="Carlito"/>
                <a:cs typeface="Carlito"/>
              </a:rPr>
              <a:t>Basic</a:t>
            </a:r>
            <a:r>
              <a:rPr sz="1800" spc="-65" dirty="0">
                <a:latin typeface="Carlito"/>
                <a:cs typeface="Carlito"/>
              </a:rPr>
              <a:t> </a:t>
            </a:r>
            <a:r>
              <a:rPr sz="1800" spc="-10" dirty="0">
                <a:latin typeface="Carlito"/>
                <a:cs typeface="Carlito"/>
              </a:rPr>
              <a:t>Operations:  </a:t>
            </a:r>
            <a:r>
              <a:rPr sz="1800" spc="-20" dirty="0">
                <a:latin typeface="Carlito"/>
                <a:cs typeface="Carlito"/>
              </a:rPr>
              <a:t>Insert(key,value),  </a:t>
            </a:r>
            <a:r>
              <a:rPr sz="1800" spc="-15" dirty="0">
                <a:latin typeface="Carlito"/>
                <a:cs typeface="Carlito"/>
              </a:rPr>
              <a:t>Fetch(key),  Update(key),  Delete(key)</a:t>
            </a:r>
            <a:endParaRPr sz="1800" dirty="0">
              <a:latin typeface="Carlito"/>
              <a:cs typeface="Carlito"/>
            </a:endParaRPr>
          </a:p>
        </p:txBody>
      </p:sp>
      <p:grpSp>
        <p:nvGrpSpPr>
          <p:cNvPr id="8" name="object 8"/>
          <p:cNvGrpSpPr/>
          <p:nvPr/>
        </p:nvGrpSpPr>
        <p:grpSpPr>
          <a:xfrm>
            <a:off x="140144" y="140144"/>
            <a:ext cx="8255634" cy="788035"/>
            <a:chOff x="140144" y="140144"/>
            <a:chExt cx="8255634" cy="788035"/>
          </a:xfrm>
        </p:grpSpPr>
        <p:sp>
          <p:nvSpPr>
            <p:cNvPr id="9" name="object 9"/>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10" name="object 10"/>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11" name="object 11"/>
          <p:cNvSpPr txBox="1">
            <a:spLocks noGrp="1"/>
          </p:cNvSpPr>
          <p:nvPr>
            <p:ph type="title"/>
          </p:nvPr>
        </p:nvSpPr>
        <p:spPr>
          <a:xfrm>
            <a:off x="371957" y="217119"/>
            <a:ext cx="4023360" cy="574675"/>
          </a:xfrm>
          <a:prstGeom prst="rect">
            <a:avLst/>
          </a:prstGeom>
        </p:spPr>
        <p:txBody>
          <a:bodyPr vert="horz" wrap="square" lIns="0" tIns="12700" rIns="0" bIns="0" rtlCol="0">
            <a:spAutoFit/>
          </a:bodyPr>
          <a:lstStyle/>
          <a:p>
            <a:pPr marL="12700">
              <a:lnSpc>
                <a:spcPct val="100000"/>
              </a:lnSpc>
              <a:spcBef>
                <a:spcPts val="100"/>
              </a:spcBef>
            </a:pPr>
            <a:r>
              <a:rPr spc="-15" dirty="0"/>
              <a:t>Key-value </a:t>
            </a:r>
            <a:r>
              <a:rPr spc="-25" dirty="0"/>
              <a:t>data</a:t>
            </a:r>
            <a:r>
              <a:rPr spc="-100" dirty="0"/>
              <a:t> </a:t>
            </a:r>
            <a:r>
              <a:rPr dirty="0"/>
              <a:t>model</a:t>
            </a:r>
          </a:p>
        </p:txBody>
      </p:sp>
      <p:grpSp>
        <p:nvGrpSpPr>
          <p:cNvPr id="12" name="object 12"/>
          <p:cNvGrpSpPr/>
          <p:nvPr/>
        </p:nvGrpSpPr>
        <p:grpSpPr>
          <a:xfrm>
            <a:off x="3770376" y="0"/>
            <a:ext cx="5374005" cy="6858000"/>
            <a:chOff x="3770376" y="0"/>
            <a:chExt cx="5374005" cy="6858000"/>
          </a:xfrm>
        </p:grpSpPr>
        <p:sp>
          <p:nvSpPr>
            <p:cNvPr id="13" name="object 13"/>
            <p:cNvSpPr/>
            <p:nvPr/>
          </p:nvSpPr>
          <p:spPr>
            <a:xfrm>
              <a:off x="3770376" y="3998950"/>
              <a:ext cx="3842004" cy="2266188"/>
            </a:xfrm>
            <a:prstGeom prst="rect">
              <a:avLst/>
            </a:prstGeom>
            <a:blipFill>
              <a:blip r:embed="rId4" cstate="print"/>
              <a:stretch>
                <a:fillRect/>
              </a:stretch>
            </a:blipFill>
          </p:spPr>
          <p:txBody>
            <a:bodyPr wrap="square" lIns="0" tIns="0" rIns="0" bIns="0" rtlCol="0"/>
            <a:lstStyle/>
            <a:p>
              <a:endParaRPr/>
            </a:p>
          </p:txBody>
        </p:sp>
        <p:sp>
          <p:nvSpPr>
            <p:cNvPr id="14" name="object 14"/>
            <p:cNvSpPr/>
            <p:nvPr/>
          </p:nvSpPr>
          <p:spPr>
            <a:xfrm>
              <a:off x="3962400" y="4191000"/>
              <a:ext cx="3471672" cy="1895856"/>
            </a:xfrm>
            <a:prstGeom prst="rect">
              <a:avLst/>
            </a:prstGeom>
            <a:blipFill>
              <a:blip r:embed="rId5" cstate="print"/>
              <a:stretch>
                <a:fillRect/>
              </a:stretch>
            </a:blipFill>
          </p:spPr>
          <p:txBody>
            <a:bodyPr wrap="square" lIns="0" tIns="0" rIns="0" bIns="0" rtlCol="0"/>
            <a:lstStyle/>
            <a:p>
              <a:endParaRPr/>
            </a:p>
          </p:txBody>
        </p:sp>
        <p:sp>
          <p:nvSpPr>
            <p:cNvPr id="15" name="object 15"/>
            <p:cNvSpPr/>
            <p:nvPr/>
          </p:nvSpPr>
          <p:spPr>
            <a:xfrm>
              <a:off x="6909816" y="6007608"/>
              <a:ext cx="2234183" cy="850390"/>
            </a:xfrm>
            <a:prstGeom prst="rect">
              <a:avLst/>
            </a:prstGeom>
            <a:blipFill>
              <a:blip r:embed="rId6" cstate="print"/>
              <a:stretch>
                <a:fillRect/>
              </a:stretch>
            </a:blipFill>
          </p:spPr>
          <p:txBody>
            <a:bodyPr wrap="square" lIns="0" tIns="0" rIns="0" bIns="0" rtlCol="0"/>
            <a:lstStyle/>
            <a:p>
              <a:endParaRPr/>
            </a:p>
          </p:txBody>
        </p:sp>
        <p:sp>
          <p:nvSpPr>
            <p:cNvPr id="16" name="object 16"/>
            <p:cNvSpPr/>
            <p:nvPr/>
          </p:nvSpPr>
          <p:spPr>
            <a:xfrm>
              <a:off x="7101840" y="6199631"/>
              <a:ext cx="1879092" cy="658366"/>
            </a:xfrm>
            <a:prstGeom prst="rect">
              <a:avLst/>
            </a:prstGeom>
            <a:blipFill>
              <a:blip r:embed="rId7" cstate="print"/>
              <a:stretch>
                <a:fillRect/>
              </a:stretch>
            </a:blipFill>
          </p:spPr>
          <p:txBody>
            <a:bodyPr wrap="square" lIns="0" tIns="0" rIns="0" bIns="0" rtlCol="0"/>
            <a:lstStyle/>
            <a:p>
              <a:endParaRPr/>
            </a:p>
          </p:txBody>
        </p:sp>
        <p:sp>
          <p:nvSpPr>
            <p:cNvPr id="17" name="object 17"/>
            <p:cNvSpPr/>
            <p:nvPr/>
          </p:nvSpPr>
          <p:spPr>
            <a:xfrm>
              <a:off x="8522208" y="0"/>
              <a:ext cx="621792" cy="1066800"/>
            </a:xfrm>
            <a:prstGeom prst="rect">
              <a:avLst/>
            </a:prstGeom>
            <a:blipFill>
              <a:blip r:embed="rId8" cstate="print"/>
              <a:stretch>
                <a:fillRect/>
              </a:stretch>
            </a:blipFill>
          </p:spPr>
          <p:txBody>
            <a:bodyPr wrap="square" lIns="0" tIns="0" rIns="0" bIns="0" rtlCol="0"/>
            <a:lstStyle/>
            <a:p>
              <a:endParaRPr/>
            </a:p>
          </p:txBody>
        </p:sp>
        <p:sp>
          <p:nvSpPr>
            <p:cNvPr id="18" name="object 18"/>
            <p:cNvSpPr/>
            <p:nvPr/>
          </p:nvSpPr>
          <p:spPr>
            <a:xfrm>
              <a:off x="8420100" y="161544"/>
              <a:ext cx="723900" cy="827531"/>
            </a:xfrm>
            <a:prstGeom prst="rect">
              <a:avLst/>
            </a:prstGeom>
            <a:blipFill>
              <a:blip r:embed="rId9" cstate="print"/>
              <a:stretch>
                <a:fillRect/>
              </a:stretch>
            </a:blipFill>
          </p:spPr>
          <p:txBody>
            <a:bodyPr wrap="square" lIns="0" tIns="0" rIns="0" bIns="0" rtlCol="0"/>
            <a:lstStyle/>
            <a:p>
              <a:endParaRPr/>
            </a:p>
          </p:txBody>
        </p:sp>
        <p:sp>
          <p:nvSpPr>
            <p:cNvPr id="19" name="object 19"/>
            <p:cNvSpPr/>
            <p:nvPr/>
          </p:nvSpPr>
          <p:spPr>
            <a:xfrm>
              <a:off x="8569452" y="0"/>
              <a:ext cx="574548" cy="1001267"/>
            </a:xfrm>
            <a:prstGeom prst="rect">
              <a:avLst/>
            </a:prstGeom>
            <a:blipFill>
              <a:blip r:embed="rId10" cstate="print"/>
              <a:stretch>
                <a:fillRect/>
              </a:stretch>
            </a:blipFill>
          </p:spPr>
          <p:txBody>
            <a:bodyPr wrap="square" lIns="0" tIns="0" rIns="0" bIns="0" rtlCol="0"/>
            <a:lstStyle/>
            <a:p>
              <a:endParaRPr/>
            </a:p>
          </p:txBody>
        </p:sp>
      </p:grpSp>
      <p:sp>
        <p:nvSpPr>
          <p:cNvPr id="20" name="object 20"/>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19</a:t>
            </a:r>
            <a:endParaRPr sz="2800">
              <a:latin typeface="Carlito"/>
              <a:cs typeface="Carli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8340" y="1618234"/>
            <a:ext cx="3221990" cy="1397635"/>
          </a:xfrm>
          <a:prstGeom prst="rect">
            <a:avLst/>
          </a:prstGeom>
        </p:spPr>
        <p:txBody>
          <a:bodyPr vert="horz" wrap="square" lIns="0" tIns="12700" rIns="0" bIns="0" rtlCol="0">
            <a:spAutoFit/>
          </a:bodyPr>
          <a:lstStyle/>
          <a:p>
            <a:pPr marL="299085" indent="-287020">
              <a:lnSpc>
                <a:spcPct val="100000"/>
              </a:lnSpc>
              <a:spcBef>
                <a:spcPts val="100"/>
              </a:spcBef>
              <a:buClr>
                <a:srgbClr val="C00000"/>
              </a:buClr>
              <a:buFont typeface="Wingdings"/>
              <a:buChar char=""/>
              <a:tabLst>
                <a:tab pos="299720" algn="l"/>
              </a:tabLst>
            </a:pPr>
            <a:r>
              <a:rPr sz="1800" spc="-5" dirty="0">
                <a:latin typeface="Carlito"/>
                <a:cs typeface="Carlito"/>
              </a:rPr>
              <a:t>The </a:t>
            </a:r>
            <a:r>
              <a:rPr sz="1800" spc="-10" dirty="0">
                <a:latin typeface="Carlito"/>
                <a:cs typeface="Carlito"/>
              </a:rPr>
              <a:t>column </a:t>
            </a:r>
            <a:r>
              <a:rPr sz="1800" spc="-5" dirty="0">
                <a:latin typeface="Carlito"/>
                <a:cs typeface="Carlito"/>
              </a:rPr>
              <a:t>is</a:t>
            </a:r>
            <a:r>
              <a:rPr sz="1800" spc="5" dirty="0">
                <a:latin typeface="Carlito"/>
                <a:cs typeface="Carlito"/>
              </a:rPr>
              <a:t> </a:t>
            </a:r>
            <a:r>
              <a:rPr sz="1800" spc="-10" dirty="0">
                <a:latin typeface="Carlito"/>
                <a:cs typeface="Carlito"/>
              </a:rPr>
              <a:t>lowest/smallest</a:t>
            </a:r>
            <a:endParaRPr sz="1800">
              <a:latin typeface="Carlito"/>
              <a:cs typeface="Carlito"/>
            </a:endParaRPr>
          </a:p>
          <a:p>
            <a:pPr marL="299085">
              <a:lnSpc>
                <a:spcPct val="100000"/>
              </a:lnSpc>
            </a:pPr>
            <a:r>
              <a:rPr sz="1800" spc="-10" dirty="0">
                <a:latin typeface="Carlito"/>
                <a:cs typeface="Carlito"/>
              </a:rPr>
              <a:t>instance </a:t>
            </a:r>
            <a:r>
              <a:rPr sz="1800" spc="-5" dirty="0">
                <a:latin typeface="Carlito"/>
                <a:cs typeface="Carlito"/>
              </a:rPr>
              <a:t>of</a:t>
            </a:r>
            <a:r>
              <a:rPr sz="1800" spc="20" dirty="0">
                <a:latin typeface="Carlito"/>
                <a:cs typeface="Carlito"/>
              </a:rPr>
              <a:t> </a:t>
            </a:r>
            <a:r>
              <a:rPr sz="1800" spc="-10" dirty="0">
                <a:latin typeface="Carlito"/>
                <a:cs typeface="Carlito"/>
              </a:rPr>
              <a:t>data.</a:t>
            </a:r>
            <a:endParaRPr sz="1800">
              <a:latin typeface="Carlito"/>
              <a:cs typeface="Carlito"/>
            </a:endParaRPr>
          </a:p>
          <a:p>
            <a:pPr>
              <a:lnSpc>
                <a:spcPct val="100000"/>
              </a:lnSpc>
              <a:spcBef>
                <a:spcPts val="25"/>
              </a:spcBef>
            </a:pPr>
            <a:endParaRPr sz="1750">
              <a:latin typeface="Carlito"/>
              <a:cs typeface="Carlito"/>
            </a:endParaRPr>
          </a:p>
          <a:p>
            <a:pPr marL="299085" marR="5080" indent="-287020">
              <a:lnSpc>
                <a:spcPct val="100000"/>
              </a:lnSpc>
              <a:buFont typeface="Wingdings"/>
              <a:buChar char=""/>
              <a:tabLst>
                <a:tab pos="299720" algn="l"/>
              </a:tabLst>
            </a:pPr>
            <a:r>
              <a:rPr sz="1800" dirty="0">
                <a:latin typeface="Carlito"/>
                <a:cs typeface="Carlito"/>
              </a:rPr>
              <a:t>It is a </a:t>
            </a:r>
            <a:r>
              <a:rPr sz="1800" spc="-5" dirty="0">
                <a:latin typeface="Carlito"/>
                <a:cs typeface="Carlito"/>
              </a:rPr>
              <a:t>tuple that </a:t>
            </a:r>
            <a:r>
              <a:rPr sz="1800" spc="-10" dirty="0">
                <a:latin typeface="Carlito"/>
                <a:cs typeface="Carlito"/>
              </a:rPr>
              <a:t>contains </a:t>
            </a:r>
            <a:r>
              <a:rPr sz="1800" dirty="0">
                <a:latin typeface="Carlito"/>
                <a:cs typeface="Carlito"/>
              </a:rPr>
              <a:t>a  </a:t>
            </a:r>
            <a:r>
              <a:rPr sz="1800" spc="-5" dirty="0">
                <a:latin typeface="Carlito"/>
                <a:cs typeface="Carlito"/>
              </a:rPr>
              <a:t>name, </a:t>
            </a:r>
            <a:r>
              <a:rPr sz="1800" dirty="0">
                <a:latin typeface="Carlito"/>
                <a:cs typeface="Carlito"/>
              </a:rPr>
              <a:t>a </a:t>
            </a:r>
            <a:r>
              <a:rPr sz="1800" spc="-5" dirty="0">
                <a:latin typeface="Carlito"/>
                <a:cs typeface="Carlito"/>
              </a:rPr>
              <a:t>value </a:t>
            </a:r>
            <a:r>
              <a:rPr sz="1800" dirty="0">
                <a:latin typeface="Carlito"/>
                <a:cs typeface="Carlito"/>
              </a:rPr>
              <a:t>and a</a:t>
            </a:r>
            <a:r>
              <a:rPr sz="1800" spc="-25" dirty="0">
                <a:latin typeface="Carlito"/>
                <a:cs typeface="Carlito"/>
              </a:rPr>
              <a:t> </a:t>
            </a:r>
            <a:r>
              <a:rPr sz="1800" spc="-10" dirty="0">
                <a:latin typeface="Carlito"/>
                <a:cs typeface="Carlito"/>
              </a:rPr>
              <a:t>timestamp</a:t>
            </a:r>
            <a:endParaRPr sz="1800">
              <a:latin typeface="Carlito"/>
              <a:cs typeface="Carlito"/>
            </a:endParaRPr>
          </a:p>
        </p:txBody>
      </p:sp>
      <p:grpSp>
        <p:nvGrpSpPr>
          <p:cNvPr id="3" name="object 3"/>
          <p:cNvGrpSpPr/>
          <p:nvPr/>
        </p:nvGrpSpPr>
        <p:grpSpPr>
          <a:xfrm>
            <a:off x="0" y="1112867"/>
            <a:ext cx="8904605" cy="5446395"/>
            <a:chOff x="0" y="1112867"/>
            <a:chExt cx="8904605" cy="5446395"/>
          </a:xfrm>
        </p:grpSpPr>
        <p:sp>
          <p:nvSpPr>
            <p:cNvPr id="4" name="object 4"/>
            <p:cNvSpPr/>
            <p:nvPr/>
          </p:nvSpPr>
          <p:spPr>
            <a:xfrm>
              <a:off x="4540858" y="1112867"/>
              <a:ext cx="4363122" cy="4457487"/>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0" y="3386277"/>
              <a:ext cx="4680204" cy="3172968"/>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52400" y="3581399"/>
              <a:ext cx="4152900" cy="2602992"/>
            </a:xfrm>
            <a:prstGeom prst="rect">
              <a:avLst/>
            </a:prstGeom>
            <a:blipFill>
              <a:blip r:embed="rId4" cstate="print"/>
              <a:stretch>
                <a:fillRect/>
              </a:stretch>
            </a:blipFill>
          </p:spPr>
          <p:txBody>
            <a:bodyPr wrap="square" lIns="0" tIns="0" rIns="0" bIns="0" rtlCol="0"/>
            <a:lstStyle/>
            <a:p>
              <a:endParaRPr/>
            </a:p>
          </p:txBody>
        </p:sp>
      </p:grpSp>
      <p:grpSp>
        <p:nvGrpSpPr>
          <p:cNvPr id="7" name="object 7"/>
          <p:cNvGrpSpPr/>
          <p:nvPr/>
        </p:nvGrpSpPr>
        <p:grpSpPr>
          <a:xfrm>
            <a:off x="140144" y="140144"/>
            <a:ext cx="8255634" cy="788035"/>
            <a:chOff x="140144" y="140144"/>
            <a:chExt cx="8255634" cy="788035"/>
          </a:xfrm>
        </p:grpSpPr>
        <p:sp>
          <p:nvSpPr>
            <p:cNvPr id="8" name="object 8"/>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9" name="object 9"/>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10" name="object 10"/>
          <p:cNvSpPr txBox="1">
            <a:spLocks noGrp="1"/>
          </p:cNvSpPr>
          <p:nvPr>
            <p:ph type="title"/>
          </p:nvPr>
        </p:nvSpPr>
        <p:spPr>
          <a:xfrm>
            <a:off x="268325" y="217119"/>
            <a:ext cx="4900930" cy="574675"/>
          </a:xfrm>
          <a:prstGeom prst="rect">
            <a:avLst/>
          </a:prstGeom>
        </p:spPr>
        <p:txBody>
          <a:bodyPr vert="horz" wrap="square" lIns="0" tIns="12700" rIns="0" bIns="0" rtlCol="0">
            <a:spAutoFit/>
          </a:bodyPr>
          <a:lstStyle/>
          <a:p>
            <a:pPr marL="12700">
              <a:lnSpc>
                <a:spcPct val="100000"/>
              </a:lnSpc>
              <a:spcBef>
                <a:spcPts val="100"/>
              </a:spcBef>
            </a:pPr>
            <a:r>
              <a:rPr spc="-5" dirty="0"/>
              <a:t>Column </a:t>
            </a:r>
            <a:r>
              <a:rPr spc="-15" dirty="0"/>
              <a:t>family </a:t>
            </a:r>
            <a:r>
              <a:rPr spc="-25" dirty="0"/>
              <a:t>data</a:t>
            </a:r>
            <a:r>
              <a:rPr spc="-65" dirty="0"/>
              <a:t> </a:t>
            </a:r>
            <a:r>
              <a:rPr dirty="0"/>
              <a:t>model</a:t>
            </a:r>
          </a:p>
        </p:txBody>
      </p:sp>
      <p:grpSp>
        <p:nvGrpSpPr>
          <p:cNvPr id="11" name="object 11"/>
          <p:cNvGrpSpPr/>
          <p:nvPr/>
        </p:nvGrpSpPr>
        <p:grpSpPr>
          <a:xfrm>
            <a:off x="8420100" y="0"/>
            <a:ext cx="723900" cy="1057910"/>
            <a:chOff x="8420100" y="0"/>
            <a:chExt cx="723900" cy="1057910"/>
          </a:xfrm>
        </p:grpSpPr>
        <p:sp>
          <p:nvSpPr>
            <p:cNvPr id="12" name="object 12"/>
            <p:cNvSpPr/>
            <p:nvPr/>
          </p:nvSpPr>
          <p:spPr>
            <a:xfrm>
              <a:off x="8531219" y="0"/>
              <a:ext cx="612780" cy="1057759"/>
            </a:xfrm>
            <a:prstGeom prst="rect">
              <a:avLst/>
            </a:prstGeom>
            <a:blipFill>
              <a:blip r:embed="rId5" cstate="print"/>
              <a:stretch>
                <a:fillRect/>
              </a:stretch>
            </a:blipFill>
          </p:spPr>
          <p:txBody>
            <a:bodyPr wrap="square" lIns="0" tIns="0" rIns="0" bIns="0" rtlCol="0"/>
            <a:lstStyle/>
            <a:p>
              <a:endParaRPr/>
            </a:p>
          </p:txBody>
        </p:sp>
        <p:sp>
          <p:nvSpPr>
            <p:cNvPr id="13" name="object 13"/>
            <p:cNvSpPr/>
            <p:nvPr/>
          </p:nvSpPr>
          <p:spPr>
            <a:xfrm>
              <a:off x="8420100" y="161544"/>
              <a:ext cx="723900" cy="827531"/>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8569452" y="0"/>
              <a:ext cx="574548" cy="1001267"/>
            </a:xfrm>
            <a:prstGeom prst="rect">
              <a:avLst/>
            </a:prstGeom>
            <a:blipFill>
              <a:blip r:embed="rId7" cstate="print"/>
              <a:stretch>
                <a:fillRect/>
              </a:stretch>
            </a:blipFill>
          </p:spPr>
          <p:txBody>
            <a:bodyPr wrap="square" lIns="0" tIns="0" rIns="0" bIns="0" rtlCol="0"/>
            <a:lstStyle/>
            <a:p>
              <a:endParaRPr/>
            </a:p>
          </p:txBody>
        </p:sp>
      </p:grpSp>
      <p:sp>
        <p:nvSpPr>
          <p:cNvPr id="15" name="object 15"/>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20</a:t>
            </a:r>
            <a:endParaRPr sz="2800">
              <a:latin typeface="Carlito"/>
              <a:cs typeface="Carl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24916" y="1698497"/>
            <a:ext cx="7160259" cy="3168015"/>
          </a:xfrm>
          <a:prstGeom prst="rect">
            <a:avLst/>
          </a:prstGeom>
        </p:spPr>
        <p:txBody>
          <a:bodyPr vert="horz" wrap="square" lIns="0" tIns="12700" rIns="0" bIns="0" rtlCol="0">
            <a:spAutoFit/>
          </a:bodyPr>
          <a:lstStyle/>
          <a:p>
            <a:pPr marL="12700">
              <a:lnSpc>
                <a:spcPct val="100000"/>
              </a:lnSpc>
              <a:spcBef>
                <a:spcPts val="100"/>
              </a:spcBef>
            </a:pPr>
            <a:r>
              <a:rPr sz="2400" b="1" dirty="0">
                <a:latin typeface="Carlito"/>
                <a:cs typeface="Carlito"/>
              </a:rPr>
              <a:t>Some </a:t>
            </a:r>
            <a:r>
              <a:rPr sz="2400" b="1" spc="-15" dirty="0">
                <a:latin typeface="Carlito"/>
                <a:cs typeface="Carlito"/>
              </a:rPr>
              <a:t>statistics </a:t>
            </a:r>
            <a:r>
              <a:rPr sz="2400" b="1" dirty="0">
                <a:latin typeface="Carlito"/>
                <a:cs typeface="Carlito"/>
              </a:rPr>
              <a:t>about </a:t>
            </a:r>
            <a:r>
              <a:rPr sz="2400" b="1" spc="-10" dirty="0">
                <a:latin typeface="Carlito"/>
                <a:cs typeface="Carlito"/>
              </a:rPr>
              <a:t>Facebook Search </a:t>
            </a:r>
            <a:r>
              <a:rPr sz="2400" spc="-5" dirty="0">
                <a:latin typeface="Carlito"/>
                <a:cs typeface="Carlito"/>
              </a:rPr>
              <a:t>(using</a:t>
            </a:r>
            <a:r>
              <a:rPr sz="2400" spc="5" dirty="0">
                <a:latin typeface="Carlito"/>
                <a:cs typeface="Carlito"/>
              </a:rPr>
              <a:t> </a:t>
            </a:r>
            <a:r>
              <a:rPr sz="2400" b="1" spc="-10" dirty="0">
                <a:solidFill>
                  <a:srgbClr val="00AFEF"/>
                </a:solidFill>
                <a:latin typeface="Carlito"/>
                <a:cs typeface="Carlito"/>
              </a:rPr>
              <a:t>Cassandra</a:t>
            </a:r>
            <a:r>
              <a:rPr sz="2400" spc="-10" dirty="0">
                <a:latin typeface="Carlito"/>
                <a:cs typeface="Carlito"/>
              </a:rPr>
              <a:t>)</a:t>
            </a:r>
            <a:endParaRPr sz="2400">
              <a:latin typeface="Carlito"/>
              <a:cs typeface="Carlito"/>
            </a:endParaRPr>
          </a:p>
          <a:p>
            <a:pPr>
              <a:lnSpc>
                <a:spcPct val="100000"/>
              </a:lnSpc>
              <a:spcBef>
                <a:spcPts val="10"/>
              </a:spcBef>
            </a:pPr>
            <a:endParaRPr sz="2350">
              <a:latin typeface="Carlito"/>
              <a:cs typeface="Carlito"/>
            </a:endParaRPr>
          </a:p>
          <a:p>
            <a:pPr marL="355600" indent="-342900">
              <a:lnSpc>
                <a:spcPct val="100000"/>
              </a:lnSpc>
              <a:buFont typeface="Wingdings"/>
              <a:buChar char=""/>
              <a:tabLst>
                <a:tab pos="355600" algn="l"/>
              </a:tabLst>
            </a:pPr>
            <a:r>
              <a:rPr sz="2400" dirty="0">
                <a:latin typeface="Carlito"/>
                <a:cs typeface="Carlito"/>
              </a:rPr>
              <a:t>MySQL &gt; 50 GB</a:t>
            </a:r>
            <a:r>
              <a:rPr sz="2400" spc="-40" dirty="0">
                <a:latin typeface="Carlito"/>
                <a:cs typeface="Carlito"/>
              </a:rPr>
              <a:t> </a:t>
            </a:r>
            <a:r>
              <a:rPr sz="2400" spc="-15" dirty="0">
                <a:latin typeface="Carlito"/>
                <a:cs typeface="Carlito"/>
              </a:rPr>
              <a:t>Data</a:t>
            </a:r>
            <a:endParaRPr sz="2400">
              <a:latin typeface="Carlito"/>
              <a:cs typeface="Carlito"/>
            </a:endParaRPr>
          </a:p>
          <a:p>
            <a:pPr marL="812800" lvl="1" indent="-343535">
              <a:lnSpc>
                <a:spcPct val="100000"/>
              </a:lnSpc>
              <a:spcBef>
                <a:spcPts val="20"/>
              </a:spcBef>
              <a:buFont typeface="Wingdings"/>
              <a:buChar char=""/>
              <a:tabLst>
                <a:tab pos="813435" algn="l"/>
              </a:tabLst>
            </a:pPr>
            <a:r>
              <a:rPr sz="2200" spc="-20" dirty="0">
                <a:latin typeface="Carlito"/>
                <a:cs typeface="Carlito"/>
              </a:rPr>
              <a:t>Writes </a:t>
            </a:r>
            <a:r>
              <a:rPr sz="2200" spc="-25" dirty="0">
                <a:latin typeface="Carlito"/>
                <a:cs typeface="Carlito"/>
              </a:rPr>
              <a:t>Average </a:t>
            </a:r>
            <a:r>
              <a:rPr sz="2200" spc="-5" dirty="0">
                <a:latin typeface="Carlito"/>
                <a:cs typeface="Carlito"/>
              </a:rPr>
              <a:t>: ~300</a:t>
            </a:r>
            <a:r>
              <a:rPr sz="2200" spc="65" dirty="0">
                <a:latin typeface="Carlito"/>
                <a:cs typeface="Carlito"/>
              </a:rPr>
              <a:t> </a:t>
            </a:r>
            <a:r>
              <a:rPr sz="2200" spc="-5" dirty="0">
                <a:latin typeface="Carlito"/>
                <a:cs typeface="Carlito"/>
              </a:rPr>
              <a:t>ms</a:t>
            </a:r>
            <a:endParaRPr sz="2200">
              <a:latin typeface="Carlito"/>
              <a:cs typeface="Carlito"/>
            </a:endParaRPr>
          </a:p>
          <a:p>
            <a:pPr marL="812800" lvl="1" indent="-343535">
              <a:lnSpc>
                <a:spcPct val="100000"/>
              </a:lnSpc>
              <a:buFont typeface="Wingdings"/>
              <a:buChar char=""/>
              <a:tabLst>
                <a:tab pos="813435" algn="l"/>
              </a:tabLst>
            </a:pPr>
            <a:r>
              <a:rPr sz="2200" spc="-10" dirty="0">
                <a:latin typeface="Carlito"/>
                <a:cs typeface="Carlito"/>
              </a:rPr>
              <a:t>Reads </a:t>
            </a:r>
            <a:r>
              <a:rPr sz="2200" spc="-25" dirty="0">
                <a:latin typeface="Carlito"/>
                <a:cs typeface="Carlito"/>
              </a:rPr>
              <a:t>Average </a:t>
            </a:r>
            <a:r>
              <a:rPr sz="2200" spc="-5" dirty="0">
                <a:latin typeface="Carlito"/>
                <a:cs typeface="Carlito"/>
              </a:rPr>
              <a:t>: </a:t>
            </a:r>
            <a:r>
              <a:rPr sz="2200" spc="-10" dirty="0">
                <a:latin typeface="Carlito"/>
                <a:cs typeface="Carlito"/>
              </a:rPr>
              <a:t>~350</a:t>
            </a:r>
            <a:r>
              <a:rPr sz="2200" spc="70" dirty="0">
                <a:latin typeface="Carlito"/>
                <a:cs typeface="Carlito"/>
              </a:rPr>
              <a:t> </a:t>
            </a:r>
            <a:r>
              <a:rPr sz="2200" spc="-10" dirty="0">
                <a:latin typeface="Carlito"/>
                <a:cs typeface="Carlito"/>
              </a:rPr>
              <a:t>ms</a:t>
            </a:r>
            <a:endParaRPr sz="2200">
              <a:latin typeface="Carlito"/>
              <a:cs typeface="Carlito"/>
            </a:endParaRPr>
          </a:p>
          <a:p>
            <a:pPr lvl="1">
              <a:lnSpc>
                <a:spcPct val="100000"/>
              </a:lnSpc>
              <a:spcBef>
                <a:spcPts val="55"/>
              </a:spcBef>
              <a:buFont typeface="Wingdings"/>
              <a:buChar char=""/>
            </a:pPr>
            <a:endParaRPr sz="2100">
              <a:latin typeface="Carlito"/>
              <a:cs typeface="Carlito"/>
            </a:endParaRPr>
          </a:p>
          <a:p>
            <a:pPr marL="355600" indent="-342900">
              <a:lnSpc>
                <a:spcPct val="100000"/>
              </a:lnSpc>
              <a:spcBef>
                <a:spcPts val="5"/>
              </a:spcBef>
              <a:buFont typeface="Wingdings"/>
              <a:buChar char=""/>
              <a:tabLst>
                <a:tab pos="355600" algn="l"/>
              </a:tabLst>
            </a:pPr>
            <a:r>
              <a:rPr sz="2400" spc="-15" dirty="0">
                <a:latin typeface="Carlito"/>
                <a:cs typeface="Carlito"/>
              </a:rPr>
              <a:t>Rewritten </a:t>
            </a:r>
            <a:r>
              <a:rPr sz="2400" dirty="0">
                <a:latin typeface="Carlito"/>
                <a:cs typeface="Carlito"/>
              </a:rPr>
              <a:t>with </a:t>
            </a:r>
            <a:r>
              <a:rPr sz="2400" spc="-10" dirty="0">
                <a:latin typeface="Carlito"/>
                <a:cs typeface="Carlito"/>
              </a:rPr>
              <a:t>Cassandra </a:t>
            </a:r>
            <a:r>
              <a:rPr sz="2400" dirty="0">
                <a:latin typeface="Carlito"/>
                <a:cs typeface="Carlito"/>
              </a:rPr>
              <a:t>&gt; 50 GB</a:t>
            </a:r>
            <a:r>
              <a:rPr sz="2400" spc="-55" dirty="0">
                <a:latin typeface="Carlito"/>
                <a:cs typeface="Carlito"/>
              </a:rPr>
              <a:t> </a:t>
            </a:r>
            <a:r>
              <a:rPr sz="2400" spc="-15" dirty="0">
                <a:latin typeface="Carlito"/>
                <a:cs typeface="Carlito"/>
              </a:rPr>
              <a:t>Data</a:t>
            </a:r>
            <a:endParaRPr sz="2400">
              <a:latin typeface="Carlito"/>
              <a:cs typeface="Carlito"/>
            </a:endParaRPr>
          </a:p>
          <a:p>
            <a:pPr marL="812800" lvl="1" indent="-343535">
              <a:lnSpc>
                <a:spcPct val="100000"/>
              </a:lnSpc>
              <a:spcBef>
                <a:spcPts val="20"/>
              </a:spcBef>
              <a:buFont typeface="Wingdings"/>
              <a:buChar char=""/>
              <a:tabLst>
                <a:tab pos="813435" algn="l"/>
              </a:tabLst>
            </a:pPr>
            <a:r>
              <a:rPr sz="2200" spc="-20" dirty="0">
                <a:latin typeface="Carlito"/>
                <a:cs typeface="Carlito"/>
              </a:rPr>
              <a:t>Writes </a:t>
            </a:r>
            <a:r>
              <a:rPr sz="2200" spc="-25" dirty="0">
                <a:latin typeface="Carlito"/>
                <a:cs typeface="Carlito"/>
              </a:rPr>
              <a:t>Average </a:t>
            </a:r>
            <a:r>
              <a:rPr sz="2200" spc="-5" dirty="0">
                <a:latin typeface="Carlito"/>
                <a:cs typeface="Carlito"/>
              </a:rPr>
              <a:t>: 0.12</a:t>
            </a:r>
            <a:r>
              <a:rPr sz="2200" spc="60" dirty="0">
                <a:latin typeface="Carlito"/>
                <a:cs typeface="Carlito"/>
              </a:rPr>
              <a:t> </a:t>
            </a:r>
            <a:r>
              <a:rPr sz="2200" spc="-5" dirty="0">
                <a:latin typeface="Carlito"/>
                <a:cs typeface="Carlito"/>
              </a:rPr>
              <a:t>ms</a:t>
            </a:r>
            <a:endParaRPr sz="2200">
              <a:latin typeface="Carlito"/>
              <a:cs typeface="Carlito"/>
            </a:endParaRPr>
          </a:p>
          <a:p>
            <a:pPr marL="812800" lvl="1" indent="-343535">
              <a:lnSpc>
                <a:spcPct val="100000"/>
              </a:lnSpc>
              <a:buFont typeface="Wingdings"/>
              <a:buChar char=""/>
              <a:tabLst>
                <a:tab pos="813435" algn="l"/>
              </a:tabLst>
            </a:pPr>
            <a:r>
              <a:rPr sz="2200" spc="-10" dirty="0">
                <a:latin typeface="Carlito"/>
                <a:cs typeface="Carlito"/>
              </a:rPr>
              <a:t>Reads </a:t>
            </a:r>
            <a:r>
              <a:rPr sz="2200" spc="-25" dirty="0">
                <a:latin typeface="Carlito"/>
                <a:cs typeface="Carlito"/>
              </a:rPr>
              <a:t>Average </a:t>
            </a:r>
            <a:r>
              <a:rPr sz="2200" spc="-5" dirty="0">
                <a:latin typeface="Carlito"/>
                <a:cs typeface="Carlito"/>
              </a:rPr>
              <a:t>: 15</a:t>
            </a:r>
            <a:r>
              <a:rPr sz="2200" spc="60" dirty="0">
                <a:latin typeface="Carlito"/>
                <a:cs typeface="Carlito"/>
              </a:rPr>
              <a:t> </a:t>
            </a:r>
            <a:r>
              <a:rPr sz="2200" spc="-5" dirty="0">
                <a:latin typeface="Carlito"/>
                <a:cs typeface="Carlito"/>
              </a:rPr>
              <a:t>ms</a:t>
            </a:r>
            <a:endParaRPr sz="2200">
              <a:latin typeface="Carlito"/>
              <a:cs typeface="Carlito"/>
            </a:endParaRPr>
          </a:p>
        </p:txBody>
      </p:sp>
      <p:sp>
        <p:nvSpPr>
          <p:cNvPr id="3" name="object 3"/>
          <p:cNvSpPr/>
          <p:nvPr/>
        </p:nvSpPr>
        <p:spPr>
          <a:xfrm>
            <a:off x="6172200" y="4419600"/>
            <a:ext cx="2591556" cy="1752600"/>
          </a:xfrm>
          <a:prstGeom prst="rect">
            <a:avLst/>
          </a:prstGeom>
          <a:blipFill>
            <a:blip r:embed="rId2" cstate="print"/>
            <a:stretch>
              <a:fillRect/>
            </a:stretch>
          </a:blipFill>
        </p:spPr>
        <p:txBody>
          <a:bodyPr wrap="square" lIns="0" tIns="0" rIns="0" bIns="0" rtlCol="0"/>
          <a:lstStyle/>
          <a:p>
            <a:endParaRPr/>
          </a:p>
        </p:txBody>
      </p:sp>
      <p:grpSp>
        <p:nvGrpSpPr>
          <p:cNvPr id="4" name="object 4"/>
          <p:cNvGrpSpPr/>
          <p:nvPr/>
        </p:nvGrpSpPr>
        <p:grpSpPr>
          <a:xfrm>
            <a:off x="140144" y="140144"/>
            <a:ext cx="8255634" cy="788035"/>
            <a:chOff x="140144" y="140144"/>
            <a:chExt cx="8255634" cy="788035"/>
          </a:xfrm>
        </p:grpSpPr>
        <p:sp>
          <p:nvSpPr>
            <p:cNvPr id="5" name="object 5"/>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6" name="object 6"/>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7" name="object 7"/>
          <p:cNvSpPr txBox="1">
            <a:spLocks noGrp="1"/>
          </p:cNvSpPr>
          <p:nvPr>
            <p:ph type="title"/>
          </p:nvPr>
        </p:nvSpPr>
        <p:spPr>
          <a:xfrm>
            <a:off x="268325" y="217119"/>
            <a:ext cx="4900930" cy="574675"/>
          </a:xfrm>
          <a:prstGeom prst="rect">
            <a:avLst/>
          </a:prstGeom>
        </p:spPr>
        <p:txBody>
          <a:bodyPr vert="horz" wrap="square" lIns="0" tIns="12700" rIns="0" bIns="0" rtlCol="0">
            <a:spAutoFit/>
          </a:bodyPr>
          <a:lstStyle/>
          <a:p>
            <a:pPr marL="12700">
              <a:lnSpc>
                <a:spcPct val="100000"/>
              </a:lnSpc>
              <a:spcBef>
                <a:spcPts val="100"/>
              </a:spcBef>
            </a:pPr>
            <a:r>
              <a:rPr spc="-5" dirty="0"/>
              <a:t>Column </a:t>
            </a:r>
            <a:r>
              <a:rPr spc="-15" dirty="0"/>
              <a:t>family </a:t>
            </a:r>
            <a:r>
              <a:rPr spc="-25" dirty="0"/>
              <a:t>data</a:t>
            </a:r>
            <a:r>
              <a:rPr spc="-65" dirty="0"/>
              <a:t> </a:t>
            </a:r>
            <a:r>
              <a:rPr dirty="0"/>
              <a:t>model</a:t>
            </a:r>
          </a:p>
        </p:txBody>
      </p:sp>
      <p:grpSp>
        <p:nvGrpSpPr>
          <p:cNvPr id="8" name="object 8"/>
          <p:cNvGrpSpPr/>
          <p:nvPr/>
        </p:nvGrpSpPr>
        <p:grpSpPr>
          <a:xfrm>
            <a:off x="8420100" y="0"/>
            <a:ext cx="723900" cy="1057910"/>
            <a:chOff x="8420100" y="0"/>
            <a:chExt cx="723900" cy="1057910"/>
          </a:xfrm>
        </p:grpSpPr>
        <p:sp>
          <p:nvSpPr>
            <p:cNvPr id="9" name="object 9"/>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8420100" y="161544"/>
              <a:ext cx="723900" cy="827531"/>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2" name="object 12"/>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21</a:t>
            </a:r>
            <a:endParaRPr sz="2800">
              <a:latin typeface="Carlito"/>
              <a:cs typeface="Carli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24916" y="1171194"/>
            <a:ext cx="3600450" cy="1397635"/>
          </a:xfrm>
          <a:prstGeom prst="rect">
            <a:avLst/>
          </a:prstGeom>
        </p:spPr>
        <p:txBody>
          <a:bodyPr vert="horz" wrap="square" lIns="0" tIns="12700" rIns="0" bIns="0" rtlCol="0">
            <a:spAutoFit/>
          </a:bodyPr>
          <a:lstStyle/>
          <a:p>
            <a:pPr marL="299085" indent="-287020">
              <a:lnSpc>
                <a:spcPct val="100000"/>
              </a:lnSpc>
              <a:spcBef>
                <a:spcPts val="100"/>
              </a:spcBef>
              <a:buClr>
                <a:srgbClr val="4F81BC"/>
              </a:buClr>
              <a:buFont typeface="Wingdings"/>
              <a:buChar char=""/>
              <a:tabLst>
                <a:tab pos="299720" algn="l"/>
              </a:tabLst>
            </a:pPr>
            <a:r>
              <a:rPr sz="1800" dirty="0">
                <a:latin typeface="Carlito"/>
                <a:cs typeface="Carlito"/>
              </a:rPr>
              <a:t>Based </a:t>
            </a:r>
            <a:r>
              <a:rPr sz="1800" spc="-5" dirty="0">
                <a:latin typeface="Carlito"/>
                <a:cs typeface="Carlito"/>
              </a:rPr>
              <a:t>on </a:t>
            </a:r>
            <a:r>
              <a:rPr sz="1800" spc="-10" dirty="0">
                <a:latin typeface="Carlito"/>
                <a:cs typeface="Carlito"/>
              </a:rPr>
              <a:t>Graph</a:t>
            </a:r>
            <a:r>
              <a:rPr sz="1800" dirty="0">
                <a:latin typeface="Carlito"/>
                <a:cs typeface="Carlito"/>
              </a:rPr>
              <a:t> </a:t>
            </a:r>
            <a:r>
              <a:rPr sz="1800" spc="-20" dirty="0">
                <a:latin typeface="Carlito"/>
                <a:cs typeface="Carlito"/>
              </a:rPr>
              <a:t>Theory.</a:t>
            </a:r>
            <a:endParaRPr sz="1800">
              <a:latin typeface="Carlito"/>
              <a:cs typeface="Carlito"/>
            </a:endParaRPr>
          </a:p>
          <a:p>
            <a:pPr marL="299085" indent="-287020">
              <a:lnSpc>
                <a:spcPct val="100000"/>
              </a:lnSpc>
              <a:buClr>
                <a:srgbClr val="4F81BC"/>
              </a:buClr>
              <a:buFont typeface="Wingdings"/>
              <a:buChar char=""/>
              <a:tabLst>
                <a:tab pos="299720" algn="l"/>
              </a:tabLst>
            </a:pPr>
            <a:r>
              <a:rPr sz="1800" spc="-5" dirty="0">
                <a:latin typeface="Carlito"/>
                <a:cs typeface="Carlito"/>
              </a:rPr>
              <a:t>Scale </a:t>
            </a:r>
            <a:r>
              <a:rPr sz="1800" spc="-20" dirty="0">
                <a:latin typeface="Carlito"/>
                <a:cs typeface="Carlito"/>
              </a:rPr>
              <a:t>vertically, </a:t>
            </a:r>
            <a:r>
              <a:rPr sz="1800" spc="-5" dirty="0">
                <a:latin typeface="Carlito"/>
                <a:cs typeface="Carlito"/>
              </a:rPr>
              <a:t>no</a:t>
            </a:r>
            <a:r>
              <a:rPr sz="1800" spc="40" dirty="0">
                <a:latin typeface="Carlito"/>
                <a:cs typeface="Carlito"/>
              </a:rPr>
              <a:t> </a:t>
            </a:r>
            <a:r>
              <a:rPr sz="1800" spc="-10" dirty="0">
                <a:latin typeface="Carlito"/>
                <a:cs typeface="Carlito"/>
              </a:rPr>
              <a:t>clustering.</a:t>
            </a:r>
            <a:endParaRPr sz="1800">
              <a:latin typeface="Carlito"/>
              <a:cs typeface="Carlito"/>
            </a:endParaRPr>
          </a:p>
          <a:p>
            <a:pPr marL="299085" indent="-287020">
              <a:lnSpc>
                <a:spcPct val="100000"/>
              </a:lnSpc>
              <a:buClr>
                <a:srgbClr val="4F81BC"/>
              </a:buClr>
              <a:buFont typeface="Wingdings"/>
              <a:buChar char=""/>
              <a:tabLst>
                <a:tab pos="299720" algn="l"/>
              </a:tabLst>
            </a:pPr>
            <a:r>
              <a:rPr sz="1800" spc="-50" dirty="0">
                <a:latin typeface="Carlito"/>
                <a:cs typeface="Carlito"/>
              </a:rPr>
              <a:t>You </a:t>
            </a:r>
            <a:r>
              <a:rPr sz="1800" spc="-5" dirty="0">
                <a:latin typeface="Carlito"/>
                <a:cs typeface="Carlito"/>
              </a:rPr>
              <a:t>can use </a:t>
            </a:r>
            <a:r>
              <a:rPr sz="1800" spc="-10" dirty="0">
                <a:latin typeface="Carlito"/>
                <a:cs typeface="Carlito"/>
              </a:rPr>
              <a:t>graph </a:t>
            </a:r>
            <a:r>
              <a:rPr sz="1800" spc="-5" dirty="0">
                <a:latin typeface="Carlito"/>
                <a:cs typeface="Carlito"/>
              </a:rPr>
              <a:t>algorithms</a:t>
            </a:r>
            <a:r>
              <a:rPr sz="1800" spc="65" dirty="0">
                <a:latin typeface="Carlito"/>
                <a:cs typeface="Carlito"/>
              </a:rPr>
              <a:t> </a:t>
            </a:r>
            <a:r>
              <a:rPr sz="1800" spc="-5" dirty="0">
                <a:latin typeface="Carlito"/>
                <a:cs typeface="Carlito"/>
              </a:rPr>
              <a:t>easily</a:t>
            </a:r>
            <a:endParaRPr sz="1800">
              <a:latin typeface="Carlito"/>
              <a:cs typeface="Carlito"/>
            </a:endParaRPr>
          </a:p>
          <a:p>
            <a:pPr marL="299085" indent="-287020">
              <a:lnSpc>
                <a:spcPct val="100000"/>
              </a:lnSpc>
              <a:buClr>
                <a:srgbClr val="4F81BC"/>
              </a:buClr>
              <a:buFont typeface="Wingdings"/>
              <a:buChar char=""/>
              <a:tabLst>
                <a:tab pos="299720" algn="l"/>
              </a:tabLst>
            </a:pPr>
            <a:r>
              <a:rPr sz="1800" spc="-15" dirty="0">
                <a:latin typeface="Carlito"/>
                <a:cs typeface="Carlito"/>
              </a:rPr>
              <a:t>Transactions</a:t>
            </a:r>
            <a:endParaRPr sz="1800">
              <a:latin typeface="Carlito"/>
              <a:cs typeface="Carlito"/>
            </a:endParaRPr>
          </a:p>
          <a:p>
            <a:pPr marL="299085" indent="-287020">
              <a:lnSpc>
                <a:spcPct val="100000"/>
              </a:lnSpc>
              <a:buClr>
                <a:srgbClr val="4F81BC"/>
              </a:buClr>
              <a:buFont typeface="Wingdings"/>
              <a:buChar char=""/>
              <a:tabLst>
                <a:tab pos="299720" algn="l"/>
              </a:tabLst>
            </a:pPr>
            <a:r>
              <a:rPr sz="1800" spc="-10" dirty="0">
                <a:latin typeface="Carlito"/>
                <a:cs typeface="Carlito"/>
              </a:rPr>
              <a:t>ACID</a:t>
            </a:r>
            <a:endParaRPr sz="1800">
              <a:latin typeface="Carlito"/>
              <a:cs typeface="Carlito"/>
            </a:endParaRPr>
          </a:p>
        </p:txBody>
      </p:sp>
      <p:grpSp>
        <p:nvGrpSpPr>
          <p:cNvPr id="3" name="object 3"/>
          <p:cNvGrpSpPr/>
          <p:nvPr/>
        </p:nvGrpSpPr>
        <p:grpSpPr>
          <a:xfrm>
            <a:off x="140144" y="140144"/>
            <a:ext cx="9004300" cy="4662170"/>
            <a:chOff x="140144" y="140144"/>
            <a:chExt cx="9004300" cy="4662170"/>
          </a:xfrm>
        </p:grpSpPr>
        <p:sp>
          <p:nvSpPr>
            <p:cNvPr id="4" name="object 4"/>
            <p:cNvSpPr/>
            <p:nvPr/>
          </p:nvSpPr>
          <p:spPr>
            <a:xfrm>
              <a:off x="4849496" y="1008787"/>
              <a:ext cx="4294502" cy="3793437"/>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5007864" y="1167384"/>
              <a:ext cx="4108703" cy="3296412"/>
            </a:xfrm>
            <a:prstGeom prst="rect">
              <a:avLst/>
            </a:prstGeom>
            <a:blipFill>
              <a:blip r:embed="rId3" cstate="print"/>
              <a:stretch>
                <a:fillRect/>
              </a:stretch>
            </a:blipFill>
          </p:spPr>
          <p:txBody>
            <a:bodyPr wrap="square" lIns="0" tIns="0" rIns="0" bIns="0" rtlCol="0"/>
            <a:lstStyle/>
            <a:p>
              <a:endParaRPr/>
            </a:p>
          </p:txBody>
        </p:sp>
        <p:sp>
          <p:nvSpPr>
            <p:cNvPr id="6" name="object 6"/>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7" name="object 7"/>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8" name="object 8"/>
          <p:cNvSpPr txBox="1">
            <a:spLocks noGrp="1"/>
          </p:cNvSpPr>
          <p:nvPr>
            <p:ph type="title"/>
          </p:nvPr>
        </p:nvSpPr>
        <p:spPr>
          <a:xfrm>
            <a:off x="268325" y="217119"/>
            <a:ext cx="3371215" cy="574675"/>
          </a:xfrm>
          <a:prstGeom prst="rect">
            <a:avLst/>
          </a:prstGeom>
        </p:spPr>
        <p:txBody>
          <a:bodyPr vert="horz" wrap="square" lIns="0" tIns="12700" rIns="0" bIns="0" rtlCol="0">
            <a:spAutoFit/>
          </a:bodyPr>
          <a:lstStyle/>
          <a:p>
            <a:pPr marL="12700">
              <a:lnSpc>
                <a:spcPct val="100000"/>
              </a:lnSpc>
              <a:spcBef>
                <a:spcPts val="100"/>
              </a:spcBef>
            </a:pPr>
            <a:r>
              <a:rPr spc="-15" dirty="0"/>
              <a:t>Graph </a:t>
            </a:r>
            <a:r>
              <a:rPr spc="-25" dirty="0"/>
              <a:t>data</a:t>
            </a:r>
            <a:r>
              <a:rPr spc="-75" dirty="0"/>
              <a:t> </a:t>
            </a:r>
            <a:r>
              <a:rPr dirty="0"/>
              <a:t>model</a:t>
            </a:r>
          </a:p>
        </p:txBody>
      </p:sp>
      <p:grpSp>
        <p:nvGrpSpPr>
          <p:cNvPr id="9" name="object 9"/>
          <p:cNvGrpSpPr/>
          <p:nvPr/>
        </p:nvGrpSpPr>
        <p:grpSpPr>
          <a:xfrm>
            <a:off x="262127" y="0"/>
            <a:ext cx="8882380" cy="6797675"/>
            <a:chOff x="262127" y="0"/>
            <a:chExt cx="8882380" cy="6797675"/>
          </a:xfrm>
        </p:grpSpPr>
        <p:sp>
          <p:nvSpPr>
            <p:cNvPr id="10" name="object 10"/>
            <p:cNvSpPr/>
            <p:nvPr/>
          </p:nvSpPr>
          <p:spPr>
            <a:xfrm>
              <a:off x="262127" y="2766047"/>
              <a:ext cx="4837176" cy="3715512"/>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457199" y="2961132"/>
              <a:ext cx="4267200" cy="3145536"/>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6127939" y="5423476"/>
              <a:ext cx="2592325" cy="1373962"/>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6286499" y="5582411"/>
              <a:ext cx="2095500" cy="876300"/>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3886962" y="2972561"/>
              <a:ext cx="762000" cy="239395"/>
            </a:xfrm>
            <a:custGeom>
              <a:avLst/>
              <a:gdLst/>
              <a:ahLst/>
              <a:cxnLst/>
              <a:rect l="l" t="t" r="r" b="b"/>
              <a:pathLst>
                <a:path w="762000" h="239394">
                  <a:moveTo>
                    <a:pt x="762000" y="0"/>
                  </a:moveTo>
                  <a:lnTo>
                    <a:pt x="0" y="0"/>
                  </a:lnTo>
                  <a:lnTo>
                    <a:pt x="0" y="239267"/>
                  </a:lnTo>
                  <a:lnTo>
                    <a:pt x="762000" y="239267"/>
                  </a:lnTo>
                  <a:lnTo>
                    <a:pt x="762000" y="0"/>
                  </a:lnTo>
                  <a:close/>
                </a:path>
              </a:pathLst>
            </a:custGeom>
            <a:solidFill>
              <a:srgbClr val="000000"/>
            </a:solidFill>
          </p:spPr>
          <p:txBody>
            <a:bodyPr wrap="square" lIns="0" tIns="0" rIns="0" bIns="0" rtlCol="0"/>
            <a:lstStyle/>
            <a:p>
              <a:endParaRPr/>
            </a:p>
          </p:txBody>
        </p:sp>
        <p:sp>
          <p:nvSpPr>
            <p:cNvPr id="15" name="object 15"/>
            <p:cNvSpPr/>
            <p:nvPr/>
          </p:nvSpPr>
          <p:spPr>
            <a:xfrm>
              <a:off x="3886962" y="2972561"/>
              <a:ext cx="762000" cy="239395"/>
            </a:xfrm>
            <a:custGeom>
              <a:avLst/>
              <a:gdLst/>
              <a:ahLst/>
              <a:cxnLst/>
              <a:rect l="l" t="t" r="r" b="b"/>
              <a:pathLst>
                <a:path w="762000" h="239394">
                  <a:moveTo>
                    <a:pt x="0" y="239267"/>
                  </a:moveTo>
                  <a:lnTo>
                    <a:pt x="762000" y="239267"/>
                  </a:lnTo>
                  <a:lnTo>
                    <a:pt x="762000" y="0"/>
                  </a:lnTo>
                  <a:lnTo>
                    <a:pt x="0" y="0"/>
                  </a:lnTo>
                  <a:lnTo>
                    <a:pt x="0" y="239267"/>
                  </a:lnTo>
                  <a:close/>
                </a:path>
              </a:pathLst>
            </a:custGeom>
            <a:ln w="25908">
              <a:solidFill>
                <a:srgbClr val="000000"/>
              </a:solidFill>
            </a:ln>
          </p:spPr>
          <p:txBody>
            <a:bodyPr wrap="square" lIns="0" tIns="0" rIns="0" bIns="0" rtlCol="0"/>
            <a:lstStyle/>
            <a:p>
              <a:endParaRPr/>
            </a:p>
          </p:txBody>
        </p:sp>
        <p:sp>
          <p:nvSpPr>
            <p:cNvPr id="16" name="object 16"/>
            <p:cNvSpPr/>
            <p:nvPr/>
          </p:nvSpPr>
          <p:spPr>
            <a:xfrm>
              <a:off x="8522208" y="0"/>
              <a:ext cx="621792" cy="1066800"/>
            </a:xfrm>
            <a:prstGeom prst="rect">
              <a:avLst/>
            </a:prstGeom>
            <a:blipFill>
              <a:blip r:embed="rId8" cstate="print"/>
              <a:stretch>
                <a:fillRect/>
              </a:stretch>
            </a:blipFill>
          </p:spPr>
          <p:txBody>
            <a:bodyPr wrap="square" lIns="0" tIns="0" rIns="0" bIns="0" rtlCol="0"/>
            <a:lstStyle/>
            <a:p>
              <a:endParaRPr/>
            </a:p>
          </p:txBody>
        </p:sp>
        <p:sp>
          <p:nvSpPr>
            <p:cNvPr id="17" name="object 17"/>
            <p:cNvSpPr/>
            <p:nvPr/>
          </p:nvSpPr>
          <p:spPr>
            <a:xfrm>
              <a:off x="8420099" y="161544"/>
              <a:ext cx="723900" cy="827531"/>
            </a:xfrm>
            <a:prstGeom prst="rect">
              <a:avLst/>
            </a:prstGeom>
            <a:blipFill>
              <a:blip r:embed="rId9" cstate="print"/>
              <a:stretch>
                <a:fillRect/>
              </a:stretch>
            </a:blipFill>
          </p:spPr>
          <p:txBody>
            <a:bodyPr wrap="square" lIns="0" tIns="0" rIns="0" bIns="0" rtlCol="0"/>
            <a:lstStyle/>
            <a:p>
              <a:endParaRPr/>
            </a:p>
          </p:txBody>
        </p:sp>
        <p:sp>
          <p:nvSpPr>
            <p:cNvPr id="18" name="object 18"/>
            <p:cNvSpPr/>
            <p:nvPr/>
          </p:nvSpPr>
          <p:spPr>
            <a:xfrm>
              <a:off x="8569451" y="0"/>
              <a:ext cx="574548" cy="1001267"/>
            </a:xfrm>
            <a:prstGeom prst="rect">
              <a:avLst/>
            </a:prstGeom>
            <a:blipFill>
              <a:blip r:embed="rId10" cstate="print"/>
              <a:stretch>
                <a:fillRect/>
              </a:stretch>
            </a:blipFill>
          </p:spPr>
          <p:txBody>
            <a:bodyPr wrap="square" lIns="0" tIns="0" rIns="0" bIns="0" rtlCol="0"/>
            <a:lstStyle/>
            <a:p>
              <a:endParaRPr/>
            </a:p>
          </p:txBody>
        </p:sp>
      </p:grpSp>
      <p:sp>
        <p:nvSpPr>
          <p:cNvPr id="19" name="object 19"/>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22</a:t>
            </a:r>
            <a:endParaRPr sz="2800">
              <a:latin typeface="Carlito"/>
              <a:cs typeface="Carli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59740" y="1007109"/>
            <a:ext cx="4373245" cy="1977389"/>
          </a:xfrm>
          <a:prstGeom prst="rect">
            <a:avLst/>
          </a:prstGeom>
        </p:spPr>
        <p:txBody>
          <a:bodyPr vert="horz" wrap="square" lIns="0" tIns="13335" rIns="0" bIns="0" rtlCol="0">
            <a:spAutoFit/>
          </a:bodyPr>
          <a:lstStyle/>
          <a:p>
            <a:pPr marL="355600" marR="451484" indent="-342900">
              <a:lnSpc>
                <a:spcPct val="100000"/>
              </a:lnSpc>
              <a:spcBef>
                <a:spcPts val="105"/>
              </a:spcBef>
              <a:buClr>
                <a:srgbClr val="4F81BC"/>
              </a:buClr>
              <a:buFont typeface="Arial"/>
              <a:buChar char="•"/>
              <a:tabLst>
                <a:tab pos="354965" algn="l"/>
                <a:tab pos="355600" algn="l"/>
              </a:tabLst>
            </a:pPr>
            <a:r>
              <a:rPr sz="2000" spc="-15" dirty="0">
                <a:latin typeface="Carlito"/>
                <a:cs typeface="Carlito"/>
              </a:rPr>
              <a:t>Pair </a:t>
            </a:r>
            <a:r>
              <a:rPr sz="2000" dirty="0">
                <a:latin typeface="Carlito"/>
                <a:cs typeface="Carlito"/>
              </a:rPr>
              <a:t>each </a:t>
            </a:r>
            <a:r>
              <a:rPr sz="2000" spc="-25" dirty="0">
                <a:latin typeface="Carlito"/>
                <a:cs typeface="Carlito"/>
              </a:rPr>
              <a:t>key </a:t>
            </a:r>
            <a:r>
              <a:rPr sz="2000" spc="-5" dirty="0">
                <a:latin typeface="Carlito"/>
                <a:cs typeface="Carlito"/>
              </a:rPr>
              <a:t>with complex </a:t>
            </a:r>
            <a:r>
              <a:rPr sz="2000" spc="-10" dirty="0">
                <a:latin typeface="Carlito"/>
                <a:cs typeface="Carlito"/>
              </a:rPr>
              <a:t>data  </a:t>
            </a:r>
            <a:r>
              <a:rPr sz="2000" spc="-5" dirty="0">
                <a:latin typeface="Carlito"/>
                <a:cs typeface="Carlito"/>
              </a:rPr>
              <a:t>structure known </a:t>
            </a:r>
            <a:r>
              <a:rPr sz="2000" dirty="0">
                <a:latin typeface="Carlito"/>
                <a:cs typeface="Carlito"/>
              </a:rPr>
              <a:t>as </a:t>
            </a:r>
            <a:r>
              <a:rPr sz="2000" spc="-10" dirty="0">
                <a:latin typeface="Carlito"/>
                <a:cs typeface="Carlito"/>
              </a:rPr>
              <a:t>data</a:t>
            </a:r>
            <a:r>
              <a:rPr sz="2000" spc="-30" dirty="0">
                <a:latin typeface="Carlito"/>
                <a:cs typeface="Carlito"/>
              </a:rPr>
              <a:t> </a:t>
            </a:r>
            <a:r>
              <a:rPr sz="2000" spc="-10" dirty="0">
                <a:latin typeface="Carlito"/>
                <a:cs typeface="Carlito"/>
              </a:rPr>
              <a:t>structure.</a:t>
            </a:r>
            <a:endParaRPr sz="2000">
              <a:latin typeface="Carlito"/>
              <a:cs typeface="Carlito"/>
            </a:endParaRPr>
          </a:p>
          <a:p>
            <a:pPr marL="355600" indent="-342900">
              <a:lnSpc>
                <a:spcPct val="100000"/>
              </a:lnSpc>
              <a:spcBef>
                <a:spcPts val="480"/>
              </a:spcBef>
              <a:buClr>
                <a:srgbClr val="4F81BC"/>
              </a:buClr>
              <a:buFont typeface="Arial"/>
              <a:buChar char="•"/>
              <a:tabLst>
                <a:tab pos="354965" algn="l"/>
                <a:tab pos="355600" algn="l"/>
              </a:tabLst>
            </a:pPr>
            <a:r>
              <a:rPr sz="2000" spc="-10" dirty="0">
                <a:latin typeface="Carlito"/>
                <a:cs typeface="Carlito"/>
              </a:rPr>
              <a:t>Indexes are </a:t>
            </a:r>
            <a:r>
              <a:rPr sz="2000" dirty="0">
                <a:latin typeface="Carlito"/>
                <a:cs typeface="Carlito"/>
              </a:rPr>
              <a:t>done </a:t>
            </a:r>
            <a:r>
              <a:rPr sz="2000" spc="-5" dirty="0">
                <a:latin typeface="Carlito"/>
                <a:cs typeface="Carlito"/>
              </a:rPr>
              <a:t>via</a:t>
            </a:r>
            <a:r>
              <a:rPr sz="2000" spc="-10" dirty="0">
                <a:latin typeface="Carlito"/>
                <a:cs typeface="Carlito"/>
              </a:rPr>
              <a:t> </a:t>
            </a:r>
            <a:r>
              <a:rPr sz="2000" spc="-25" dirty="0">
                <a:latin typeface="Carlito"/>
                <a:cs typeface="Carlito"/>
              </a:rPr>
              <a:t>B-Trees.</a:t>
            </a:r>
            <a:endParaRPr sz="2000">
              <a:latin typeface="Carlito"/>
              <a:cs typeface="Carlito"/>
            </a:endParaRPr>
          </a:p>
          <a:p>
            <a:pPr marL="355600" marR="5080" indent="-342900">
              <a:lnSpc>
                <a:spcPct val="100000"/>
              </a:lnSpc>
              <a:spcBef>
                <a:spcPts val="480"/>
              </a:spcBef>
              <a:buClr>
                <a:srgbClr val="4F81BC"/>
              </a:buClr>
              <a:buFont typeface="Arial"/>
              <a:buChar char="•"/>
              <a:tabLst>
                <a:tab pos="354965" algn="l"/>
                <a:tab pos="355600" algn="l"/>
              </a:tabLst>
            </a:pPr>
            <a:r>
              <a:rPr sz="2000" spc="-5" dirty="0">
                <a:latin typeface="Carlito"/>
                <a:cs typeface="Carlito"/>
              </a:rPr>
              <a:t>Documents </a:t>
            </a:r>
            <a:r>
              <a:rPr sz="2000" dirty="0">
                <a:latin typeface="Carlito"/>
                <a:cs typeface="Carlito"/>
              </a:rPr>
              <a:t>can </a:t>
            </a:r>
            <a:r>
              <a:rPr sz="2000" spc="-10" dirty="0">
                <a:latin typeface="Carlito"/>
                <a:cs typeface="Carlito"/>
              </a:rPr>
              <a:t>contain many </a:t>
            </a:r>
            <a:r>
              <a:rPr sz="2000" spc="-15" dirty="0">
                <a:latin typeface="Carlito"/>
                <a:cs typeface="Carlito"/>
              </a:rPr>
              <a:t>different  key-value </a:t>
            </a:r>
            <a:r>
              <a:rPr sz="2000" spc="-10" dirty="0">
                <a:latin typeface="Carlito"/>
                <a:cs typeface="Carlito"/>
              </a:rPr>
              <a:t>pairs, </a:t>
            </a:r>
            <a:r>
              <a:rPr sz="2000" spc="-5" dirty="0">
                <a:latin typeface="Carlito"/>
                <a:cs typeface="Carlito"/>
              </a:rPr>
              <a:t>or </a:t>
            </a:r>
            <a:r>
              <a:rPr sz="2000" spc="-15" dirty="0">
                <a:latin typeface="Carlito"/>
                <a:cs typeface="Carlito"/>
              </a:rPr>
              <a:t>key-array </a:t>
            </a:r>
            <a:r>
              <a:rPr sz="2000" spc="-10" dirty="0">
                <a:latin typeface="Carlito"/>
                <a:cs typeface="Carlito"/>
              </a:rPr>
              <a:t>pairs, </a:t>
            </a:r>
            <a:r>
              <a:rPr sz="2000" spc="-5" dirty="0">
                <a:latin typeface="Carlito"/>
                <a:cs typeface="Carlito"/>
              </a:rPr>
              <a:t>or  </a:t>
            </a:r>
            <a:r>
              <a:rPr sz="2000" spc="-10" dirty="0">
                <a:latin typeface="Carlito"/>
                <a:cs typeface="Carlito"/>
              </a:rPr>
              <a:t>even </a:t>
            </a:r>
            <a:r>
              <a:rPr sz="2000" spc="-5" dirty="0">
                <a:latin typeface="Carlito"/>
                <a:cs typeface="Carlito"/>
              </a:rPr>
              <a:t>nested</a:t>
            </a:r>
            <a:r>
              <a:rPr sz="2000" spc="30" dirty="0">
                <a:latin typeface="Carlito"/>
                <a:cs typeface="Carlito"/>
              </a:rPr>
              <a:t> </a:t>
            </a:r>
            <a:r>
              <a:rPr sz="2000" spc="-5" dirty="0">
                <a:latin typeface="Carlito"/>
                <a:cs typeface="Carlito"/>
              </a:rPr>
              <a:t>documents.</a:t>
            </a:r>
            <a:endParaRPr sz="2000">
              <a:latin typeface="Carlito"/>
              <a:cs typeface="Carlito"/>
            </a:endParaRPr>
          </a:p>
        </p:txBody>
      </p:sp>
      <p:grpSp>
        <p:nvGrpSpPr>
          <p:cNvPr id="3" name="object 3"/>
          <p:cNvGrpSpPr/>
          <p:nvPr/>
        </p:nvGrpSpPr>
        <p:grpSpPr>
          <a:xfrm>
            <a:off x="140144" y="140144"/>
            <a:ext cx="9004300" cy="3112135"/>
            <a:chOff x="140144" y="140144"/>
            <a:chExt cx="9004300" cy="3112135"/>
          </a:xfrm>
        </p:grpSpPr>
        <p:sp>
          <p:nvSpPr>
            <p:cNvPr id="4" name="object 4"/>
            <p:cNvSpPr/>
            <p:nvPr/>
          </p:nvSpPr>
          <p:spPr>
            <a:xfrm>
              <a:off x="5271516" y="914400"/>
              <a:ext cx="3872484" cy="2337816"/>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6" name="object 6"/>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7" name="object 7"/>
          <p:cNvSpPr txBox="1">
            <a:spLocks noGrp="1"/>
          </p:cNvSpPr>
          <p:nvPr>
            <p:ph type="title"/>
          </p:nvPr>
        </p:nvSpPr>
        <p:spPr>
          <a:xfrm>
            <a:off x="268325" y="217119"/>
            <a:ext cx="5375910" cy="574675"/>
          </a:xfrm>
          <a:prstGeom prst="rect">
            <a:avLst/>
          </a:prstGeom>
        </p:spPr>
        <p:txBody>
          <a:bodyPr vert="horz" wrap="square" lIns="0" tIns="12700" rIns="0" bIns="0" rtlCol="0">
            <a:spAutoFit/>
          </a:bodyPr>
          <a:lstStyle/>
          <a:p>
            <a:pPr marL="12700">
              <a:lnSpc>
                <a:spcPct val="100000"/>
              </a:lnSpc>
              <a:spcBef>
                <a:spcPts val="100"/>
              </a:spcBef>
            </a:pPr>
            <a:r>
              <a:rPr spc="-10" dirty="0"/>
              <a:t>Document </a:t>
            </a:r>
            <a:r>
              <a:rPr spc="-5" dirty="0"/>
              <a:t>based </a:t>
            </a:r>
            <a:r>
              <a:rPr spc="-25" dirty="0"/>
              <a:t>data</a:t>
            </a:r>
            <a:r>
              <a:rPr spc="-70" dirty="0"/>
              <a:t> </a:t>
            </a:r>
            <a:r>
              <a:rPr dirty="0"/>
              <a:t>model</a:t>
            </a:r>
          </a:p>
        </p:txBody>
      </p:sp>
      <p:grpSp>
        <p:nvGrpSpPr>
          <p:cNvPr id="8" name="object 8"/>
          <p:cNvGrpSpPr/>
          <p:nvPr/>
        </p:nvGrpSpPr>
        <p:grpSpPr>
          <a:xfrm>
            <a:off x="565404" y="0"/>
            <a:ext cx="8578850" cy="6480175"/>
            <a:chOff x="565404" y="0"/>
            <a:chExt cx="8578850" cy="6480175"/>
          </a:xfrm>
        </p:grpSpPr>
        <p:sp>
          <p:nvSpPr>
            <p:cNvPr id="9" name="object 9"/>
            <p:cNvSpPr/>
            <p:nvPr/>
          </p:nvSpPr>
          <p:spPr>
            <a:xfrm>
              <a:off x="565404" y="3313176"/>
              <a:ext cx="4268724" cy="3166872"/>
            </a:xfrm>
            <a:prstGeom prst="rect">
              <a:avLst/>
            </a:prstGeom>
            <a:blipFill>
              <a:blip r:embed="rId3" cstate="print"/>
              <a:stretch>
                <a:fillRect/>
              </a:stretch>
            </a:blipFill>
          </p:spPr>
          <p:txBody>
            <a:bodyPr wrap="square" lIns="0" tIns="0" rIns="0" bIns="0" rtlCol="0"/>
            <a:lstStyle/>
            <a:p>
              <a:endParaRPr/>
            </a:p>
          </p:txBody>
        </p:sp>
        <p:sp>
          <p:nvSpPr>
            <p:cNvPr id="10" name="object 10"/>
            <p:cNvSpPr/>
            <p:nvPr/>
          </p:nvSpPr>
          <p:spPr>
            <a:xfrm>
              <a:off x="757428" y="3505200"/>
              <a:ext cx="3898391" cy="2796540"/>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4760975" y="3031197"/>
              <a:ext cx="4328160" cy="3342132"/>
            </a:xfrm>
            <a:prstGeom prst="rect">
              <a:avLst/>
            </a:prstGeom>
            <a:blipFill>
              <a:blip r:embed="rId5" cstate="print"/>
              <a:stretch>
                <a:fillRect/>
              </a:stretch>
            </a:blipFill>
          </p:spPr>
          <p:txBody>
            <a:bodyPr wrap="square" lIns="0" tIns="0" rIns="0" bIns="0" rtlCol="0"/>
            <a:lstStyle/>
            <a:p>
              <a:endParaRPr/>
            </a:p>
          </p:txBody>
        </p:sp>
        <p:sp>
          <p:nvSpPr>
            <p:cNvPr id="12" name="object 12"/>
            <p:cNvSpPr/>
            <p:nvPr/>
          </p:nvSpPr>
          <p:spPr>
            <a:xfrm>
              <a:off x="4953000" y="3223260"/>
              <a:ext cx="3957828" cy="2971800"/>
            </a:xfrm>
            <a:prstGeom prst="rect">
              <a:avLst/>
            </a:prstGeom>
            <a:blipFill>
              <a:blip r:embed="rId6" cstate="print"/>
              <a:stretch>
                <a:fillRect/>
              </a:stretch>
            </a:blipFill>
          </p:spPr>
          <p:txBody>
            <a:bodyPr wrap="square" lIns="0" tIns="0" rIns="0" bIns="0" rtlCol="0"/>
            <a:lstStyle/>
            <a:p>
              <a:endParaRPr/>
            </a:p>
          </p:txBody>
        </p:sp>
        <p:sp>
          <p:nvSpPr>
            <p:cNvPr id="13" name="object 13"/>
            <p:cNvSpPr/>
            <p:nvPr/>
          </p:nvSpPr>
          <p:spPr>
            <a:xfrm>
              <a:off x="8522208" y="0"/>
              <a:ext cx="621792" cy="1066800"/>
            </a:xfrm>
            <a:prstGeom prst="rect">
              <a:avLst/>
            </a:prstGeom>
            <a:blipFill>
              <a:blip r:embed="rId7" cstate="print"/>
              <a:stretch>
                <a:fillRect/>
              </a:stretch>
            </a:blipFill>
          </p:spPr>
          <p:txBody>
            <a:bodyPr wrap="square" lIns="0" tIns="0" rIns="0" bIns="0" rtlCol="0"/>
            <a:lstStyle/>
            <a:p>
              <a:endParaRPr/>
            </a:p>
          </p:txBody>
        </p:sp>
        <p:sp>
          <p:nvSpPr>
            <p:cNvPr id="14" name="object 14"/>
            <p:cNvSpPr/>
            <p:nvPr/>
          </p:nvSpPr>
          <p:spPr>
            <a:xfrm>
              <a:off x="8420099" y="161544"/>
              <a:ext cx="723900" cy="827531"/>
            </a:xfrm>
            <a:prstGeom prst="rect">
              <a:avLst/>
            </a:prstGeom>
            <a:blipFill>
              <a:blip r:embed="rId8" cstate="print"/>
              <a:stretch>
                <a:fillRect/>
              </a:stretch>
            </a:blipFill>
          </p:spPr>
          <p:txBody>
            <a:bodyPr wrap="square" lIns="0" tIns="0" rIns="0" bIns="0" rtlCol="0"/>
            <a:lstStyle/>
            <a:p>
              <a:endParaRPr/>
            </a:p>
          </p:txBody>
        </p:sp>
        <p:sp>
          <p:nvSpPr>
            <p:cNvPr id="15" name="object 15"/>
            <p:cNvSpPr/>
            <p:nvPr/>
          </p:nvSpPr>
          <p:spPr>
            <a:xfrm>
              <a:off x="8569451" y="0"/>
              <a:ext cx="574548" cy="1001267"/>
            </a:xfrm>
            <a:prstGeom prst="rect">
              <a:avLst/>
            </a:prstGeom>
            <a:blipFill>
              <a:blip r:embed="rId9" cstate="print"/>
              <a:stretch>
                <a:fillRect/>
              </a:stretch>
            </a:blipFill>
          </p:spPr>
          <p:txBody>
            <a:bodyPr wrap="square" lIns="0" tIns="0" rIns="0" bIns="0" rtlCol="0"/>
            <a:lstStyle/>
            <a:p>
              <a:endParaRPr/>
            </a:p>
          </p:txBody>
        </p:sp>
      </p:grpSp>
      <p:sp>
        <p:nvSpPr>
          <p:cNvPr id="16" name="object 16"/>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23</a:t>
            </a:r>
            <a:endParaRPr sz="2800">
              <a:latin typeface="Carlito"/>
              <a:cs typeface="Carli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38684" y="1132534"/>
            <a:ext cx="8298190" cy="5039665"/>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140144" y="140144"/>
            <a:ext cx="8255634" cy="788035"/>
            <a:chOff x="140144" y="140144"/>
            <a:chExt cx="8255634" cy="788035"/>
          </a:xfrm>
        </p:grpSpPr>
        <p:sp>
          <p:nvSpPr>
            <p:cNvPr id="4" name="object 4"/>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5" name="object 5"/>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6" name="object 6"/>
          <p:cNvSpPr txBox="1">
            <a:spLocks noGrp="1"/>
          </p:cNvSpPr>
          <p:nvPr>
            <p:ph type="title"/>
          </p:nvPr>
        </p:nvSpPr>
        <p:spPr>
          <a:xfrm>
            <a:off x="268325" y="217119"/>
            <a:ext cx="5375910" cy="574675"/>
          </a:xfrm>
          <a:prstGeom prst="rect">
            <a:avLst/>
          </a:prstGeom>
        </p:spPr>
        <p:txBody>
          <a:bodyPr vert="horz" wrap="square" lIns="0" tIns="12700" rIns="0" bIns="0" rtlCol="0">
            <a:spAutoFit/>
          </a:bodyPr>
          <a:lstStyle/>
          <a:p>
            <a:pPr marL="12700">
              <a:lnSpc>
                <a:spcPct val="100000"/>
              </a:lnSpc>
              <a:spcBef>
                <a:spcPts val="100"/>
              </a:spcBef>
            </a:pPr>
            <a:r>
              <a:rPr spc="-10" dirty="0"/>
              <a:t>Document </a:t>
            </a:r>
            <a:r>
              <a:rPr spc="-5" dirty="0"/>
              <a:t>based </a:t>
            </a:r>
            <a:r>
              <a:rPr spc="-25" dirty="0"/>
              <a:t>data</a:t>
            </a:r>
            <a:r>
              <a:rPr spc="-70" dirty="0"/>
              <a:t> </a:t>
            </a:r>
            <a:r>
              <a:rPr dirty="0"/>
              <a:t>model</a:t>
            </a:r>
          </a:p>
        </p:txBody>
      </p:sp>
      <p:grpSp>
        <p:nvGrpSpPr>
          <p:cNvPr id="7" name="object 7"/>
          <p:cNvGrpSpPr/>
          <p:nvPr/>
        </p:nvGrpSpPr>
        <p:grpSpPr>
          <a:xfrm>
            <a:off x="8420100" y="0"/>
            <a:ext cx="723900" cy="1057910"/>
            <a:chOff x="8420100" y="0"/>
            <a:chExt cx="723900" cy="1057910"/>
          </a:xfrm>
        </p:grpSpPr>
        <p:sp>
          <p:nvSpPr>
            <p:cNvPr id="8" name="object 8"/>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8420100" y="161544"/>
              <a:ext cx="723900" cy="827531"/>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1" name="object 11"/>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24</a:t>
            </a:r>
            <a:endParaRPr sz="2800">
              <a:latin typeface="Carlito"/>
              <a:cs typeface="Carli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85036" y="1143000"/>
            <a:ext cx="5816273" cy="5052767"/>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140144" y="140144"/>
            <a:ext cx="8255634" cy="788035"/>
            <a:chOff x="140144" y="140144"/>
            <a:chExt cx="8255634" cy="788035"/>
          </a:xfrm>
        </p:grpSpPr>
        <p:sp>
          <p:nvSpPr>
            <p:cNvPr id="4" name="object 4"/>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5" name="object 5"/>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6" name="object 6"/>
          <p:cNvSpPr txBox="1">
            <a:spLocks noGrp="1"/>
          </p:cNvSpPr>
          <p:nvPr>
            <p:ph type="title"/>
          </p:nvPr>
        </p:nvSpPr>
        <p:spPr>
          <a:xfrm>
            <a:off x="371957" y="217119"/>
            <a:ext cx="2635885" cy="574675"/>
          </a:xfrm>
          <a:prstGeom prst="rect">
            <a:avLst/>
          </a:prstGeom>
        </p:spPr>
        <p:txBody>
          <a:bodyPr vert="horz" wrap="square" lIns="0" tIns="12700" rIns="0" bIns="0" rtlCol="0">
            <a:spAutoFit/>
          </a:bodyPr>
          <a:lstStyle/>
          <a:p>
            <a:pPr marL="12700">
              <a:lnSpc>
                <a:spcPct val="100000"/>
              </a:lnSpc>
              <a:spcBef>
                <a:spcPts val="100"/>
              </a:spcBef>
            </a:pPr>
            <a:r>
              <a:rPr spc="-5" dirty="0"/>
              <a:t>SQL vs</a:t>
            </a:r>
            <a:r>
              <a:rPr spc="-85" dirty="0"/>
              <a:t> </a:t>
            </a:r>
            <a:r>
              <a:rPr dirty="0"/>
              <a:t>NOSQL</a:t>
            </a:r>
          </a:p>
        </p:txBody>
      </p:sp>
      <p:grpSp>
        <p:nvGrpSpPr>
          <p:cNvPr id="7" name="object 7"/>
          <p:cNvGrpSpPr/>
          <p:nvPr/>
        </p:nvGrpSpPr>
        <p:grpSpPr>
          <a:xfrm>
            <a:off x="8420100" y="0"/>
            <a:ext cx="723900" cy="1057910"/>
            <a:chOff x="8420100" y="0"/>
            <a:chExt cx="723900" cy="1057910"/>
          </a:xfrm>
        </p:grpSpPr>
        <p:sp>
          <p:nvSpPr>
            <p:cNvPr id="8" name="object 8"/>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8420100" y="161544"/>
              <a:ext cx="723900" cy="827531"/>
            </a:xfrm>
            <a:prstGeom prst="rect">
              <a:avLst/>
            </a:prstGeom>
            <a:blipFill>
              <a:blip r:embed="rId4" cstate="print"/>
              <a:stretch>
                <a:fillRect/>
              </a:stretch>
            </a:blipFill>
          </p:spPr>
          <p:txBody>
            <a:bodyPr wrap="square" lIns="0" tIns="0" rIns="0" bIns="0" rtlCol="0"/>
            <a:lstStyle/>
            <a:p>
              <a:endParaRPr/>
            </a:p>
          </p:txBody>
        </p:sp>
        <p:sp>
          <p:nvSpPr>
            <p:cNvPr id="10" name="object 10"/>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1" name="object 11"/>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25</a:t>
            </a:r>
            <a:endParaRPr sz="2800">
              <a:latin typeface="Carlito"/>
              <a:cs typeface="Carli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191135" rIns="0" bIns="0" rtlCol="0">
            <a:spAutoFit/>
          </a:bodyPr>
          <a:lstStyle/>
          <a:p>
            <a:pPr marL="355600" indent="-343535">
              <a:lnSpc>
                <a:spcPct val="100000"/>
              </a:lnSpc>
              <a:spcBef>
                <a:spcPts val="1505"/>
              </a:spcBef>
              <a:buFont typeface="Arial"/>
              <a:buChar char="•"/>
              <a:tabLst>
                <a:tab pos="355600" algn="l"/>
                <a:tab pos="356235" algn="l"/>
              </a:tabLst>
            </a:pPr>
            <a:r>
              <a:rPr spc="-45" dirty="0"/>
              <a:t>We </a:t>
            </a:r>
            <a:r>
              <a:rPr spc="-5" dirty="0"/>
              <a:t>need </a:t>
            </a:r>
            <a:r>
              <a:rPr dirty="0"/>
              <a:t>a </a:t>
            </a:r>
            <a:r>
              <a:rPr spc="-10" dirty="0"/>
              <a:t>distributed database </a:t>
            </a:r>
            <a:r>
              <a:rPr spc="-25" dirty="0"/>
              <a:t>system </a:t>
            </a:r>
            <a:r>
              <a:rPr spc="-10" dirty="0"/>
              <a:t>having </a:t>
            </a:r>
            <a:r>
              <a:rPr spc="-5" dirty="0"/>
              <a:t>such</a:t>
            </a:r>
            <a:r>
              <a:rPr spc="90" dirty="0"/>
              <a:t> </a:t>
            </a:r>
            <a:r>
              <a:rPr spc="-15" dirty="0"/>
              <a:t>features:</a:t>
            </a:r>
          </a:p>
          <a:p>
            <a:pPr marL="12700">
              <a:lnSpc>
                <a:spcPct val="100000"/>
              </a:lnSpc>
              <a:spcBef>
                <a:spcPts val="1880"/>
              </a:spcBef>
            </a:pPr>
            <a:r>
              <a:rPr sz="3200" dirty="0">
                <a:latin typeface="Arial"/>
                <a:cs typeface="Arial"/>
              </a:rPr>
              <a:t>•</a:t>
            </a:r>
            <a:endParaRPr sz="3200">
              <a:latin typeface="Arial"/>
              <a:cs typeface="Arial"/>
            </a:endParaRPr>
          </a:p>
          <a:p>
            <a:pPr marL="12700">
              <a:lnSpc>
                <a:spcPct val="100000"/>
              </a:lnSpc>
              <a:spcBef>
                <a:spcPts val="620"/>
              </a:spcBef>
            </a:pPr>
            <a:r>
              <a:rPr dirty="0">
                <a:latin typeface="Arial"/>
                <a:cs typeface="Arial"/>
              </a:rPr>
              <a:t>•</a:t>
            </a:r>
          </a:p>
          <a:p>
            <a:pPr marL="12700">
              <a:lnSpc>
                <a:spcPct val="100000"/>
              </a:lnSpc>
              <a:spcBef>
                <a:spcPts val="575"/>
              </a:spcBef>
            </a:pPr>
            <a:r>
              <a:rPr dirty="0">
                <a:latin typeface="Arial"/>
                <a:cs typeface="Arial"/>
              </a:rPr>
              <a:t>•</a:t>
            </a:r>
          </a:p>
          <a:p>
            <a:pPr marL="12700">
              <a:lnSpc>
                <a:spcPct val="100000"/>
              </a:lnSpc>
              <a:spcBef>
                <a:spcPts val="580"/>
              </a:spcBef>
            </a:pPr>
            <a:r>
              <a:rPr dirty="0">
                <a:latin typeface="Arial"/>
                <a:cs typeface="Arial"/>
              </a:rPr>
              <a:t>•</a:t>
            </a:r>
          </a:p>
        </p:txBody>
      </p:sp>
      <p:sp>
        <p:nvSpPr>
          <p:cNvPr id="3" name="object 3"/>
          <p:cNvSpPr txBox="1"/>
          <p:nvPr/>
        </p:nvSpPr>
        <p:spPr>
          <a:xfrm>
            <a:off x="1450594" y="2220594"/>
            <a:ext cx="2263775" cy="1833245"/>
          </a:xfrm>
          <a:prstGeom prst="rect">
            <a:avLst/>
          </a:prstGeom>
        </p:spPr>
        <p:txBody>
          <a:bodyPr vert="horz" wrap="square" lIns="0" tIns="111760" rIns="0" bIns="0" rtlCol="0">
            <a:spAutoFit/>
          </a:bodyPr>
          <a:lstStyle/>
          <a:p>
            <a:pPr marL="233679" indent="-220979">
              <a:lnSpc>
                <a:spcPct val="100000"/>
              </a:lnSpc>
              <a:spcBef>
                <a:spcPts val="880"/>
              </a:spcBef>
              <a:buChar char="–"/>
              <a:tabLst>
                <a:tab pos="233679" algn="l"/>
              </a:tabLst>
            </a:pPr>
            <a:r>
              <a:rPr sz="2400" b="1" spc="-15" dirty="0">
                <a:latin typeface="Carlito"/>
                <a:cs typeface="Carlito"/>
              </a:rPr>
              <a:t>Fault</a:t>
            </a:r>
            <a:r>
              <a:rPr sz="2400" b="1" spc="-35" dirty="0">
                <a:latin typeface="Carlito"/>
                <a:cs typeface="Carlito"/>
              </a:rPr>
              <a:t> </a:t>
            </a:r>
            <a:r>
              <a:rPr sz="2400" b="1" spc="-10" dirty="0">
                <a:latin typeface="Carlito"/>
                <a:cs typeface="Carlito"/>
              </a:rPr>
              <a:t>tolerance</a:t>
            </a:r>
            <a:endParaRPr sz="2400">
              <a:latin typeface="Carlito"/>
              <a:cs typeface="Carlito"/>
            </a:endParaRPr>
          </a:p>
          <a:p>
            <a:pPr marL="233679" indent="-220979">
              <a:lnSpc>
                <a:spcPct val="100000"/>
              </a:lnSpc>
              <a:spcBef>
                <a:spcPts val="780"/>
              </a:spcBef>
              <a:buChar char="–"/>
              <a:tabLst>
                <a:tab pos="233679" algn="l"/>
              </a:tabLst>
            </a:pPr>
            <a:r>
              <a:rPr sz="2400" b="1" dirty="0">
                <a:latin typeface="Carlito"/>
                <a:cs typeface="Carlito"/>
              </a:rPr>
              <a:t>High</a:t>
            </a:r>
            <a:r>
              <a:rPr sz="2400" b="1" spc="-75" dirty="0">
                <a:latin typeface="Carlito"/>
                <a:cs typeface="Carlito"/>
              </a:rPr>
              <a:t> </a:t>
            </a:r>
            <a:r>
              <a:rPr sz="2400" b="1" spc="-10" dirty="0">
                <a:latin typeface="Carlito"/>
                <a:cs typeface="Carlito"/>
              </a:rPr>
              <a:t>availability</a:t>
            </a:r>
            <a:endParaRPr sz="2400">
              <a:latin typeface="Carlito"/>
              <a:cs typeface="Carlito"/>
            </a:endParaRPr>
          </a:p>
          <a:p>
            <a:pPr marL="233679" indent="-220979">
              <a:lnSpc>
                <a:spcPct val="100000"/>
              </a:lnSpc>
              <a:spcBef>
                <a:spcPts val="575"/>
              </a:spcBef>
              <a:buChar char="–"/>
              <a:tabLst>
                <a:tab pos="233679" algn="l"/>
              </a:tabLst>
            </a:pPr>
            <a:r>
              <a:rPr sz="2400" b="1" spc="-10" dirty="0">
                <a:latin typeface="Carlito"/>
                <a:cs typeface="Carlito"/>
              </a:rPr>
              <a:t>Consistency</a:t>
            </a:r>
            <a:endParaRPr sz="2400">
              <a:latin typeface="Carlito"/>
              <a:cs typeface="Carlito"/>
            </a:endParaRPr>
          </a:p>
          <a:p>
            <a:pPr marL="233679" indent="-220979">
              <a:lnSpc>
                <a:spcPct val="100000"/>
              </a:lnSpc>
              <a:spcBef>
                <a:spcPts val="580"/>
              </a:spcBef>
              <a:buChar char="–"/>
              <a:tabLst>
                <a:tab pos="233679" algn="l"/>
              </a:tabLst>
            </a:pPr>
            <a:r>
              <a:rPr sz="2400" b="1" spc="-5" dirty="0">
                <a:latin typeface="Carlito"/>
                <a:cs typeface="Carlito"/>
              </a:rPr>
              <a:t>Scalability</a:t>
            </a:r>
            <a:endParaRPr sz="2400">
              <a:latin typeface="Carlito"/>
              <a:cs typeface="Carlito"/>
            </a:endParaRPr>
          </a:p>
        </p:txBody>
      </p:sp>
      <p:sp>
        <p:nvSpPr>
          <p:cNvPr id="4" name="object 4"/>
          <p:cNvSpPr txBox="1"/>
          <p:nvPr/>
        </p:nvSpPr>
        <p:spPr>
          <a:xfrm>
            <a:off x="1255877" y="4833061"/>
            <a:ext cx="4231640" cy="1007110"/>
          </a:xfrm>
          <a:prstGeom prst="rect">
            <a:avLst/>
          </a:prstGeom>
        </p:spPr>
        <p:txBody>
          <a:bodyPr vert="horz" wrap="square" lIns="0" tIns="12700" rIns="0" bIns="0" rtlCol="0">
            <a:spAutoFit/>
          </a:bodyPr>
          <a:lstStyle/>
          <a:p>
            <a:pPr marL="12700">
              <a:lnSpc>
                <a:spcPct val="100000"/>
              </a:lnSpc>
              <a:spcBef>
                <a:spcPts val="100"/>
              </a:spcBef>
            </a:pPr>
            <a:r>
              <a:rPr sz="3600" b="1" spc="-5" dirty="0">
                <a:solidFill>
                  <a:srgbClr val="C00000"/>
                </a:solidFill>
                <a:latin typeface="Carlito"/>
                <a:cs typeface="Carlito"/>
              </a:rPr>
              <a:t>Which </a:t>
            </a:r>
            <a:r>
              <a:rPr sz="3600" b="1" dirty="0">
                <a:solidFill>
                  <a:srgbClr val="C00000"/>
                </a:solidFill>
                <a:latin typeface="Carlito"/>
                <a:cs typeface="Carlito"/>
              </a:rPr>
              <a:t>is</a:t>
            </a:r>
            <a:r>
              <a:rPr sz="3600" b="1" spc="-50" dirty="0">
                <a:solidFill>
                  <a:srgbClr val="C00000"/>
                </a:solidFill>
                <a:latin typeface="Carlito"/>
                <a:cs typeface="Carlito"/>
              </a:rPr>
              <a:t> </a:t>
            </a:r>
            <a:r>
              <a:rPr sz="3600" b="1" dirty="0">
                <a:solidFill>
                  <a:srgbClr val="C00000"/>
                </a:solidFill>
                <a:latin typeface="Carlito"/>
                <a:cs typeface="Carlito"/>
              </a:rPr>
              <a:t>impossible!!!</a:t>
            </a:r>
            <a:endParaRPr sz="3600">
              <a:latin typeface="Carlito"/>
              <a:cs typeface="Carlito"/>
            </a:endParaRPr>
          </a:p>
          <a:p>
            <a:pPr marL="12700">
              <a:lnSpc>
                <a:spcPct val="100000"/>
              </a:lnSpc>
              <a:spcBef>
                <a:spcPts val="45"/>
              </a:spcBef>
            </a:pPr>
            <a:r>
              <a:rPr sz="2800" b="1" spc="-10" dirty="0">
                <a:solidFill>
                  <a:srgbClr val="C00000"/>
                </a:solidFill>
                <a:latin typeface="Carlito"/>
                <a:cs typeface="Carlito"/>
              </a:rPr>
              <a:t>According </a:t>
            </a:r>
            <a:r>
              <a:rPr sz="2800" b="1" spc="-15" dirty="0">
                <a:solidFill>
                  <a:srgbClr val="C00000"/>
                </a:solidFill>
                <a:latin typeface="Carlito"/>
                <a:cs typeface="Carlito"/>
              </a:rPr>
              <a:t>to </a:t>
            </a:r>
            <a:r>
              <a:rPr sz="2800" b="1" spc="-10" dirty="0">
                <a:solidFill>
                  <a:srgbClr val="C00000"/>
                </a:solidFill>
                <a:latin typeface="Carlito"/>
                <a:cs typeface="Carlito"/>
              </a:rPr>
              <a:t>CAP</a:t>
            </a:r>
            <a:r>
              <a:rPr sz="2800" b="1" spc="30" dirty="0">
                <a:solidFill>
                  <a:srgbClr val="C00000"/>
                </a:solidFill>
                <a:latin typeface="Carlito"/>
                <a:cs typeface="Carlito"/>
              </a:rPr>
              <a:t> </a:t>
            </a:r>
            <a:r>
              <a:rPr sz="2800" b="1" spc="-10" dirty="0">
                <a:solidFill>
                  <a:srgbClr val="C00000"/>
                </a:solidFill>
                <a:latin typeface="Carlito"/>
                <a:cs typeface="Carlito"/>
              </a:rPr>
              <a:t>theorem</a:t>
            </a:r>
            <a:endParaRPr sz="2800">
              <a:latin typeface="Carlito"/>
              <a:cs typeface="Carlito"/>
            </a:endParaRPr>
          </a:p>
        </p:txBody>
      </p:sp>
      <p:grpSp>
        <p:nvGrpSpPr>
          <p:cNvPr id="5" name="object 5"/>
          <p:cNvGrpSpPr/>
          <p:nvPr/>
        </p:nvGrpSpPr>
        <p:grpSpPr>
          <a:xfrm>
            <a:off x="140144" y="140144"/>
            <a:ext cx="8255634" cy="788035"/>
            <a:chOff x="140144" y="140144"/>
            <a:chExt cx="8255634" cy="788035"/>
          </a:xfrm>
        </p:grpSpPr>
        <p:sp>
          <p:nvSpPr>
            <p:cNvPr id="6" name="object 6"/>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7" name="object 7"/>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8" name="object 8"/>
          <p:cNvSpPr txBox="1">
            <a:spLocks noGrp="1"/>
          </p:cNvSpPr>
          <p:nvPr>
            <p:ph type="title"/>
          </p:nvPr>
        </p:nvSpPr>
        <p:spPr>
          <a:xfrm>
            <a:off x="371957" y="217119"/>
            <a:ext cx="3043555" cy="574675"/>
          </a:xfrm>
          <a:prstGeom prst="rect">
            <a:avLst/>
          </a:prstGeom>
        </p:spPr>
        <p:txBody>
          <a:bodyPr vert="horz" wrap="square" lIns="0" tIns="12700" rIns="0" bIns="0" rtlCol="0">
            <a:spAutoFit/>
          </a:bodyPr>
          <a:lstStyle/>
          <a:p>
            <a:pPr marL="12700">
              <a:lnSpc>
                <a:spcPct val="100000"/>
              </a:lnSpc>
              <a:spcBef>
                <a:spcPts val="100"/>
              </a:spcBef>
            </a:pPr>
            <a:r>
              <a:rPr spc="-10" dirty="0"/>
              <a:t>What </a:t>
            </a:r>
            <a:r>
              <a:rPr spc="-25" dirty="0"/>
              <a:t>we </a:t>
            </a:r>
            <a:r>
              <a:rPr dirty="0"/>
              <a:t>need</a:t>
            </a:r>
            <a:r>
              <a:rPr spc="-95" dirty="0"/>
              <a:t> </a:t>
            </a:r>
            <a:r>
              <a:rPr dirty="0"/>
              <a:t>?</a:t>
            </a:r>
          </a:p>
        </p:txBody>
      </p:sp>
      <p:grpSp>
        <p:nvGrpSpPr>
          <p:cNvPr id="9" name="object 9"/>
          <p:cNvGrpSpPr/>
          <p:nvPr/>
        </p:nvGrpSpPr>
        <p:grpSpPr>
          <a:xfrm>
            <a:off x="8420100" y="0"/>
            <a:ext cx="723900" cy="1057910"/>
            <a:chOff x="8420100" y="0"/>
            <a:chExt cx="723900" cy="1057910"/>
          </a:xfrm>
        </p:grpSpPr>
        <p:sp>
          <p:nvSpPr>
            <p:cNvPr id="10" name="object 10"/>
            <p:cNvSpPr/>
            <p:nvPr/>
          </p:nvSpPr>
          <p:spPr>
            <a:xfrm>
              <a:off x="8531219" y="0"/>
              <a:ext cx="612780" cy="1057759"/>
            </a:xfrm>
            <a:prstGeom prst="rect">
              <a:avLst/>
            </a:prstGeom>
            <a:blipFill>
              <a:blip r:embed="rId2" cstate="print"/>
              <a:stretch>
                <a:fillRect/>
              </a:stretch>
            </a:blipFill>
          </p:spPr>
          <p:txBody>
            <a:bodyPr wrap="square" lIns="0" tIns="0" rIns="0" bIns="0" rtlCol="0"/>
            <a:lstStyle/>
            <a:p>
              <a:endParaRPr/>
            </a:p>
          </p:txBody>
        </p:sp>
        <p:sp>
          <p:nvSpPr>
            <p:cNvPr id="11" name="object 11"/>
            <p:cNvSpPr/>
            <p:nvPr/>
          </p:nvSpPr>
          <p:spPr>
            <a:xfrm>
              <a:off x="8420100" y="161544"/>
              <a:ext cx="723900" cy="827531"/>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8569452" y="0"/>
              <a:ext cx="574548" cy="1001267"/>
            </a:xfrm>
            <a:prstGeom prst="rect">
              <a:avLst/>
            </a:prstGeom>
            <a:blipFill>
              <a:blip r:embed="rId4" cstate="print"/>
              <a:stretch>
                <a:fillRect/>
              </a:stretch>
            </a:blipFill>
          </p:spPr>
          <p:txBody>
            <a:bodyPr wrap="square" lIns="0" tIns="0" rIns="0" bIns="0" rtlCol="0"/>
            <a:lstStyle/>
            <a:p>
              <a:endParaRPr/>
            </a:p>
          </p:txBody>
        </p:sp>
      </p:grpSp>
      <p:sp>
        <p:nvSpPr>
          <p:cNvPr id="13" name="object 13"/>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26</a:t>
            </a:r>
            <a:endParaRPr sz="2800">
              <a:latin typeface="Carlito"/>
              <a:cs typeface="Carli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108445" y="1395983"/>
            <a:ext cx="3943355" cy="4237483"/>
          </a:xfrm>
          <a:prstGeom prst="rect">
            <a:avLst/>
          </a:prstGeom>
          <a:blipFill>
            <a:blip r:embed="rId2" cstate="print"/>
            <a:stretch>
              <a:fillRect/>
            </a:stretch>
          </a:blipFill>
        </p:spPr>
        <p:txBody>
          <a:bodyPr wrap="square" lIns="0" tIns="0" rIns="0" bIns="0" rtlCol="0"/>
          <a:lstStyle/>
          <a:p>
            <a:endParaRPr/>
          </a:p>
        </p:txBody>
      </p:sp>
      <p:grpSp>
        <p:nvGrpSpPr>
          <p:cNvPr id="3" name="object 3"/>
          <p:cNvGrpSpPr/>
          <p:nvPr/>
        </p:nvGrpSpPr>
        <p:grpSpPr>
          <a:xfrm>
            <a:off x="5207508" y="5753100"/>
            <a:ext cx="3807460" cy="751840"/>
            <a:chOff x="5207508" y="5753100"/>
            <a:chExt cx="3807460" cy="751840"/>
          </a:xfrm>
        </p:grpSpPr>
        <p:sp>
          <p:nvSpPr>
            <p:cNvPr id="4" name="object 4"/>
            <p:cNvSpPr/>
            <p:nvPr/>
          </p:nvSpPr>
          <p:spPr>
            <a:xfrm>
              <a:off x="5242549" y="5772891"/>
              <a:ext cx="3771922" cy="656860"/>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5207508" y="5753100"/>
              <a:ext cx="3619499" cy="751344"/>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5280660" y="5791200"/>
              <a:ext cx="3700272" cy="585216"/>
            </a:xfrm>
            <a:prstGeom prst="rect">
              <a:avLst/>
            </a:prstGeom>
            <a:blipFill>
              <a:blip r:embed="rId5" cstate="print"/>
              <a:stretch>
                <a:fillRect/>
              </a:stretch>
            </a:blipFill>
          </p:spPr>
          <p:txBody>
            <a:bodyPr wrap="square" lIns="0" tIns="0" rIns="0" bIns="0" rtlCol="0"/>
            <a:lstStyle/>
            <a:p>
              <a:endParaRPr/>
            </a:p>
          </p:txBody>
        </p:sp>
      </p:grpSp>
      <p:sp>
        <p:nvSpPr>
          <p:cNvPr id="7" name="object 7"/>
          <p:cNvSpPr txBox="1"/>
          <p:nvPr/>
        </p:nvSpPr>
        <p:spPr>
          <a:xfrm>
            <a:off x="5280659" y="5791200"/>
            <a:ext cx="3700779" cy="585470"/>
          </a:xfrm>
          <a:prstGeom prst="rect">
            <a:avLst/>
          </a:prstGeom>
          <a:ln w="9144">
            <a:solidFill>
              <a:srgbClr val="7C5F9F"/>
            </a:solidFill>
          </a:ln>
        </p:spPr>
        <p:txBody>
          <a:bodyPr vert="horz" wrap="square" lIns="0" tIns="34290" rIns="0" bIns="0" rtlCol="0">
            <a:spAutoFit/>
          </a:bodyPr>
          <a:lstStyle/>
          <a:p>
            <a:pPr marL="92710" marR="305435">
              <a:lnSpc>
                <a:spcPct val="100000"/>
              </a:lnSpc>
              <a:spcBef>
                <a:spcPts val="270"/>
              </a:spcBef>
            </a:pPr>
            <a:r>
              <a:rPr sz="1600" spc="-40" dirty="0">
                <a:latin typeface="Carlito"/>
                <a:cs typeface="Carlito"/>
              </a:rPr>
              <a:t>We </a:t>
            </a:r>
            <a:r>
              <a:rPr sz="1600" spc="-10" dirty="0">
                <a:latin typeface="Carlito"/>
                <a:cs typeface="Carlito"/>
              </a:rPr>
              <a:t>can not achieve </a:t>
            </a:r>
            <a:r>
              <a:rPr sz="1600" dirty="0">
                <a:latin typeface="Carlito"/>
                <a:cs typeface="Carlito"/>
              </a:rPr>
              <a:t>all </a:t>
            </a:r>
            <a:r>
              <a:rPr sz="1600" spc="-5" dirty="0">
                <a:latin typeface="Carlito"/>
                <a:cs typeface="Carlito"/>
              </a:rPr>
              <a:t>the </a:t>
            </a:r>
            <a:r>
              <a:rPr sz="1600" spc="-10" dirty="0">
                <a:latin typeface="Carlito"/>
                <a:cs typeface="Carlito"/>
              </a:rPr>
              <a:t>three items  </a:t>
            </a:r>
            <a:r>
              <a:rPr sz="1600" spc="-5" dirty="0">
                <a:latin typeface="Carlito"/>
                <a:cs typeface="Carlito"/>
              </a:rPr>
              <a:t>In </a:t>
            </a:r>
            <a:r>
              <a:rPr sz="1600" spc="-10" dirty="0">
                <a:latin typeface="Carlito"/>
                <a:cs typeface="Carlito"/>
              </a:rPr>
              <a:t>distributed database </a:t>
            </a:r>
            <a:r>
              <a:rPr sz="1600" spc="-15" dirty="0">
                <a:latin typeface="Carlito"/>
                <a:cs typeface="Carlito"/>
              </a:rPr>
              <a:t>systems </a:t>
            </a:r>
            <a:r>
              <a:rPr sz="1600" spc="-10" dirty="0">
                <a:latin typeface="Carlito"/>
                <a:cs typeface="Carlito"/>
              </a:rPr>
              <a:t>(center)</a:t>
            </a:r>
            <a:endParaRPr sz="1600">
              <a:latin typeface="Carlito"/>
              <a:cs typeface="Carlito"/>
            </a:endParaRPr>
          </a:p>
        </p:txBody>
      </p:sp>
      <p:grpSp>
        <p:nvGrpSpPr>
          <p:cNvPr id="8" name="object 8"/>
          <p:cNvGrpSpPr/>
          <p:nvPr/>
        </p:nvGrpSpPr>
        <p:grpSpPr>
          <a:xfrm>
            <a:off x="140144" y="140144"/>
            <a:ext cx="8255634" cy="788035"/>
            <a:chOff x="140144" y="140144"/>
            <a:chExt cx="8255634" cy="788035"/>
          </a:xfrm>
        </p:grpSpPr>
        <p:sp>
          <p:nvSpPr>
            <p:cNvPr id="9" name="object 9"/>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10" name="object 10"/>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11" name="object 11"/>
          <p:cNvSpPr txBox="1">
            <a:spLocks noGrp="1"/>
          </p:cNvSpPr>
          <p:nvPr>
            <p:ph type="title"/>
          </p:nvPr>
        </p:nvSpPr>
        <p:spPr>
          <a:xfrm>
            <a:off x="371957" y="217119"/>
            <a:ext cx="2482215" cy="574675"/>
          </a:xfrm>
          <a:prstGeom prst="rect">
            <a:avLst/>
          </a:prstGeom>
        </p:spPr>
        <p:txBody>
          <a:bodyPr vert="horz" wrap="square" lIns="0" tIns="12700" rIns="0" bIns="0" rtlCol="0">
            <a:spAutoFit/>
          </a:bodyPr>
          <a:lstStyle/>
          <a:p>
            <a:pPr marL="12700">
              <a:lnSpc>
                <a:spcPct val="100000"/>
              </a:lnSpc>
              <a:spcBef>
                <a:spcPts val="100"/>
              </a:spcBef>
            </a:pPr>
            <a:r>
              <a:rPr spc="-5" dirty="0"/>
              <a:t>CAP</a:t>
            </a:r>
            <a:r>
              <a:rPr spc="-65" dirty="0"/>
              <a:t> </a:t>
            </a:r>
            <a:r>
              <a:rPr spc="-10" dirty="0"/>
              <a:t>theorem</a:t>
            </a:r>
          </a:p>
        </p:txBody>
      </p:sp>
      <p:grpSp>
        <p:nvGrpSpPr>
          <p:cNvPr id="12" name="object 12"/>
          <p:cNvGrpSpPr/>
          <p:nvPr/>
        </p:nvGrpSpPr>
        <p:grpSpPr>
          <a:xfrm>
            <a:off x="109728" y="1130808"/>
            <a:ext cx="5466715" cy="4965700"/>
            <a:chOff x="109728" y="1130808"/>
            <a:chExt cx="5466715" cy="4965700"/>
          </a:xfrm>
        </p:grpSpPr>
        <p:sp>
          <p:nvSpPr>
            <p:cNvPr id="13" name="object 13"/>
            <p:cNvSpPr/>
            <p:nvPr/>
          </p:nvSpPr>
          <p:spPr>
            <a:xfrm>
              <a:off x="109728" y="1143000"/>
              <a:ext cx="4995672" cy="4953000"/>
            </a:xfrm>
            <a:prstGeom prst="rect">
              <a:avLst/>
            </a:prstGeom>
            <a:blipFill>
              <a:blip r:embed="rId6" cstate="print"/>
              <a:stretch>
                <a:fillRect/>
              </a:stretch>
            </a:blipFill>
          </p:spPr>
          <p:txBody>
            <a:bodyPr wrap="square" lIns="0" tIns="0" rIns="0" bIns="0" rtlCol="0"/>
            <a:lstStyle/>
            <a:p>
              <a:endParaRPr/>
            </a:p>
          </p:txBody>
        </p:sp>
        <p:sp>
          <p:nvSpPr>
            <p:cNvPr id="14" name="object 14"/>
            <p:cNvSpPr/>
            <p:nvPr/>
          </p:nvSpPr>
          <p:spPr>
            <a:xfrm>
              <a:off x="4648962" y="1143762"/>
              <a:ext cx="914400" cy="125095"/>
            </a:xfrm>
            <a:custGeom>
              <a:avLst/>
              <a:gdLst/>
              <a:ahLst/>
              <a:cxnLst/>
              <a:rect l="l" t="t" r="r" b="b"/>
              <a:pathLst>
                <a:path w="914400" h="125094">
                  <a:moveTo>
                    <a:pt x="914400" y="0"/>
                  </a:moveTo>
                  <a:lnTo>
                    <a:pt x="0" y="0"/>
                  </a:lnTo>
                  <a:lnTo>
                    <a:pt x="0" y="124967"/>
                  </a:lnTo>
                  <a:lnTo>
                    <a:pt x="914400" y="124967"/>
                  </a:lnTo>
                  <a:lnTo>
                    <a:pt x="914400" y="0"/>
                  </a:lnTo>
                  <a:close/>
                </a:path>
              </a:pathLst>
            </a:custGeom>
            <a:solidFill>
              <a:srgbClr val="FFFFFF"/>
            </a:solidFill>
          </p:spPr>
          <p:txBody>
            <a:bodyPr wrap="square" lIns="0" tIns="0" rIns="0" bIns="0" rtlCol="0"/>
            <a:lstStyle/>
            <a:p>
              <a:endParaRPr/>
            </a:p>
          </p:txBody>
        </p:sp>
        <p:sp>
          <p:nvSpPr>
            <p:cNvPr id="15" name="object 15"/>
            <p:cNvSpPr/>
            <p:nvPr/>
          </p:nvSpPr>
          <p:spPr>
            <a:xfrm>
              <a:off x="4648962" y="1143762"/>
              <a:ext cx="914400" cy="125095"/>
            </a:xfrm>
            <a:custGeom>
              <a:avLst/>
              <a:gdLst/>
              <a:ahLst/>
              <a:cxnLst/>
              <a:rect l="l" t="t" r="r" b="b"/>
              <a:pathLst>
                <a:path w="914400" h="125094">
                  <a:moveTo>
                    <a:pt x="0" y="124967"/>
                  </a:moveTo>
                  <a:lnTo>
                    <a:pt x="914400" y="124967"/>
                  </a:lnTo>
                  <a:lnTo>
                    <a:pt x="914400" y="0"/>
                  </a:lnTo>
                  <a:lnTo>
                    <a:pt x="0" y="0"/>
                  </a:lnTo>
                  <a:lnTo>
                    <a:pt x="0" y="124967"/>
                  </a:lnTo>
                  <a:close/>
                </a:path>
              </a:pathLst>
            </a:custGeom>
            <a:ln w="25908">
              <a:solidFill>
                <a:srgbClr val="FFFFFF"/>
              </a:solidFill>
            </a:ln>
          </p:spPr>
          <p:txBody>
            <a:bodyPr wrap="square" lIns="0" tIns="0" rIns="0" bIns="0" rtlCol="0"/>
            <a:lstStyle/>
            <a:p>
              <a:endParaRPr/>
            </a:p>
          </p:txBody>
        </p:sp>
      </p:grpSp>
      <p:grpSp>
        <p:nvGrpSpPr>
          <p:cNvPr id="16" name="object 16"/>
          <p:cNvGrpSpPr/>
          <p:nvPr/>
        </p:nvGrpSpPr>
        <p:grpSpPr>
          <a:xfrm>
            <a:off x="8420100" y="0"/>
            <a:ext cx="723900" cy="1057910"/>
            <a:chOff x="8420100" y="0"/>
            <a:chExt cx="723900" cy="1057910"/>
          </a:xfrm>
        </p:grpSpPr>
        <p:sp>
          <p:nvSpPr>
            <p:cNvPr id="17" name="object 17"/>
            <p:cNvSpPr/>
            <p:nvPr/>
          </p:nvSpPr>
          <p:spPr>
            <a:xfrm>
              <a:off x="8531219" y="0"/>
              <a:ext cx="612780" cy="1057759"/>
            </a:xfrm>
            <a:prstGeom prst="rect">
              <a:avLst/>
            </a:prstGeom>
            <a:blipFill>
              <a:blip r:embed="rId7" cstate="print"/>
              <a:stretch>
                <a:fillRect/>
              </a:stretch>
            </a:blipFill>
          </p:spPr>
          <p:txBody>
            <a:bodyPr wrap="square" lIns="0" tIns="0" rIns="0" bIns="0" rtlCol="0"/>
            <a:lstStyle/>
            <a:p>
              <a:endParaRPr/>
            </a:p>
          </p:txBody>
        </p:sp>
        <p:sp>
          <p:nvSpPr>
            <p:cNvPr id="18" name="object 18"/>
            <p:cNvSpPr/>
            <p:nvPr/>
          </p:nvSpPr>
          <p:spPr>
            <a:xfrm>
              <a:off x="8420100" y="161544"/>
              <a:ext cx="723900" cy="827531"/>
            </a:xfrm>
            <a:prstGeom prst="rect">
              <a:avLst/>
            </a:prstGeom>
            <a:blipFill>
              <a:blip r:embed="rId8" cstate="print"/>
              <a:stretch>
                <a:fillRect/>
              </a:stretch>
            </a:blipFill>
          </p:spPr>
          <p:txBody>
            <a:bodyPr wrap="square" lIns="0" tIns="0" rIns="0" bIns="0" rtlCol="0"/>
            <a:lstStyle/>
            <a:p>
              <a:endParaRPr/>
            </a:p>
          </p:txBody>
        </p:sp>
        <p:sp>
          <p:nvSpPr>
            <p:cNvPr id="19" name="object 19"/>
            <p:cNvSpPr/>
            <p:nvPr/>
          </p:nvSpPr>
          <p:spPr>
            <a:xfrm>
              <a:off x="8569452" y="0"/>
              <a:ext cx="574548" cy="1001267"/>
            </a:xfrm>
            <a:prstGeom prst="rect">
              <a:avLst/>
            </a:prstGeom>
            <a:blipFill>
              <a:blip r:embed="rId9" cstate="print"/>
              <a:stretch>
                <a:fillRect/>
              </a:stretch>
            </a:blipFill>
          </p:spPr>
          <p:txBody>
            <a:bodyPr wrap="square" lIns="0" tIns="0" rIns="0" bIns="0" rtlCol="0"/>
            <a:lstStyle/>
            <a:p>
              <a:endParaRPr/>
            </a:p>
          </p:txBody>
        </p:sp>
      </p:grpSp>
      <p:sp>
        <p:nvSpPr>
          <p:cNvPr id="20" name="object 20"/>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27</a:t>
            </a:r>
            <a:endParaRPr sz="2800">
              <a:latin typeface="Carlito"/>
              <a:cs typeface="Carli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42416" y="1283208"/>
            <a:ext cx="6591300" cy="4424680"/>
            <a:chOff x="1042416" y="1283208"/>
            <a:chExt cx="6591300" cy="4424680"/>
          </a:xfrm>
        </p:grpSpPr>
        <p:sp>
          <p:nvSpPr>
            <p:cNvPr id="3" name="object 3"/>
            <p:cNvSpPr/>
            <p:nvPr/>
          </p:nvSpPr>
          <p:spPr>
            <a:xfrm>
              <a:off x="1042416" y="1371600"/>
              <a:ext cx="6449568" cy="433578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401562" y="1296162"/>
              <a:ext cx="1219200" cy="228600"/>
            </a:xfrm>
            <a:custGeom>
              <a:avLst/>
              <a:gdLst/>
              <a:ahLst/>
              <a:cxnLst/>
              <a:rect l="l" t="t" r="r" b="b"/>
              <a:pathLst>
                <a:path w="1219200" h="228600">
                  <a:moveTo>
                    <a:pt x="1219199" y="0"/>
                  </a:moveTo>
                  <a:lnTo>
                    <a:pt x="0" y="0"/>
                  </a:lnTo>
                  <a:lnTo>
                    <a:pt x="0" y="228600"/>
                  </a:lnTo>
                  <a:lnTo>
                    <a:pt x="1219199" y="228600"/>
                  </a:lnTo>
                  <a:lnTo>
                    <a:pt x="1219199" y="0"/>
                  </a:lnTo>
                  <a:close/>
                </a:path>
              </a:pathLst>
            </a:custGeom>
            <a:solidFill>
              <a:srgbClr val="FFFFFF"/>
            </a:solidFill>
          </p:spPr>
          <p:txBody>
            <a:bodyPr wrap="square" lIns="0" tIns="0" rIns="0" bIns="0" rtlCol="0"/>
            <a:lstStyle/>
            <a:p>
              <a:endParaRPr/>
            </a:p>
          </p:txBody>
        </p:sp>
        <p:sp>
          <p:nvSpPr>
            <p:cNvPr id="5" name="object 5"/>
            <p:cNvSpPr/>
            <p:nvPr/>
          </p:nvSpPr>
          <p:spPr>
            <a:xfrm>
              <a:off x="6401562" y="1296162"/>
              <a:ext cx="1219200" cy="228600"/>
            </a:xfrm>
            <a:custGeom>
              <a:avLst/>
              <a:gdLst/>
              <a:ahLst/>
              <a:cxnLst/>
              <a:rect l="l" t="t" r="r" b="b"/>
              <a:pathLst>
                <a:path w="1219200" h="228600">
                  <a:moveTo>
                    <a:pt x="0" y="228600"/>
                  </a:moveTo>
                  <a:lnTo>
                    <a:pt x="1219199" y="228600"/>
                  </a:lnTo>
                  <a:lnTo>
                    <a:pt x="1219199" y="0"/>
                  </a:lnTo>
                  <a:lnTo>
                    <a:pt x="0" y="0"/>
                  </a:lnTo>
                  <a:lnTo>
                    <a:pt x="0" y="228600"/>
                  </a:lnTo>
                  <a:close/>
                </a:path>
              </a:pathLst>
            </a:custGeom>
            <a:ln w="25908">
              <a:solidFill>
                <a:srgbClr val="FFFFFF"/>
              </a:solidFill>
            </a:ln>
          </p:spPr>
          <p:txBody>
            <a:bodyPr wrap="square" lIns="0" tIns="0" rIns="0" bIns="0" rtlCol="0"/>
            <a:lstStyle/>
            <a:p>
              <a:endParaRPr/>
            </a:p>
          </p:txBody>
        </p:sp>
      </p:grpSp>
      <p:grpSp>
        <p:nvGrpSpPr>
          <p:cNvPr id="6" name="object 6"/>
          <p:cNvGrpSpPr/>
          <p:nvPr/>
        </p:nvGrpSpPr>
        <p:grpSpPr>
          <a:xfrm>
            <a:off x="140144" y="140144"/>
            <a:ext cx="8255634" cy="788035"/>
            <a:chOff x="140144" y="140144"/>
            <a:chExt cx="8255634" cy="788035"/>
          </a:xfrm>
        </p:grpSpPr>
        <p:sp>
          <p:nvSpPr>
            <p:cNvPr id="7" name="object 7"/>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8" name="object 8"/>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9" name="object 9"/>
          <p:cNvSpPr txBox="1">
            <a:spLocks noGrp="1"/>
          </p:cNvSpPr>
          <p:nvPr>
            <p:ph type="title"/>
          </p:nvPr>
        </p:nvSpPr>
        <p:spPr>
          <a:xfrm>
            <a:off x="371957" y="217119"/>
            <a:ext cx="2482215" cy="574675"/>
          </a:xfrm>
          <a:prstGeom prst="rect">
            <a:avLst/>
          </a:prstGeom>
        </p:spPr>
        <p:txBody>
          <a:bodyPr vert="horz" wrap="square" lIns="0" tIns="12700" rIns="0" bIns="0" rtlCol="0">
            <a:spAutoFit/>
          </a:bodyPr>
          <a:lstStyle/>
          <a:p>
            <a:pPr marL="12700">
              <a:lnSpc>
                <a:spcPct val="100000"/>
              </a:lnSpc>
              <a:spcBef>
                <a:spcPts val="100"/>
              </a:spcBef>
            </a:pPr>
            <a:r>
              <a:rPr spc="-5" dirty="0"/>
              <a:t>CAP</a:t>
            </a:r>
            <a:r>
              <a:rPr spc="-65" dirty="0"/>
              <a:t> </a:t>
            </a:r>
            <a:r>
              <a:rPr spc="-10" dirty="0"/>
              <a:t>theorem</a:t>
            </a:r>
          </a:p>
        </p:txBody>
      </p:sp>
      <p:grpSp>
        <p:nvGrpSpPr>
          <p:cNvPr id="10" name="object 10"/>
          <p:cNvGrpSpPr/>
          <p:nvPr/>
        </p:nvGrpSpPr>
        <p:grpSpPr>
          <a:xfrm>
            <a:off x="8420100" y="0"/>
            <a:ext cx="723900" cy="1057910"/>
            <a:chOff x="8420100" y="0"/>
            <a:chExt cx="723900" cy="1057910"/>
          </a:xfrm>
        </p:grpSpPr>
        <p:sp>
          <p:nvSpPr>
            <p:cNvPr id="11" name="object 11"/>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8420100" y="161544"/>
              <a:ext cx="723900" cy="827531"/>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4" name="object 14"/>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28</a:t>
            </a:r>
            <a:endParaRPr sz="2800">
              <a:latin typeface="Carlito"/>
              <a:cs typeface="Carlit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85800" y="1207008"/>
            <a:ext cx="6934200" cy="4814570"/>
            <a:chOff x="685800" y="1207008"/>
            <a:chExt cx="6934200" cy="4814570"/>
          </a:xfrm>
        </p:grpSpPr>
        <p:sp>
          <p:nvSpPr>
            <p:cNvPr id="3" name="object 3"/>
            <p:cNvSpPr/>
            <p:nvPr/>
          </p:nvSpPr>
          <p:spPr>
            <a:xfrm>
              <a:off x="685800" y="1213104"/>
              <a:ext cx="6934200" cy="480822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6325361" y="1219962"/>
              <a:ext cx="914400" cy="152400"/>
            </a:xfrm>
            <a:custGeom>
              <a:avLst/>
              <a:gdLst/>
              <a:ahLst/>
              <a:cxnLst/>
              <a:rect l="l" t="t" r="r" b="b"/>
              <a:pathLst>
                <a:path w="914400" h="152400">
                  <a:moveTo>
                    <a:pt x="914399" y="0"/>
                  </a:moveTo>
                  <a:lnTo>
                    <a:pt x="0" y="0"/>
                  </a:lnTo>
                  <a:lnTo>
                    <a:pt x="0" y="152400"/>
                  </a:lnTo>
                  <a:lnTo>
                    <a:pt x="914399" y="152400"/>
                  </a:lnTo>
                  <a:lnTo>
                    <a:pt x="914399" y="0"/>
                  </a:lnTo>
                  <a:close/>
                </a:path>
              </a:pathLst>
            </a:custGeom>
            <a:solidFill>
              <a:srgbClr val="FFFFFF"/>
            </a:solidFill>
          </p:spPr>
          <p:txBody>
            <a:bodyPr wrap="square" lIns="0" tIns="0" rIns="0" bIns="0" rtlCol="0"/>
            <a:lstStyle/>
            <a:p>
              <a:endParaRPr/>
            </a:p>
          </p:txBody>
        </p:sp>
        <p:sp>
          <p:nvSpPr>
            <p:cNvPr id="5" name="object 5"/>
            <p:cNvSpPr/>
            <p:nvPr/>
          </p:nvSpPr>
          <p:spPr>
            <a:xfrm>
              <a:off x="6325361" y="1219962"/>
              <a:ext cx="914400" cy="152400"/>
            </a:xfrm>
            <a:custGeom>
              <a:avLst/>
              <a:gdLst/>
              <a:ahLst/>
              <a:cxnLst/>
              <a:rect l="l" t="t" r="r" b="b"/>
              <a:pathLst>
                <a:path w="914400" h="152400">
                  <a:moveTo>
                    <a:pt x="0" y="152400"/>
                  </a:moveTo>
                  <a:lnTo>
                    <a:pt x="914399" y="152400"/>
                  </a:lnTo>
                  <a:lnTo>
                    <a:pt x="914399" y="0"/>
                  </a:lnTo>
                  <a:lnTo>
                    <a:pt x="0" y="0"/>
                  </a:lnTo>
                  <a:lnTo>
                    <a:pt x="0" y="152400"/>
                  </a:lnTo>
                  <a:close/>
                </a:path>
              </a:pathLst>
            </a:custGeom>
            <a:ln w="25908">
              <a:solidFill>
                <a:srgbClr val="FFFFFF"/>
              </a:solidFill>
            </a:ln>
          </p:spPr>
          <p:txBody>
            <a:bodyPr wrap="square" lIns="0" tIns="0" rIns="0" bIns="0" rtlCol="0"/>
            <a:lstStyle/>
            <a:p>
              <a:endParaRPr/>
            </a:p>
          </p:txBody>
        </p:sp>
      </p:grpSp>
      <p:grpSp>
        <p:nvGrpSpPr>
          <p:cNvPr id="6" name="object 6"/>
          <p:cNvGrpSpPr/>
          <p:nvPr/>
        </p:nvGrpSpPr>
        <p:grpSpPr>
          <a:xfrm>
            <a:off x="140144" y="140144"/>
            <a:ext cx="8255634" cy="788035"/>
            <a:chOff x="140144" y="140144"/>
            <a:chExt cx="8255634" cy="788035"/>
          </a:xfrm>
        </p:grpSpPr>
        <p:sp>
          <p:nvSpPr>
            <p:cNvPr id="7" name="object 7"/>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8" name="object 8"/>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9" name="object 9"/>
          <p:cNvSpPr txBox="1">
            <a:spLocks noGrp="1"/>
          </p:cNvSpPr>
          <p:nvPr>
            <p:ph type="title"/>
          </p:nvPr>
        </p:nvSpPr>
        <p:spPr>
          <a:xfrm>
            <a:off x="371957" y="217119"/>
            <a:ext cx="2486025" cy="574675"/>
          </a:xfrm>
          <a:prstGeom prst="rect">
            <a:avLst/>
          </a:prstGeom>
        </p:spPr>
        <p:txBody>
          <a:bodyPr vert="horz" wrap="square" lIns="0" tIns="12700" rIns="0" bIns="0" rtlCol="0">
            <a:spAutoFit/>
          </a:bodyPr>
          <a:lstStyle/>
          <a:p>
            <a:pPr marL="12700">
              <a:lnSpc>
                <a:spcPct val="100000"/>
              </a:lnSpc>
              <a:spcBef>
                <a:spcPts val="100"/>
              </a:spcBef>
            </a:pPr>
            <a:r>
              <a:rPr spc="-5" dirty="0"/>
              <a:t>Conclusion….</a:t>
            </a:r>
          </a:p>
        </p:txBody>
      </p:sp>
      <p:grpSp>
        <p:nvGrpSpPr>
          <p:cNvPr id="10" name="object 10"/>
          <p:cNvGrpSpPr/>
          <p:nvPr/>
        </p:nvGrpSpPr>
        <p:grpSpPr>
          <a:xfrm>
            <a:off x="8420100" y="0"/>
            <a:ext cx="723900" cy="1057910"/>
            <a:chOff x="8420100" y="0"/>
            <a:chExt cx="723900" cy="1057910"/>
          </a:xfrm>
        </p:grpSpPr>
        <p:sp>
          <p:nvSpPr>
            <p:cNvPr id="11" name="object 11"/>
            <p:cNvSpPr/>
            <p:nvPr/>
          </p:nvSpPr>
          <p:spPr>
            <a:xfrm>
              <a:off x="8531219" y="0"/>
              <a:ext cx="612780" cy="1057759"/>
            </a:xfrm>
            <a:prstGeom prst="rect">
              <a:avLst/>
            </a:prstGeom>
            <a:blipFill>
              <a:blip r:embed="rId3" cstate="print"/>
              <a:stretch>
                <a:fillRect/>
              </a:stretch>
            </a:blipFill>
          </p:spPr>
          <p:txBody>
            <a:bodyPr wrap="square" lIns="0" tIns="0" rIns="0" bIns="0" rtlCol="0"/>
            <a:lstStyle/>
            <a:p>
              <a:endParaRPr/>
            </a:p>
          </p:txBody>
        </p:sp>
        <p:sp>
          <p:nvSpPr>
            <p:cNvPr id="12" name="object 12"/>
            <p:cNvSpPr/>
            <p:nvPr/>
          </p:nvSpPr>
          <p:spPr>
            <a:xfrm>
              <a:off x="8420100" y="161544"/>
              <a:ext cx="723900" cy="827531"/>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8569452" y="0"/>
              <a:ext cx="574548" cy="1001267"/>
            </a:xfrm>
            <a:prstGeom prst="rect">
              <a:avLst/>
            </a:prstGeom>
            <a:blipFill>
              <a:blip r:embed="rId5" cstate="print"/>
              <a:stretch>
                <a:fillRect/>
              </a:stretch>
            </a:blipFill>
          </p:spPr>
          <p:txBody>
            <a:bodyPr wrap="square" lIns="0" tIns="0" rIns="0" bIns="0" rtlCol="0"/>
            <a:lstStyle/>
            <a:p>
              <a:endParaRPr/>
            </a:p>
          </p:txBody>
        </p:sp>
      </p:grpSp>
      <p:sp>
        <p:nvSpPr>
          <p:cNvPr id="14" name="object 14"/>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29</a:t>
            </a:r>
            <a:endParaRPr sz="2800">
              <a:latin typeface="Carlito"/>
              <a:cs typeface="Carlit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40144" y="140144"/>
            <a:ext cx="8255634" cy="788035"/>
            <a:chOff x="140144" y="140144"/>
            <a:chExt cx="8255634" cy="788035"/>
          </a:xfrm>
        </p:grpSpPr>
        <p:sp>
          <p:nvSpPr>
            <p:cNvPr id="3" name="object 3"/>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4" name="object 4"/>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
        <p:nvSpPr>
          <p:cNvPr id="5" name="object 5"/>
          <p:cNvSpPr txBox="1">
            <a:spLocks noGrp="1"/>
          </p:cNvSpPr>
          <p:nvPr>
            <p:ph type="title"/>
          </p:nvPr>
        </p:nvSpPr>
        <p:spPr>
          <a:xfrm>
            <a:off x="371957" y="217119"/>
            <a:ext cx="2297430" cy="574675"/>
          </a:xfrm>
          <a:prstGeom prst="rect">
            <a:avLst/>
          </a:prstGeom>
        </p:spPr>
        <p:txBody>
          <a:bodyPr vert="horz" wrap="square" lIns="0" tIns="12700" rIns="0" bIns="0" rtlCol="0">
            <a:spAutoFit/>
          </a:bodyPr>
          <a:lstStyle/>
          <a:p>
            <a:pPr marL="12700">
              <a:lnSpc>
                <a:spcPct val="100000"/>
              </a:lnSpc>
              <a:spcBef>
                <a:spcPts val="100"/>
              </a:spcBef>
            </a:pPr>
            <a:r>
              <a:rPr spc="-25" dirty="0"/>
              <a:t>References..</a:t>
            </a:r>
          </a:p>
        </p:txBody>
      </p:sp>
      <p:sp>
        <p:nvSpPr>
          <p:cNvPr id="6" name="object 6"/>
          <p:cNvSpPr txBox="1"/>
          <p:nvPr/>
        </p:nvSpPr>
        <p:spPr>
          <a:xfrm>
            <a:off x="612140" y="1314958"/>
            <a:ext cx="7561580" cy="3590925"/>
          </a:xfrm>
          <a:prstGeom prst="rect">
            <a:avLst/>
          </a:prstGeom>
        </p:spPr>
        <p:txBody>
          <a:bodyPr vert="horz" wrap="square" lIns="0" tIns="12700" rIns="0" bIns="0" rtlCol="0">
            <a:spAutoFit/>
          </a:bodyPr>
          <a:lstStyle/>
          <a:p>
            <a:pPr marL="299085" indent="-287020">
              <a:lnSpc>
                <a:spcPct val="100000"/>
              </a:lnSpc>
              <a:spcBef>
                <a:spcPts val="100"/>
              </a:spcBef>
              <a:buFont typeface="Wingdings"/>
              <a:buChar char=""/>
              <a:tabLst>
                <a:tab pos="299720" algn="l"/>
              </a:tabLst>
            </a:pPr>
            <a:r>
              <a:rPr sz="1800" b="1" spc="-5" dirty="0">
                <a:latin typeface="Carlito"/>
                <a:cs typeface="Carlito"/>
              </a:rPr>
              <a:t>nosql</a:t>
            </a:r>
            <a:r>
              <a:rPr sz="1800" spc="-5" dirty="0">
                <a:latin typeface="Carlito"/>
                <a:cs typeface="Carlito"/>
              </a:rPr>
              <a:t>-database.org/</a:t>
            </a:r>
            <a:endParaRPr sz="1800">
              <a:latin typeface="Carlito"/>
              <a:cs typeface="Carlito"/>
            </a:endParaRPr>
          </a:p>
          <a:p>
            <a:pPr>
              <a:lnSpc>
                <a:spcPct val="100000"/>
              </a:lnSpc>
              <a:spcBef>
                <a:spcPts val="20"/>
              </a:spcBef>
              <a:buFont typeface="Wingdings"/>
              <a:buChar char=""/>
            </a:pPr>
            <a:endParaRPr sz="1750">
              <a:latin typeface="Carlito"/>
              <a:cs typeface="Carlito"/>
            </a:endParaRPr>
          </a:p>
          <a:p>
            <a:pPr marL="299085" indent="-287020">
              <a:lnSpc>
                <a:spcPct val="100000"/>
              </a:lnSpc>
              <a:buFont typeface="Wingdings"/>
              <a:buChar char=""/>
              <a:tabLst>
                <a:tab pos="299720" algn="l"/>
              </a:tabLst>
            </a:pPr>
            <a:r>
              <a:rPr sz="1800" spc="-10" dirty="0">
                <a:latin typeface="Carlito"/>
                <a:cs typeface="Carlito"/>
              </a:rPr>
              <a:t>http</a:t>
            </a:r>
            <a:r>
              <a:rPr sz="1800" spc="-10" dirty="0">
                <a:latin typeface="Carlito"/>
                <a:cs typeface="Carlito"/>
                <a:hlinkClick r:id="rId2"/>
              </a:rPr>
              <a:t>s://ww</a:t>
            </a:r>
            <a:r>
              <a:rPr sz="1800" spc="-10" dirty="0">
                <a:latin typeface="Carlito"/>
                <a:cs typeface="Carlito"/>
              </a:rPr>
              <a:t>w</a:t>
            </a:r>
            <a:r>
              <a:rPr sz="1800" spc="-10" dirty="0">
                <a:latin typeface="Carlito"/>
                <a:cs typeface="Carlito"/>
                <a:hlinkClick r:id="rId2"/>
              </a:rPr>
              <a:t>.mongodb.com/</a:t>
            </a:r>
            <a:r>
              <a:rPr sz="1800" b="1" spc="-10" dirty="0">
                <a:latin typeface="Carlito"/>
                <a:cs typeface="Carlito"/>
              </a:rPr>
              <a:t>no</a:t>
            </a:r>
            <a:r>
              <a:rPr sz="1800" b="1" spc="-10" dirty="0">
                <a:latin typeface="Carlito"/>
                <a:cs typeface="Carlito"/>
                <a:hlinkClick r:id="rId2"/>
              </a:rPr>
              <a:t>sql</a:t>
            </a:r>
            <a:r>
              <a:rPr sz="1800" spc="-10" dirty="0">
                <a:latin typeface="Carlito"/>
                <a:cs typeface="Carlito"/>
                <a:hlinkClick r:id="rId2"/>
              </a:rPr>
              <a:t>-explained</a:t>
            </a:r>
            <a:endParaRPr sz="1800">
              <a:latin typeface="Carlito"/>
              <a:cs typeface="Carlito"/>
            </a:endParaRPr>
          </a:p>
          <a:p>
            <a:pPr>
              <a:lnSpc>
                <a:spcPct val="100000"/>
              </a:lnSpc>
              <a:spcBef>
                <a:spcPts val="30"/>
              </a:spcBef>
              <a:buFont typeface="Wingdings"/>
              <a:buChar char=""/>
            </a:pPr>
            <a:endParaRPr sz="1750">
              <a:latin typeface="Carlito"/>
              <a:cs typeface="Carlito"/>
            </a:endParaRPr>
          </a:p>
          <a:p>
            <a:pPr marL="299085" indent="-287020">
              <a:lnSpc>
                <a:spcPct val="100000"/>
              </a:lnSpc>
              <a:buFont typeface="Wingdings"/>
              <a:buChar char=""/>
              <a:tabLst>
                <a:tab pos="299720" algn="l"/>
              </a:tabLst>
            </a:pPr>
            <a:r>
              <a:rPr sz="1800" spc="-10" dirty="0">
                <a:latin typeface="Carlito"/>
                <a:cs typeface="Carlito"/>
                <a:hlinkClick r:id="rId3"/>
              </a:rPr>
              <a:t>www.couchbase.com/</a:t>
            </a:r>
            <a:r>
              <a:rPr sz="1800" b="1" spc="-10" dirty="0">
                <a:latin typeface="Carlito"/>
                <a:cs typeface="Carlito"/>
                <a:hlinkClick r:id="rId3"/>
              </a:rPr>
              <a:t>nosql</a:t>
            </a:r>
            <a:r>
              <a:rPr sz="1800" spc="-10" dirty="0">
                <a:latin typeface="Carlito"/>
                <a:cs typeface="Carlito"/>
                <a:hlinkClick r:id="rId3"/>
              </a:rPr>
              <a:t>-resources/what-is-</a:t>
            </a:r>
            <a:r>
              <a:rPr sz="1800" b="1" spc="-10" dirty="0">
                <a:latin typeface="Carlito"/>
                <a:cs typeface="Carlito"/>
                <a:hlinkClick r:id="rId3"/>
              </a:rPr>
              <a:t>no</a:t>
            </a:r>
            <a:r>
              <a:rPr sz="1800" spc="-10" dirty="0">
                <a:latin typeface="Carlito"/>
                <a:cs typeface="Carlito"/>
                <a:hlinkClick r:id="rId3"/>
              </a:rPr>
              <a:t>-</a:t>
            </a:r>
            <a:r>
              <a:rPr sz="1800" b="1" spc="-10" dirty="0">
                <a:latin typeface="Carlito"/>
                <a:cs typeface="Carlito"/>
                <a:hlinkClick r:id="rId3"/>
              </a:rPr>
              <a:t>sql</a:t>
            </a:r>
            <a:endParaRPr sz="1800">
              <a:latin typeface="Carlito"/>
              <a:cs typeface="Carlito"/>
            </a:endParaRPr>
          </a:p>
          <a:p>
            <a:pPr>
              <a:lnSpc>
                <a:spcPct val="100000"/>
              </a:lnSpc>
              <a:spcBef>
                <a:spcPts val="10"/>
              </a:spcBef>
              <a:buFont typeface="Wingdings"/>
              <a:buChar char=""/>
            </a:pPr>
            <a:endParaRPr sz="1750">
              <a:latin typeface="Carlito"/>
              <a:cs typeface="Carlito"/>
            </a:endParaRPr>
          </a:p>
          <a:p>
            <a:pPr marL="299085" marR="5080" indent="-287020">
              <a:lnSpc>
                <a:spcPct val="100000"/>
              </a:lnSpc>
              <a:buClr>
                <a:srgbClr val="000000"/>
              </a:buClr>
              <a:buFont typeface="Wingdings"/>
              <a:buChar char=""/>
              <a:tabLst>
                <a:tab pos="299720" algn="l"/>
              </a:tabLst>
            </a:pPr>
            <a:r>
              <a:rPr sz="1800" u="heavy" spc="-5" dirty="0">
                <a:solidFill>
                  <a:srgbClr val="0000FF"/>
                </a:solidFill>
                <a:uFill>
                  <a:solidFill>
                    <a:srgbClr val="0000FF"/>
                  </a:solidFill>
                </a:uFill>
                <a:latin typeface="Carlito"/>
                <a:cs typeface="Carlito"/>
                <a:hlinkClick r:id="rId4"/>
              </a:rPr>
              <a:t>http://nosql-database.org/</a:t>
            </a:r>
            <a:r>
              <a:rPr sz="1800" spc="-5" dirty="0">
                <a:solidFill>
                  <a:srgbClr val="0000FF"/>
                </a:solidFill>
                <a:latin typeface="Carlito"/>
                <a:cs typeface="Carlito"/>
                <a:hlinkClick r:id="rId4"/>
              </a:rPr>
              <a:t> </a:t>
            </a:r>
            <a:r>
              <a:rPr sz="1800" spc="-5" dirty="0">
                <a:latin typeface="Carlito"/>
                <a:cs typeface="Carlito"/>
              </a:rPr>
              <a:t>"NoSQL DEFINITION: </a:t>
            </a:r>
            <a:r>
              <a:rPr sz="1800" spc="-10" dirty="0">
                <a:latin typeface="Carlito"/>
                <a:cs typeface="Carlito"/>
              </a:rPr>
              <a:t>Next Generation </a:t>
            </a:r>
            <a:r>
              <a:rPr sz="1800" spc="-5" dirty="0">
                <a:latin typeface="Carlito"/>
                <a:cs typeface="Carlito"/>
              </a:rPr>
              <a:t>Databases  mostly addressing some of </a:t>
            </a:r>
            <a:r>
              <a:rPr sz="1800" dirty="0">
                <a:latin typeface="Carlito"/>
                <a:cs typeface="Carlito"/>
              </a:rPr>
              <a:t>the </a:t>
            </a:r>
            <a:r>
              <a:rPr sz="1800" spc="-5" dirty="0">
                <a:latin typeface="Carlito"/>
                <a:cs typeface="Carlito"/>
              </a:rPr>
              <a:t>points: being non-relational, </a:t>
            </a:r>
            <a:r>
              <a:rPr sz="1800" spc="-10" dirty="0">
                <a:latin typeface="Carlito"/>
                <a:cs typeface="Carlito"/>
              </a:rPr>
              <a:t>distributed, </a:t>
            </a:r>
            <a:r>
              <a:rPr sz="1800" dirty="0">
                <a:latin typeface="Carlito"/>
                <a:cs typeface="Carlito"/>
              </a:rPr>
              <a:t>open-  </a:t>
            </a:r>
            <a:r>
              <a:rPr sz="1800" spc="-10" dirty="0">
                <a:latin typeface="Carlito"/>
                <a:cs typeface="Carlito"/>
              </a:rPr>
              <a:t>source </a:t>
            </a:r>
            <a:r>
              <a:rPr sz="1800" dirty="0">
                <a:latin typeface="Carlito"/>
                <a:cs typeface="Carlito"/>
              </a:rPr>
              <a:t>and </a:t>
            </a:r>
            <a:r>
              <a:rPr sz="1800" spc="-15" dirty="0">
                <a:latin typeface="Carlito"/>
                <a:cs typeface="Carlito"/>
              </a:rPr>
              <a:t>horizontally</a:t>
            </a:r>
            <a:r>
              <a:rPr sz="1800" spc="50" dirty="0">
                <a:latin typeface="Carlito"/>
                <a:cs typeface="Carlito"/>
              </a:rPr>
              <a:t> </a:t>
            </a:r>
            <a:r>
              <a:rPr sz="1800" spc="-5" dirty="0">
                <a:latin typeface="Carlito"/>
                <a:cs typeface="Carlito"/>
              </a:rPr>
              <a:t>scalable“</a:t>
            </a:r>
            <a:endParaRPr sz="1800">
              <a:latin typeface="Carlito"/>
              <a:cs typeface="Carlito"/>
            </a:endParaRPr>
          </a:p>
          <a:p>
            <a:pPr>
              <a:lnSpc>
                <a:spcPct val="100000"/>
              </a:lnSpc>
              <a:spcBef>
                <a:spcPts val="25"/>
              </a:spcBef>
              <a:buFont typeface="Wingdings"/>
              <a:buChar char=""/>
            </a:pPr>
            <a:endParaRPr sz="1750">
              <a:latin typeface="Carlito"/>
              <a:cs typeface="Carlito"/>
            </a:endParaRPr>
          </a:p>
          <a:p>
            <a:pPr marL="299085" indent="-287020">
              <a:lnSpc>
                <a:spcPct val="100000"/>
              </a:lnSpc>
              <a:buFont typeface="Wingdings"/>
              <a:buChar char=""/>
              <a:tabLst>
                <a:tab pos="299720" algn="l"/>
              </a:tabLst>
            </a:pPr>
            <a:r>
              <a:rPr sz="1800" dirty="0">
                <a:latin typeface="Carlito"/>
                <a:cs typeface="Carlito"/>
              </a:rPr>
              <a:t>NoSQL </a:t>
            </a:r>
            <a:r>
              <a:rPr sz="1800" spc="-5" dirty="0">
                <a:latin typeface="Carlito"/>
                <a:cs typeface="Carlito"/>
              </a:rPr>
              <a:t>distilled, Martin</a:t>
            </a:r>
            <a:r>
              <a:rPr sz="1800" spc="45" dirty="0">
                <a:latin typeface="Carlito"/>
                <a:cs typeface="Carlito"/>
              </a:rPr>
              <a:t> </a:t>
            </a:r>
            <a:r>
              <a:rPr sz="1800" spc="-10" dirty="0">
                <a:latin typeface="Carlito"/>
                <a:cs typeface="Carlito"/>
              </a:rPr>
              <a:t>Fowler</a:t>
            </a:r>
            <a:endParaRPr sz="1800">
              <a:latin typeface="Carlito"/>
              <a:cs typeface="Carlito"/>
            </a:endParaRPr>
          </a:p>
          <a:p>
            <a:pPr>
              <a:lnSpc>
                <a:spcPct val="100000"/>
              </a:lnSpc>
              <a:spcBef>
                <a:spcPts val="25"/>
              </a:spcBef>
              <a:buFont typeface="Wingdings"/>
              <a:buChar char=""/>
            </a:pPr>
            <a:endParaRPr sz="1750">
              <a:latin typeface="Carlito"/>
              <a:cs typeface="Carlito"/>
            </a:endParaRPr>
          </a:p>
          <a:p>
            <a:pPr marL="299085" indent="-287020">
              <a:lnSpc>
                <a:spcPct val="100000"/>
              </a:lnSpc>
              <a:buFont typeface="Wingdings"/>
              <a:buChar char=""/>
              <a:tabLst>
                <a:tab pos="299720" algn="l"/>
              </a:tabLst>
            </a:pPr>
            <a:r>
              <a:rPr sz="1800" spc="-5" dirty="0">
                <a:latin typeface="Carlito"/>
                <a:cs typeface="Carlito"/>
              </a:rPr>
              <a:t>Please </a:t>
            </a:r>
            <a:r>
              <a:rPr sz="1800" spc="-20" dirty="0">
                <a:latin typeface="Carlito"/>
                <a:cs typeface="Carlito"/>
              </a:rPr>
              <a:t>like </a:t>
            </a:r>
            <a:r>
              <a:rPr sz="1800" dirty="0">
                <a:latin typeface="Carlito"/>
                <a:cs typeface="Carlito"/>
              </a:rPr>
              <a:t>and </a:t>
            </a:r>
            <a:r>
              <a:rPr sz="1800" spc="-15" dirty="0">
                <a:latin typeface="Carlito"/>
                <a:cs typeface="Carlito"/>
              </a:rPr>
              <a:t>follow </a:t>
            </a:r>
            <a:r>
              <a:rPr sz="1800" spc="-10" dirty="0">
                <a:latin typeface="Carlito"/>
                <a:cs typeface="Carlito"/>
              </a:rPr>
              <a:t>a</a:t>
            </a:r>
            <a:r>
              <a:rPr sz="1800" spc="-10" dirty="0">
                <a:latin typeface="Carlito"/>
                <a:cs typeface="Carlito"/>
                <a:hlinkClick r:id="rId5"/>
              </a:rPr>
              <a:t>t</a:t>
            </a:r>
            <a:r>
              <a:rPr sz="1800" spc="65" dirty="0">
                <a:latin typeface="Carlito"/>
                <a:cs typeface="Carlito"/>
                <a:hlinkClick r:id="rId5"/>
              </a:rPr>
              <a:t> </a:t>
            </a:r>
            <a:r>
              <a:rPr sz="1800" spc="-10" dirty="0">
                <a:latin typeface="Carlito"/>
                <a:cs typeface="Carlito"/>
                <a:hlinkClick r:id="rId5"/>
              </a:rPr>
              <a:t>www.slideshare.net/AshwaniKumar274</a:t>
            </a:r>
            <a:endParaRPr sz="1800">
              <a:latin typeface="Carlito"/>
              <a:cs typeface="Carlito"/>
            </a:endParaRPr>
          </a:p>
        </p:txBody>
      </p:sp>
      <p:grpSp>
        <p:nvGrpSpPr>
          <p:cNvPr id="7" name="object 7"/>
          <p:cNvGrpSpPr/>
          <p:nvPr/>
        </p:nvGrpSpPr>
        <p:grpSpPr>
          <a:xfrm>
            <a:off x="8420100" y="0"/>
            <a:ext cx="723900" cy="1057910"/>
            <a:chOff x="8420100" y="0"/>
            <a:chExt cx="723900" cy="1057910"/>
          </a:xfrm>
        </p:grpSpPr>
        <p:sp>
          <p:nvSpPr>
            <p:cNvPr id="8" name="object 8"/>
            <p:cNvSpPr/>
            <p:nvPr/>
          </p:nvSpPr>
          <p:spPr>
            <a:xfrm>
              <a:off x="8531219" y="0"/>
              <a:ext cx="612780" cy="1057759"/>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8420100" y="161544"/>
              <a:ext cx="723900" cy="827531"/>
            </a:xfrm>
            <a:prstGeom prst="rect">
              <a:avLst/>
            </a:prstGeom>
            <a:blipFill>
              <a:blip r:embed="rId7" cstate="print"/>
              <a:stretch>
                <a:fillRect/>
              </a:stretch>
            </a:blipFill>
          </p:spPr>
          <p:txBody>
            <a:bodyPr wrap="square" lIns="0" tIns="0" rIns="0" bIns="0" rtlCol="0"/>
            <a:lstStyle/>
            <a:p>
              <a:endParaRPr/>
            </a:p>
          </p:txBody>
        </p:sp>
        <p:sp>
          <p:nvSpPr>
            <p:cNvPr id="10" name="object 10"/>
            <p:cNvSpPr/>
            <p:nvPr/>
          </p:nvSpPr>
          <p:spPr>
            <a:xfrm>
              <a:off x="8569452" y="0"/>
              <a:ext cx="574548" cy="1001267"/>
            </a:xfrm>
            <a:prstGeom prst="rect">
              <a:avLst/>
            </a:prstGeom>
            <a:blipFill>
              <a:blip r:embed="rId8" cstate="print"/>
              <a:stretch>
                <a:fillRect/>
              </a:stretch>
            </a:blipFill>
          </p:spPr>
          <p:txBody>
            <a:bodyPr wrap="square" lIns="0" tIns="0" rIns="0" bIns="0" rtlCol="0"/>
            <a:lstStyle/>
            <a:p>
              <a:endParaRPr/>
            </a:p>
          </p:txBody>
        </p:sp>
      </p:grpSp>
      <p:sp>
        <p:nvSpPr>
          <p:cNvPr id="11" name="object 11"/>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30</a:t>
            </a:r>
            <a:endParaRPr sz="2800">
              <a:latin typeface="Carlito"/>
              <a:cs typeface="Carli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744719" y="2199385"/>
            <a:ext cx="3512820" cy="791210"/>
            <a:chOff x="2744719" y="2199385"/>
            <a:chExt cx="3512820" cy="791210"/>
          </a:xfrm>
        </p:grpSpPr>
        <p:sp>
          <p:nvSpPr>
            <p:cNvPr id="3" name="object 3"/>
            <p:cNvSpPr/>
            <p:nvPr/>
          </p:nvSpPr>
          <p:spPr>
            <a:xfrm>
              <a:off x="2744719" y="2202175"/>
              <a:ext cx="3025149" cy="784882"/>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2794000" y="2199385"/>
              <a:ext cx="2966601" cy="725931"/>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5750052" y="2785833"/>
              <a:ext cx="507491" cy="204254"/>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5808980" y="2792729"/>
              <a:ext cx="429387" cy="125222"/>
            </a:xfrm>
            <a:prstGeom prst="rect">
              <a:avLst/>
            </a:prstGeom>
            <a:blipFill>
              <a:blip r:embed="rId5" cstate="print"/>
              <a:stretch>
                <a:fillRect/>
              </a:stretch>
            </a:blipFill>
          </p:spPr>
          <p:txBody>
            <a:bodyPr wrap="square" lIns="0" tIns="0" rIns="0" bIns="0" rtlCol="0"/>
            <a:lstStyle/>
            <a:p>
              <a:endParaRPr/>
            </a:p>
          </p:txBody>
        </p:sp>
      </p:grpSp>
      <p:grpSp>
        <p:nvGrpSpPr>
          <p:cNvPr id="7" name="object 7"/>
          <p:cNvGrpSpPr/>
          <p:nvPr/>
        </p:nvGrpSpPr>
        <p:grpSpPr>
          <a:xfrm>
            <a:off x="8420100" y="0"/>
            <a:ext cx="723900" cy="1057910"/>
            <a:chOff x="8420100" y="0"/>
            <a:chExt cx="723900" cy="1057910"/>
          </a:xfrm>
        </p:grpSpPr>
        <p:sp>
          <p:nvSpPr>
            <p:cNvPr id="8" name="object 8"/>
            <p:cNvSpPr/>
            <p:nvPr/>
          </p:nvSpPr>
          <p:spPr>
            <a:xfrm>
              <a:off x="8531219" y="0"/>
              <a:ext cx="612780" cy="1057759"/>
            </a:xfrm>
            <a:prstGeom prst="rect">
              <a:avLst/>
            </a:prstGeom>
            <a:blipFill>
              <a:blip r:embed="rId6" cstate="print"/>
              <a:stretch>
                <a:fillRect/>
              </a:stretch>
            </a:blipFill>
          </p:spPr>
          <p:txBody>
            <a:bodyPr wrap="square" lIns="0" tIns="0" rIns="0" bIns="0" rtlCol="0"/>
            <a:lstStyle/>
            <a:p>
              <a:endParaRPr/>
            </a:p>
          </p:txBody>
        </p:sp>
        <p:sp>
          <p:nvSpPr>
            <p:cNvPr id="9" name="object 9"/>
            <p:cNvSpPr/>
            <p:nvPr/>
          </p:nvSpPr>
          <p:spPr>
            <a:xfrm>
              <a:off x="8420100" y="161544"/>
              <a:ext cx="723900" cy="827531"/>
            </a:xfrm>
            <a:prstGeom prst="rect">
              <a:avLst/>
            </a:prstGeom>
            <a:blipFill>
              <a:blip r:embed="rId7" cstate="print"/>
              <a:stretch>
                <a:fillRect/>
              </a:stretch>
            </a:blipFill>
          </p:spPr>
          <p:txBody>
            <a:bodyPr wrap="square" lIns="0" tIns="0" rIns="0" bIns="0" rtlCol="0"/>
            <a:lstStyle/>
            <a:p>
              <a:endParaRPr/>
            </a:p>
          </p:txBody>
        </p:sp>
        <p:sp>
          <p:nvSpPr>
            <p:cNvPr id="10" name="object 10"/>
            <p:cNvSpPr/>
            <p:nvPr/>
          </p:nvSpPr>
          <p:spPr>
            <a:xfrm>
              <a:off x="8569452" y="0"/>
              <a:ext cx="574548" cy="1001267"/>
            </a:xfrm>
            <a:prstGeom prst="rect">
              <a:avLst/>
            </a:prstGeom>
            <a:blipFill>
              <a:blip r:embed="rId8" cstate="print"/>
              <a:stretch>
                <a:fillRect/>
              </a:stretch>
            </a:blipFill>
          </p:spPr>
          <p:txBody>
            <a:bodyPr wrap="square" lIns="0" tIns="0" rIns="0" bIns="0" rtlCol="0"/>
            <a:lstStyle/>
            <a:p>
              <a:endParaRPr/>
            </a:p>
          </p:txBody>
        </p:sp>
      </p:grpSp>
      <p:sp>
        <p:nvSpPr>
          <p:cNvPr id="11" name="object 11"/>
          <p:cNvSpPr txBox="1"/>
          <p:nvPr/>
        </p:nvSpPr>
        <p:spPr>
          <a:xfrm>
            <a:off x="8569452" y="0"/>
            <a:ext cx="574675" cy="1001394"/>
          </a:xfrm>
          <a:prstGeom prst="rect">
            <a:avLst/>
          </a:prstGeom>
          <a:ln w="9144">
            <a:solidFill>
              <a:srgbClr val="BD4A47"/>
            </a:solidFill>
          </a:ln>
        </p:spPr>
        <p:txBody>
          <a:bodyPr vert="horz" wrap="square" lIns="0" tIns="263525" rIns="0" bIns="0" rtlCol="0">
            <a:spAutoFit/>
          </a:bodyPr>
          <a:lstStyle/>
          <a:p>
            <a:pPr marL="107950">
              <a:lnSpc>
                <a:spcPct val="100000"/>
              </a:lnSpc>
              <a:spcBef>
                <a:spcPts val="2075"/>
              </a:spcBef>
            </a:pPr>
            <a:r>
              <a:rPr sz="2800" spc="-10" dirty="0">
                <a:solidFill>
                  <a:srgbClr val="FFFFFF"/>
                </a:solidFill>
                <a:latin typeface="Carlito"/>
                <a:cs typeface="Carlito"/>
              </a:rPr>
              <a:t>31</a:t>
            </a:r>
            <a:endParaRPr sz="2800">
              <a:latin typeface="Carlito"/>
              <a:cs typeface="Carlito"/>
            </a:endParaRPr>
          </a:p>
        </p:txBody>
      </p:sp>
      <p:sp>
        <p:nvSpPr>
          <p:cNvPr id="12" name="object 12"/>
          <p:cNvSpPr/>
          <p:nvPr/>
        </p:nvSpPr>
        <p:spPr>
          <a:xfrm>
            <a:off x="2167117" y="4006544"/>
            <a:ext cx="4787667" cy="659232"/>
          </a:xfrm>
          <a:prstGeom prst="rect">
            <a:avLst/>
          </a:prstGeom>
          <a:blipFill>
            <a:blip r:embed="rId9" cstate="print"/>
            <a:stretch>
              <a:fillRect/>
            </a:stretch>
          </a:blipFill>
        </p:spPr>
        <p:txBody>
          <a:bodyPr wrap="square" lIns="0" tIns="0" rIns="0" bIns="0" rtlCol="0"/>
          <a:lstStyle/>
          <a:p>
            <a:endParaRPr/>
          </a:p>
        </p:txBody>
      </p:sp>
      <p:grpSp>
        <p:nvGrpSpPr>
          <p:cNvPr id="13" name="object 13"/>
          <p:cNvGrpSpPr/>
          <p:nvPr/>
        </p:nvGrpSpPr>
        <p:grpSpPr>
          <a:xfrm>
            <a:off x="140207" y="140207"/>
            <a:ext cx="8255634" cy="788035"/>
            <a:chOff x="140207" y="140207"/>
            <a:chExt cx="8255634" cy="788035"/>
          </a:xfrm>
        </p:grpSpPr>
        <p:sp>
          <p:nvSpPr>
            <p:cNvPr id="14" name="object 14"/>
            <p:cNvSpPr/>
            <p:nvPr/>
          </p:nvSpPr>
          <p:spPr>
            <a:xfrm>
              <a:off x="153161" y="153161"/>
              <a:ext cx="8229600" cy="762000"/>
            </a:xfrm>
            <a:custGeom>
              <a:avLst/>
              <a:gdLst/>
              <a:ahLst/>
              <a:cxnLst/>
              <a:rect l="l" t="t" r="r" b="b"/>
              <a:pathLst>
                <a:path w="8229600" h="762000">
                  <a:moveTo>
                    <a:pt x="8102600" y="0"/>
                  </a:moveTo>
                  <a:lnTo>
                    <a:pt x="126999" y="0"/>
                  </a:lnTo>
                  <a:lnTo>
                    <a:pt x="77565" y="9985"/>
                  </a:lnTo>
                  <a:lnTo>
                    <a:pt x="37196" y="37210"/>
                  </a:lnTo>
                  <a:lnTo>
                    <a:pt x="9980" y="77581"/>
                  </a:lnTo>
                  <a:lnTo>
                    <a:pt x="0" y="127000"/>
                  </a:lnTo>
                  <a:lnTo>
                    <a:pt x="0" y="635000"/>
                  </a:lnTo>
                  <a:lnTo>
                    <a:pt x="9980" y="684418"/>
                  </a:lnTo>
                  <a:lnTo>
                    <a:pt x="37196" y="724789"/>
                  </a:lnTo>
                  <a:lnTo>
                    <a:pt x="77565" y="752014"/>
                  </a:lnTo>
                  <a:lnTo>
                    <a:pt x="126999" y="762000"/>
                  </a:lnTo>
                  <a:lnTo>
                    <a:pt x="8102600" y="762000"/>
                  </a:lnTo>
                  <a:lnTo>
                    <a:pt x="8152018" y="752014"/>
                  </a:lnTo>
                  <a:lnTo>
                    <a:pt x="8192389" y="724789"/>
                  </a:lnTo>
                  <a:lnTo>
                    <a:pt x="8219614" y="684418"/>
                  </a:lnTo>
                  <a:lnTo>
                    <a:pt x="8229600" y="635000"/>
                  </a:lnTo>
                  <a:lnTo>
                    <a:pt x="8229600" y="127000"/>
                  </a:lnTo>
                  <a:lnTo>
                    <a:pt x="8219614" y="77581"/>
                  </a:lnTo>
                  <a:lnTo>
                    <a:pt x="8192389" y="37210"/>
                  </a:lnTo>
                  <a:lnTo>
                    <a:pt x="8152018" y="9985"/>
                  </a:lnTo>
                  <a:lnTo>
                    <a:pt x="8102600" y="0"/>
                  </a:lnTo>
                  <a:close/>
                </a:path>
              </a:pathLst>
            </a:custGeom>
            <a:solidFill>
              <a:srgbClr val="C0504D"/>
            </a:solidFill>
          </p:spPr>
          <p:txBody>
            <a:bodyPr wrap="square" lIns="0" tIns="0" rIns="0" bIns="0" rtlCol="0"/>
            <a:lstStyle/>
            <a:p>
              <a:endParaRPr/>
            </a:p>
          </p:txBody>
        </p:sp>
        <p:sp>
          <p:nvSpPr>
            <p:cNvPr id="15" name="object 15"/>
            <p:cNvSpPr/>
            <p:nvPr/>
          </p:nvSpPr>
          <p:spPr>
            <a:xfrm>
              <a:off x="153161" y="153161"/>
              <a:ext cx="8229600" cy="762000"/>
            </a:xfrm>
            <a:custGeom>
              <a:avLst/>
              <a:gdLst/>
              <a:ahLst/>
              <a:cxnLst/>
              <a:rect l="l" t="t" r="r" b="b"/>
              <a:pathLst>
                <a:path w="8229600" h="762000">
                  <a:moveTo>
                    <a:pt x="0" y="127000"/>
                  </a:moveTo>
                  <a:lnTo>
                    <a:pt x="9980" y="77581"/>
                  </a:lnTo>
                  <a:lnTo>
                    <a:pt x="37196" y="37210"/>
                  </a:lnTo>
                  <a:lnTo>
                    <a:pt x="77565" y="9985"/>
                  </a:lnTo>
                  <a:lnTo>
                    <a:pt x="126999" y="0"/>
                  </a:lnTo>
                  <a:lnTo>
                    <a:pt x="8102600" y="0"/>
                  </a:lnTo>
                  <a:lnTo>
                    <a:pt x="8152018" y="9985"/>
                  </a:lnTo>
                  <a:lnTo>
                    <a:pt x="8192389" y="37210"/>
                  </a:lnTo>
                  <a:lnTo>
                    <a:pt x="8219614" y="77581"/>
                  </a:lnTo>
                  <a:lnTo>
                    <a:pt x="8229600" y="127000"/>
                  </a:lnTo>
                  <a:lnTo>
                    <a:pt x="8229600" y="635000"/>
                  </a:lnTo>
                  <a:lnTo>
                    <a:pt x="8219614" y="684418"/>
                  </a:lnTo>
                  <a:lnTo>
                    <a:pt x="8192389" y="724789"/>
                  </a:lnTo>
                  <a:lnTo>
                    <a:pt x="8152018" y="752014"/>
                  </a:lnTo>
                  <a:lnTo>
                    <a:pt x="8102600" y="762000"/>
                  </a:lnTo>
                  <a:lnTo>
                    <a:pt x="126999" y="762000"/>
                  </a:lnTo>
                  <a:lnTo>
                    <a:pt x="77565" y="752014"/>
                  </a:lnTo>
                  <a:lnTo>
                    <a:pt x="37196" y="724789"/>
                  </a:lnTo>
                  <a:lnTo>
                    <a:pt x="9980" y="684418"/>
                  </a:lnTo>
                  <a:lnTo>
                    <a:pt x="0" y="635000"/>
                  </a:lnTo>
                  <a:lnTo>
                    <a:pt x="0" y="127000"/>
                  </a:lnTo>
                  <a:close/>
                </a:path>
              </a:pathLst>
            </a:custGeom>
            <a:ln w="25908">
              <a:solidFill>
                <a:srgbClr val="8B3836"/>
              </a:solidFill>
            </a:ln>
          </p:spPr>
          <p:txBody>
            <a:bodyPr wrap="square" lIns="0" tIns="0" rIns="0" bIns="0" rtlCol="0"/>
            <a:lstStyle/>
            <a:p>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980</TotalTime>
  <Words>958</Words>
  <Application>Microsoft Office PowerPoint</Application>
  <PresentationFormat>On-screen Show (4:3)</PresentationFormat>
  <Paragraphs>196</Paragraphs>
  <Slides>32</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Carlito</vt:lpstr>
      <vt:lpstr>Google Sans</vt:lpstr>
      <vt:lpstr>Wingdings</vt:lpstr>
      <vt:lpstr>Office Theme</vt:lpstr>
      <vt:lpstr>PowerPoint Presentation</vt:lpstr>
      <vt:lpstr>What is covered in this presentation?</vt:lpstr>
      <vt:lpstr>Introduction</vt:lpstr>
      <vt:lpstr>PowerPoint Presentation</vt:lpstr>
      <vt:lpstr>Relational databases</vt:lpstr>
      <vt:lpstr>PowerPoint Presentation</vt:lpstr>
      <vt:lpstr>PowerPoint Presentation</vt:lpstr>
      <vt:lpstr>PowerPoint Presentation</vt:lpstr>
      <vt:lpstr>NoSQL why, what and when?</vt:lpstr>
      <vt:lpstr>NoSQL why, what and when?</vt:lpstr>
      <vt:lpstr>Why NOSQL now??</vt:lpstr>
      <vt:lpstr>Side note: RDBMS performance</vt:lpstr>
      <vt:lpstr>BuBtu.t...WWhhaatt’’ssNNooSQSLQ?L?</vt:lpstr>
      <vt:lpstr>Characteristics of NoSQL databases</vt:lpstr>
      <vt:lpstr>NoSQL why, what and when?</vt:lpstr>
      <vt:lpstr>NoSQL is getting more &amp; more popular</vt:lpstr>
      <vt:lpstr>What is a schema-less datamodel?</vt:lpstr>
      <vt:lpstr>What is a schema-less datamodel?</vt:lpstr>
      <vt:lpstr>Aggregate Data Models</vt:lpstr>
      <vt:lpstr>Key-value data model</vt:lpstr>
      <vt:lpstr>Column family data model</vt:lpstr>
      <vt:lpstr>Column family data model</vt:lpstr>
      <vt:lpstr>Graph data model</vt:lpstr>
      <vt:lpstr>Document based data model</vt:lpstr>
      <vt:lpstr>Document based data model</vt:lpstr>
      <vt:lpstr>SQL vs NOSQL</vt:lpstr>
      <vt:lpstr>What we need ?</vt:lpstr>
      <vt:lpstr>CAP theorem</vt:lpstr>
      <vt:lpstr>CAP theorem</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NOSQL Databases</dc:title>
  <dc:creator>Neeraj</dc:creator>
  <cp:lastModifiedBy>Miss Namra Sheikh</cp:lastModifiedBy>
  <cp:revision>2</cp:revision>
  <dcterms:created xsi:type="dcterms:W3CDTF">2021-07-17T17:41:18Z</dcterms:created>
  <dcterms:modified xsi:type="dcterms:W3CDTF">2023-05-02T06:45:43Z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2018-02-16T00:00:00Z</vt:filetime>
  </property>
  <property fmtid="{D5CDD505-2E9C-101B-9397-08002B2CF9AE}" pid="3" name="Creator">
    <vt:lpwstr>Microsoft® PowerPoint® 2016</vt:lpwstr>
  </property>
  <property fmtid="{D5CDD505-2E9C-101B-9397-08002B2CF9AE}" pid="4" name="LastSaved">
    <vt:filetime>2021-07-17T00:00:00Z</vt:filetime>
  </property>
</Properties>
</file>