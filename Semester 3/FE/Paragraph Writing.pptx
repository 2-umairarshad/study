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8" r:id="rId3"/>
    <p:sldId id="259" r:id="rId4"/>
    <p:sldId id="257" r:id="rId5"/>
    <p:sldId id="260" r:id="rId6"/>
    <p:sldId id="297" r:id="rId7"/>
    <p:sldId id="268" r:id="rId8"/>
    <p:sldId id="269" r:id="rId9"/>
    <p:sldId id="270" r:id="rId10"/>
    <p:sldId id="271" r:id="rId11"/>
    <p:sldId id="300" r:id="rId12"/>
    <p:sldId id="273" r:id="rId13"/>
    <p:sldId id="279" r:id="rId14"/>
    <p:sldId id="280" r:id="rId15"/>
    <p:sldId id="281" r:id="rId16"/>
    <p:sldId id="299" r:id="rId17"/>
    <p:sldId id="282" r:id="rId18"/>
    <p:sldId id="283" r:id="rId19"/>
    <p:sldId id="284" r:id="rId20"/>
    <p:sldId id="28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44" autoAdjust="0"/>
    <p:restoredTop sz="94660"/>
  </p:normalViewPr>
  <p:slideViewPr>
    <p:cSldViewPr snapToGrid="0">
      <p:cViewPr varScale="1">
        <p:scale>
          <a:sx n="104" d="100"/>
          <a:sy n="104" d="100"/>
        </p:scale>
        <p:origin x="702"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2329140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1109745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1263758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1437752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2446158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3956156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3417696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1746335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2766772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2492450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1206750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082118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2499464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38015062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11726769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403796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537499-1B3B-496E-B1DB-8F6E8F5DE340}"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8EA458-F969-4D89-8E49-B8CB7BA56DC5}" type="slidenum">
              <a:rPr lang="en-US" smtClean="0"/>
              <a:pPr/>
              <a:t>‹#›</a:t>
            </a:fld>
            <a:endParaRPr lang="en-US"/>
          </a:p>
        </p:txBody>
      </p:sp>
    </p:spTree>
    <p:extLst>
      <p:ext uri="{BB962C8B-B14F-4D97-AF65-F5344CB8AC3E}">
        <p14:creationId xmlns:p14="http://schemas.microsoft.com/office/powerpoint/2010/main" val="428281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D537499-1B3B-496E-B1DB-8F6E8F5DE340}" type="datetimeFigureOut">
              <a:rPr lang="en-US" smtClean="0"/>
              <a:pPr/>
              <a:t>10/27/2025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F8EA458-F969-4D89-8E49-B8CB7BA56DC5}" type="slidenum">
              <a:rPr lang="en-US" smtClean="0"/>
              <a:pPr/>
              <a:t>‹#›</a:t>
            </a:fld>
            <a:endParaRPr lang="en-US"/>
          </a:p>
        </p:txBody>
      </p:sp>
    </p:spTree>
    <p:extLst>
      <p:ext uri="{BB962C8B-B14F-4D97-AF65-F5344CB8AC3E}">
        <p14:creationId xmlns:p14="http://schemas.microsoft.com/office/powerpoint/2010/main" val="3424927692"/>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9700" y="0"/>
            <a:ext cx="8825658" cy="3329581"/>
          </a:xfrm>
        </p:spPr>
        <p:txBody>
          <a:bodyPr/>
          <a:lstStyle/>
          <a:p>
            <a:r>
              <a:rPr lang="en-US" dirty="0"/>
              <a:t>Paragraph Writing</a:t>
            </a:r>
          </a:p>
        </p:txBody>
      </p:sp>
      <p:sp>
        <p:nvSpPr>
          <p:cNvPr id="3" name="Subtitle 2"/>
          <p:cNvSpPr>
            <a:spLocks noGrp="1"/>
          </p:cNvSpPr>
          <p:nvPr>
            <p:ph type="subTitle" idx="1"/>
          </p:nvPr>
        </p:nvSpPr>
        <p:spPr>
          <a:xfrm>
            <a:off x="1197158" y="3469084"/>
            <a:ext cx="8825658" cy="861420"/>
          </a:xfrm>
        </p:spPr>
        <p:txBody>
          <a:bodyPr>
            <a:normAutofit/>
          </a:bodyPr>
          <a:lstStyle/>
          <a:p>
            <a:pPr algn="r"/>
            <a:r>
              <a:rPr lang="en-US" sz="4800" dirty="0"/>
              <a:t>Hassan </a:t>
            </a:r>
            <a:r>
              <a:rPr lang="en-US" sz="4800" dirty="0" err="1"/>
              <a:t>imtiaz</a:t>
            </a:r>
            <a:endParaRPr lang="en-US" sz="4800" dirty="0"/>
          </a:p>
        </p:txBody>
      </p:sp>
    </p:spTree>
    <p:extLst>
      <p:ext uri="{BB962C8B-B14F-4D97-AF65-F5344CB8AC3E}">
        <p14:creationId xmlns:p14="http://schemas.microsoft.com/office/powerpoint/2010/main" val="1206115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Paragraph</a:t>
            </a:r>
            <a:r>
              <a:rPr lang="en-US" dirty="0">
                <a:latin typeface="Times New Roman" pitchFamily="18" charset="0"/>
                <a:cs typeface="Times New Roman" pitchFamily="18" charset="0"/>
              </a:rPr>
              <a:t>?</a:t>
            </a:r>
            <a:endParaRPr lang="en-US" dirty="0"/>
          </a:p>
        </p:txBody>
      </p:sp>
      <p:sp>
        <p:nvSpPr>
          <p:cNvPr id="3" name="Content Placeholder 2"/>
          <p:cNvSpPr>
            <a:spLocks noGrp="1"/>
          </p:cNvSpPr>
          <p:nvPr>
            <p:ph idx="1"/>
          </p:nvPr>
        </p:nvSpPr>
        <p:spPr>
          <a:xfrm>
            <a:off x="1075177" y="1405804"/>
            <a:ext cx="8946541" cy="4195481"/>
          </a:xfrm>
        </p:spPr>
        <p:txBody>
          <a:bodyPr>
            <a:noAutofit/>
          </a:bodyPr>
          <a:lstStyle/>
          <a:p>
            <a:r>
              <a:rPr lang="en-US" sz="3600" dirty="0"/>
              <a:t> A series of sentences that are organized and coherent, and are all related to a single topic is called Paragraph. </a:t>
            </a:r>
          </a:p>
          <a:p>
            <a:pPr marL="0" indent="0">
              <a:buNone/>
            </a:pPr>
            <a:r>
              <a:rPr lang="en-US" sz="3600" dirty="0"/>
              <a:t>                              OR </a:t>
            </a:r>
          </a:p>
          <a:p>
            <a:r>
              <a:rPr lang="en-US" sz="3600" dirty="0"/>
              <a:t>A paragraph is a unit of writing in a larger body of work. A paragraph expresses a particular topic or theme.</a:t>
            </a:r>
          </a:p>
        </p:txBody>
      </p:sp>
    </p:spTree>
    <p:extLst>
      <p:ext uri="{BB962C8B-B14F-4D97-AF65-F5344CB8AC3E}">
        <p14:creationId xmlns:p14="http://schemas.microsoft.com/office/powerpoint/2010/main" val="396817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4400" dirty="0"/>
            </a:br>
            <a:endParaRPr lang="en-US" dirty="0"/>
          </a:p>
        </p:txBody>
      </p:sp>
      <p:sp>
        <p:nvSpPr>
          <p:cNvPr id="3" name="Content Placeholder 2"/>
          <p:cNvSpPr>
            <a:spLocks noGrp="1"/>
          </p:cNvSpPr>
          <p:nvPr>
            <p:ph idx="1"/>
          </p:nvPr>
        </p:nvSpPr>
        <p:spPr>
          <a:xfrm>
            <a:off x="1103312" y="163774"/>
            <a:ext cx="8946541" cy="6084626"/>
          </a:xfrm>
        </p:spPr>
        <p:txBody>
          <a:bodyPr>
            <a:normAutofit/>
          </a:bodyPr>
          <a:lstStyle/>
          <a:p>
            <a:r>
              <a:rPr lang="en-US" sz="4000" dirty="0"/>
              <a:t>Paragraph writing is not just expressing your views about the topic in a group of sentences.</a:t>
            </a:r>
          </a:p>
          <a:p>
            <a:r>
              <a:rPr lang="en-US" sz="4000" dirty="0"/>
              <a:t>It is all about structuring ideas in a clear format to make the reader fall in love with the topic and continue their studying till to an end of the topic.</a:t>
            </a:r>
          </a:p>
        </p:txBody>
      </p:sp>
    </p:spTree>
    <p:extLst>
      <p:ext uri="{BB962C8B-B14F-4D97-AF65-F5344CB8AC3E}">
        <p14:creationId xmlns:p14="http://schemas.microsoft.com/office/powerpoint/2010/main" val="1484416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209822"/>
            <a:ext cx="8946541" cy="5038577"/>
          </a:xfrm>
        </p:spPr>
        <p:txBody>
          <a:bodyPr>
            <a:normAutofit/>
          </a:bodyPr>
          <a:lstStyle/>
          <a:p>
            <a:r>
              <a:rPr lang="en-US" sz="3200" dirty="0"/>
              <a:t>While writing paragraphs about any topic, it’s more important to maintain the quality and flow of the paragraph than word count.</a:t>
            </a:r>
          </a:p>
          <a:p>
            <a:r>
              <a:rPr lang="en-US" sz="3200"/>
              <a:t> Therefore, start learning how to write a good paragraph and impress your audience with your experience about the topic.</a:t>
            </a:r>
            <a:endParaRPr lang="en-US" sz="3200" dirty="0"/>
          </a:p>
        </p:txBody>
      </p:sp>
    </p:spTree>
    <p:extLst>
      <p:ext uri="{BB962C8B-B14F-4D97-AF65-F5344CB8AC3E}">
        <p14:creationId xmlns:p14="http://schemas.microsoft.com/office/powerpoint/2010/main" val="3731505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28" y="452718"/>
            <a:ext cx="9404723" cy="827442"/>
          </a:xfrm>
        </p:spPr>
        <p:txBody>
          <a:bodyPr/>
          <a:lstStyle/>
          <a:p>
            <a:r>
              <a:rPr lang="en-US" sz="4000" dirty="0"/>
              <a:t>Format to Write Effective Paragraphs</a:t>
            </a:r>
          </a:p>
        </p:txBody>
      </p:sp>
      <p:sp>
        <p:nvSpPr>
          <p:cNvPr id="3" name="Content Placeholder 2"/>
          <p:cNvSpPr>
            <a:spLocks noGrp="1"/>
          </p:cNvSpPr>
          <p:nvPr>
            <p:ph idx="1"/>
          </p:nvPr>
        </p:nvSpPr>
        <p:spPr>
          <a:xfrm>
            <a:off x="874220" y="1898181"/>
            <a:ext cx="8946541" cy="4869765"/>
          </a:xfrm>
        </p:spPr>
        <p:txBody>
          <a:bodyPr>
            <a:normAutofit/>
          </a:bodyPr>
          <a:lstStyle/>
          <a:p>
            <a:r>
              <a:rPr lang="en-US" sz="3600" dirty="0"/>
              <a:t>A paragraph explains one idea in detail.</a:t>
            </a:r>
          </a:p>
          <a:p>
            <a:r>
              <a:rPr lang="en-US" sz="3600" dirty="0"/>
              <a:t> When writing essays, research papers, books, etc., new paragraphs are indented to show their beginnings. Each new paragraph begins with a new indentation.</a:t>
            </a:r>
          </a:p>
          <a:p>
            <a:pPr marL="0" indent="0">
              <a:buNone/>
            </a:pPr>
            <a:endParaRPr lang="en-US" sz="3600" dirty="0"/>
          </a:p>
        </p:txBody>
      </p:sp>
    </p:spTree>
    <p:extLst>
      <p:ext uri="{BB962C8B-B14F-4D97-AF65-F5344CB8AC3E}">
        <p14:creationId xmlns:p14="http://schemas.microsoft.com/office/powerpoint/2010/main" val="3671944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28" y="452718"/>
            <a:ext cx="9404723" cy="827442"/>
          </a:xfrm>
        </p:spPr>
        <p:txBody>
          <a:bodyPr/>
          <a:lstStyle/>
          <a:p>
            <a:r>
              <a:rPr lang="en-US" sz="4000" dirty="0"/>
              <a:t>Example for indent</a:t>
            </a:r>
          </a:p>
        </p:txBody>
      </p:sp>
      <p:pic>
        <p:nvPicPr>
          <p:cNvPr id="4" name="Content Placeholder 3" descr="2016-01-05_15-48-23.png"/>
          <p:cNvPicPr>
            <a:picLocks noGrp="1" noChangeAspect="1"/>
          </p:cNvPicPr>
          <p:nvPr>
            <p:ph idx="1"/>
          </p:nvPr>
        </p:nvPicPr>
        <p:blipFill>
          <a:blip r:embed="rId2"/>
          <a:stretch>
            <a:fillRect/>
          </a:stretch>
        </p:blipFill>
        <p:spPr>
          <a:xfrm>
            <a:off x="874713" y="1350498"/>
            <a:ext cx="10126222" cy="5134708"/>
          </a:xfrm>
        </p:spPr>
      </p:pic>
    </p:spTree>
    <p:extLst>
      <p:ext uri="{BB962C8B-B14F-4D97-AF65-F5344CB8AC3E}">
        <p14:creationId xmlns:p14="http://schemas.microsoft.com/office/powerpoint/2010/main" val="3671944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27442"/>
          </a:xfrm>
        </p:spPr>
        <p:txBody>
          <a:bodyPr/>
          <a:lstStyle/>
          <a:p>
            <a:r>
              <a:rPr lang="en-US" dirty="0"/>
              <a:t>Parts of a Paragraph</a:t>
            </a:r>
          </a:p>
        </p:txBody>
      </p:sp>
      <p:sp>
        <p:nvSpPr>
          <p:cNvPr id="3" name="Content Placeholder 2"/>
          <p:cNvSpPr>
            <a:spLocks noGrp="1"/>
          </p:cNvSpPr>
          <p:nvPr>
            <p:ph idx="1"/>
          </p:nvPr>
        </p:nvSpPr>
        <p:spPr>
          <a:xfrm>
            <a:off x="1103312" y="1378634"/>
            <a:ext cx="8946541" cy="4869765"/>
          </a:xfrm>
        </p:spPr>
        <p:txBody>
          <a:bodyPr>
            <a:normAutofit/>
          </a:bodyPr>
          <a:lstStyle/>
          <a:p>
            <a:r>
              <a:rPr lang="en-US" sz="3600" dirty="0"/>
              <a:t>The basic paragraph consists of three parts: a topic sentence, supporting details, and a concluding sentence.</a:t>
            </a:r>
          </a:p>
          <a:p>
            <a:r>
              <a:rPr lang="en-US" sz="3600" dirty="0"/>
              <a:t> This basic paragraph format will help you to write and organize one paragraph and transition to the next.</a:t>
            </a:r>
          </a:p>
        </p:txBody>
      </p:sp>
    </p:spTree>
    <p:extLst>
      <p:ext uri="{BB962C8B-B14F-4D97-AF65-F5344CB8AC3E}">
        <p14:creationId xmlns:p14="http://schemas.microsoft.com/office/powerpoint/2010/main" val="3671944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1103312" y="452718"/>
            <a:ext cx="8946541" cy="5795681"/>
          </a:xfrm>
        </p:spPr>
        <p:txBody>
          <a:bodyPr>
            <a:noAutofit/>
          </a:bodyPr>
          <a:lstStyle/>
          <a:p>
            <a:r>
              <a:rPr lang="en-US" sz="2400" dirty="0"/>
              <a:t>Topic Sentence: Often, the Topic sentence is the first sentence of a paragraph. Also, we can call an introduction sentence of a paragraph. It states the main idea of each paragraph. All consequent points presented in the paragraphs must support the topic sentence.</a:t>
            </a:r>
          </a:p>
          <a:p>
            <a:r>
              <a:rPr lang="en-US" sz="2400" dirty="0"/>
              <a:t>Supporting Details: The supporting sentences explain more about the topic sentence by showing some facts, stats, or examples regarding the topic.</a:t>
            </a:r>
          </a:p>
          <a:p>
            <a:r>
              <a:rPr lang="en-US" sz="2400" dirty="0"/>
              <a:t>It also includes the writer’s experience and own analysis and used to develop the topic sentence.</a:t>
            </a:r>
          </a:p>
        </p:txBody>
      </p:sp>
    </p:spTree>
    <p:extLst>
      <p:ext uri="{BB962C8B-B14F-4D97-AF65-F5344CB8AC3E}">
        <p14:creationId xmlns:p14="http://schemas.microsoft.com/office/powerpoint/2010/main" val="1613230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1103312" y="452718"/>
            <a:ext cx="8946541" cy="5795681"/>
          </a:xfrm>
        </p:spPr>
        <p:txBody>
          <a:bodyPr>
            <a:noAutofit/>
          </a:bodyPr>
          <a:lstStyle/>
          <a:p>
            <a:r>
              <a:rPr lang="en-US" sz="2400" dirty="0"/>
              <a:t>The following are common origins of supporting details:</a:t>
            </a:r>
          </a:p>
          <a:p>
            <a:r>
              <a:rPr lang="en-US" sz="2400" dirty="0"/>
              <a:t>1) Expert Opinion</a:t>
            </a:r>
          </a:p>
          <a:p>
            <a:r>
              <a:rPr lang="en-US" sz="2400" dirty="0"/>
              <a:t>2) Facts and Statistics</a:t>
            </a:r>
          </a:p>
          <a:p>
            <a:r>
              <a:rPr lang="en-US" sz="2400" dirty="0"/>
              <a:t>3) Personal Experiences</a:t>
            </a:r>
          </a:p>
          <a:p>
            <a:r>
              <a:rPr lang="en-US" sz="2400" dirty="0"/>
              <a:t>4) Others’ Experiences</a:t>
            </a:r>
          </a:p>
          <a:p>
            <a:r>
              <a:rPr lang="en-US" sz="2400" dirty="0"/>
              <a:t>5) Brief Stories</a:t>
            </a:r>
          </a:p>
          <a:p>
            <a:r>
              <a:rPr lang="en-US" sz="2400" dirty="0"/>
              <a:t>6) Research Studies</a:t>
            </a:r>
          </a:p>
          <a:p>
            <a:r>
              <a:rPr lang="en-US" sz="2400" dirty="0"/>
              <a:t>7) Your Own Analysis</a:t>
            </a:r>
          </a:p>
          <a:p>
            <a:r>
              <a:rPr lang="en-US" sz="2400" dirty="0"/>
              <a:t>8) Interviews</a:t>
            </a:r>
          </a:p>
        </p:txBody>
      </p:sp>
    </p:spTree>
    <p:extLst>
      <p:ext uri="{BB962C8B-B14F-4D97-AF65-F5344CB8AC3E}">
        <p14:creationId xmlns:p14="http://schemas.microsoft.com/office/powerpoint/2010/main" val="1613230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1103312" y="452718"/>
            <a:ext cx="8946541" cy="5795681"/>
          </a:xfrm>
        </p:spPr>
        <p:txBody>
          <a:bodyPr>
            <a:noAutofit/>
          </a:bodyPr>
          <a:lstStyle/>
          <a:p>
            <a:pPr>
              <a:buNone/>
            </a:pPr>
            <a:br>
              <a:rPr lang="en-US" sz="2400" dirty="0"/>
            </a:br>
            <a:r>
              <a:rPr lang="en-US" sz="2400" b="1" dirty="0"/>
              <a:t>Racism is one of the most harmful social issues that continues to divide societies around the world.</a:t>
            </a:r>
            <a:r>
              <a:rPr lang="en-US" sz="2400" dirty="0"/>
              <a:t> It is the belief that one race is superior to another, which leads to discrimination, prejudice, and unequal treatment. Racism affects people in many ways — from limited job opportunities and unequal education to emotional trauma and social exclusion. Despite global efforts to promote equality, racial bias still exists in subtle forms through stereotypes and systemic injustices. To overcome racism, societies must focus on education, empathy, and fair laws that protect every individual’s rights. </a:t>
            </a:r>
            <a:r>
              <a:rPr lang="en-US" sz="2400" b="1"/>
              <a:t>Only by recognizing our shared humanity can we build communities based on respect, justice, and equality.</a:t>
            </a:r>
            <a:endParaRPr lang="en-US" sz="2400" dirty="0"/>
          </a:p>
        </p:txBody>
      </p:sp>
    </p:spTree>
    <p:extLst>
      <p:ext uri="{BB962C8B-B14F-4D97-AF65-F5344CB8AC3E}">
        <p14:creationId xmlns:p14="http://schemas.microsoft.com/office/powerpoint/2010/main" val="1613230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1103312" y="452718"/>
            <a:ext cx="8946541" cy="5795681"/>
          </a:xfrm>
        </p:spPr>
        <p:txBody>
          <a:bodyPr>
            <a:noAutofit/>
          </a:bodyPr>
          <a:lstStyle/>
          <a:p>
            <a:r>
              <a:rPr lang="en-US" sz="2400" dirty="0"/>
              <a:t>Concluding Sentence:</a:t>
            </a:r>
          </a:p>
          <a:p>
            <a:r>
              <a:rPr lang="en-US" sz="2400" dirty="0"/>
              <a:t> It is the end of the paragraph which is also known as final statement about the topic. </a:t>
            </a:r>
          </a:p>
          <a:p>
            <a:r>
              <a:rPr lang="en-US" sz="2400" dirty="0"/>
              <a:t>It ties all ideas given in the paragraph and emphasizes the main idea one last time. </a:t>
            </a:r>
          </a:p>
          <a:p>
            <a:r>
              <a:rPr lang="en-US" sz="2400" dirty="0"/>
              <a:t>In the concluding sentence, the writer usually restates their topic sentence or summarizes the main points of the paragraph.</a:t>
            </a:r>
          </a:p>
          <a:p>
            <a:pPr>
              <a:buNone/>
            </a:pPr>
            <a:br>
              <a:rPr lang="en-US" sz="2400" dirty="0"/>
            </a:br>
            <a:endParaRPr lang="en-US" sz="2400" dirty="0"/>
          </a:p>
        </p:txBody>
      </p:sp>
    </p:spTree>
    <p:extLst>
      <p:ext uri="{BB962C8B-B14F-4D97-AF65-F5344CB8AC3E}">
        <p14:creationId xmlns:p14="http://schemas.microsoft.com/office/powerpoint/2010/main" val="3614725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27442"/>
          </a:xfrm>
        </p:spPr>
        <p:txBody>
          <a:bodyPr/>
          <a:lstStyle/>
          <a:p>
            <a:r>
              <a:rPr lang="en-US" dirty="0"/>
              <a:t>Types of Paragraphs </a:t>
            </a:r>
          </a:p>
        </p:txBody>
      </p:sp>
      <p:sp>
        <p:nvSpPr>
          <p:cNvPr id="3" name="Content Placeholder 2"/>
          <p:cNvSpPr>
            <a:spLocks noGrp="1"/>
          </p:cNvSpPr>
          <p:nvPr>
            <p:ph idx="1"/>
          </p:nvPr>
        </p:nvSpPr>
        <p:spPr>
          <a:xfrm>
            <a:off x="1103312" y="1378634"/>
            <a:ext cx="8946541" cy="4869765"/>
          </a:xfrm>
        </p:spPr>
        <p:txBody>
          <a:bodyPr>
            <a:normAutofit/>
          </a:bodyPr>
          <a:lstStyle/>
          <a:p>
            <a:r>
              <a:rPr lang="en-US" sz="2800" dirty="0"/>
              <a:t>Having knowledge about what are the type of paragraphs is one of the most essential aspects while writing a paragraph.</a:t>
            </a:r>
          </a:p>
          <a:p>
            <a:r>
              <a:rPr lang="en-US" sz="2800" dirty="0"/>
              <a:t>So, I thought explaining a bit about paragraph writing types is a must.</a:t>
            </a:r>
          </a:p>
          <a:p>
            <a:r>
              <a:rPr lang="en-US" sz="2800" dirty="0"/>
              <a:t>Okay, let’s start about it.</a:t>
            </a:r>
          </a:p>
          <a:p>
            <a:r>
              <a:rPr lang="en-US" sz="2800" dirty="0"/>
              <a:t>There are four types of paragraphs that you need to know about: descriptive, narrative, expository, and persuasive. </a:t>
            </a:r>
          </a:p>
        </p:txBody>
      </p:sp>
    </p:spTree>
    <p:extLst>
      <p:ext uri="{BB962C8B-B14F-4D97-AF65-F5344CB8AC3E}">
        <p14:creationId xmlns:p14="http://schemas.microsoft.com/office/powerpoint/2010/main" val="3671944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27442"/>
          </a:xfrm>
        </p:spPr>
        <p:txBody>
          <a:bodyPr/>
          <a:lstStyle/>
          <a:p>
            <a:r>
              <a:rPr lang="en-US" dirty="0"/>
              <a:t>1) Descriptive Paragraph </a:t>
            </a:r>
          </a:p>
        </p:txBody>
      </p:sp>
      <p:sp>
        <p:nvSpPr>
          <p:cNvPr id="3" name="Content Placeholder 2"/>
          <p:cNvSpPr>
            <a:spLocks noGrp="1"/>
          </p:cNvSpPr>
          <p:nvPr>
            <p:ph idx="1"/>
          </p:nvPr>
        </p:nvSpPr>
        <p:spPr>
          <a:xfrm>
            <a:off x="1103312" y="1378634"/>
            <a:ext cx="8946541" cy="4869765"/>
          </a:xfrm>
        </p:spPr>
        <p:txBody>
          <a:bodyPr>
            <a:normAutofit fontScale="92500" lnSpcReduction="10000"/>
          </a:bodyPr>
          <a:lstStyle/>
          <a:p>
            <a:r>
              <a:rPr lang="en-US" sz="2400" dirty="0"/>
              <a:t>A descriptive paragraph provides a vibrant experience for the reader through vivid language and descriptions of something.</a:t>
            </a:r>
          </a:p>
          <a:p>
            <a:r>
              <a:rPr lang="en-US" sz="2400" dirty="0"/>
              <a:t>In order to provide this vivid detail, the writer must use language that appeals to the reader’s five senses: sight, smell, sound, taste, and touch. To appeal to these senses, the writer must use descriptive language, usually in the form of adjectives, that describes the sensations felt by the senses.</a:t>
            </a:r>
          </a:p>
          <a:p>
            <a:r>
              <a:rPr lang="en-US" sz="2400" dirty="0"/>
              <a:t>For instance, examine the differences between the descriptions below:</a:t>
            </a:r>
          </a:p>
          <a:p>
            <a:r>
              <a:rPr lang="en-US" sz="2400" b="1" dirty="0"/>
              <a:t>Sentence 1</a:t>
            </a:r>
            <a:r>
              <a:rPr lang="en-US" sz="2400" dirty="0"/>
              <a:t>: The tree was tall and green.</a:t>
            </a:r>
          </a:p>
          <a:p>
            <a:r>
              <a:rPr lang="en-US" sz="2400" b="1" dirty="0"/>
              <a:t>Sentence 2</a:t>
            </a:r>
            <a:r>
              <a:rPr lang="en-US" sz="2400" dirty="0"/>
              <a:t>: The soft and damp pink flowers of the pine tree smelled sweet in the cool spring air as the wind whistled through its yellow-green leaves.</a:t>
            </a:r>
          </a:p>
          <a:p>
            <a:pPr marL="0" indent="0">
              <a:buNone/>
            </a:pPr>
            <a:endParaRPr lang="en-US" sz="2400" dirty="0"/>
          </a:p>
        </p:txBody>
      </p:sp>
    </p:spTree>
    <p:extLst>
      <p:ext uri="{BB962C8B-B14F-4D97-AF65-F5344CB8AC3E}">
        <p14:creationId xmlns:p14="http://schemas.microsoft.com/office/powerpoint/2010/main" val="3671944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1103312" y="452718"/>
            <a:ext cx="8946541" cy="5795681"/>
          </a:xfrm>
        </p:spPr>
        <p:txBody>
          <a:bodyPr>
            <a:noAutofit/>
          </a:bodyPr>
          <a:lstStyle/>
          <a:p>
            <a:pPr>
              <a:buNone/>
            </a:pPr>
            <a:endParaRPr lang="en-US" sz="2400" dirty="0"/>
          </a:p>
          <a:p>
            <a:r>
              <a:rPr lang="en-US" sz="2400" dirty="0"/>
              <a:t>Example of a Descriptive Paragraph </a:t>
            </a:r>
          </a:p>
          <a:p>
            <a:endParaRPr lang="en-US" sz="2400" dirty="0"/>
          </a:p>
          <a:p>
            <a:r>
              <a:rPr lang="en-US" sz="2400" dirty="0"/>
              <a:t>"Yesterday I saw a plant in the corner of the park where I was constantly walking. The plant was much taller than my height, enough to touch the sky. Its body stood like a straight pole, it was thin. It had light green leaves. It was the most beautiful green I have ever seen, it was shining. Around, it was trees whose leaves looked like the leaves of the tree I had seen, but they were smaller. The tree I noticed stood in the middle, like the leader of all of them, and was self-evident. It was the most delicate and powerful plant I have ever seen in my life."</a:t>
            </a:r>
          </a:p>
        </p:txBody>
      </p:sp>
    </p:spTree>
    <p:extLst>
      <p:ext uri="{BB962C8B-B14F-4D97-AF65-F5344CB8AC3E}">
        <p14:creationId xmlns:p14="http://schemas.microsoft.com/office/powerpoint/2010/main" val="1613230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27442"/>
          </a:xfrm>
        </p:spPr>
        <p:txBody>
          <a:bodyPr/>
          <a:lstStyle/>
          <a:p>
            <a:r>
              <a:rPr lang="en-US" dirty="0"/>
              <a:t>2) Narrative Paragraph </a:t>
            </a:r>
          </a:p>
        </p:txBody>
      </p:sp>
      <p:sp>
        <p:nvSpPr>
          <p:cNvPr id="3" name="Content Placeholder 2"/>
          <p:cNvSpPr>
            <a:spLocks noGrp="1"/>
          </p:cNvSpPr>
          <p:nvPr>
            <p:ph idx="1"/>
          </p:nvPr>
        </p:nvSpPr>
        <p:spPr>
          <a:xfrm>
            <a:off x="506438" y="1378634"/>
            <a:ext cx="10142806" cy="5233181"/>
          </a:xfrm>
        </p:spPr>
        <p:txBody>
          <a:bodyPr>
            <a:normAutofit/>
          </a:bodyPr>
          <a:lstStyle/>
          <a:p>
            <a:r>
              <a:rPr lang="en-US" sz="2400" dirty="0"/>
              <a:t>In simple words, this type of paragraph narrates a story that includes a sequence of topic sentences like a clear start, middle of the topic, an end to the paragraph.</a:t>
            </a:r>
          </a:p>
          <a:p>
            <a:r>
              <a:rPr lang="en-US" sz="2400" dirty="0"/>
              <a:t>Because narrative paragraphs resemble fiction (an untrue story), you have a little more freedom to write the story in the style you prefer. This is known as artistic freedom or artistic license. </a:t>
            </a:r>
          </a:p>
          <a:p>
            <a:r>
              <a:rPr lang="en-US" sz="2400" dirty="0"/>
              <a:t>You can use the first-person narrative style and include words that clearly refer to you (I, me, my, mine, etc.), or you can try to tell the story from a purely objective point of view that is not personal but gives a straight-forward, factual account of what happened.</a:t>
            </a:r>
          </a:p>
        </p:txBody>
      </p:sp>
    </p:spTree>
    <p:extLst>
      <p:ext uri="{BB962C8B-B14F-4D97-AF65-F5344CB8AC3E}">
        <p14:creationId xmlns:p14="http://schemas.microsoft.com/office/powerpoint/2010/main" val="3671944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438" y="1378634"/>
            <a:ext cx="10142806" cy="5233181"/>
          </a:xfrm>
        </p:spPr>
        <p:txBody>
          <a:bodyPr>
            <a:normAutofit/>
          </a:bodyPr>
          <a:lstStyle/>
          <a:p>
            <a:r>
              <a:rPr lang="en-US" sz="2400" dirty="0"/>
              <a:t>Example:</a:t>
            </a:r>
          </a:p>
          <a:p>
            <a:pPr>
              <a:buNone/>
            </a:pPr>
            <a:endParaRPr lang="en-US" sz="2400" dirty="0"/>
          </a:p>
          <a:p>
            <a:r>
              <a:rPr lang="en-US" sz="2400" dirty="0"/>
              <a:t>“Ali’s day began with a shock. As soon as he arrived at the office that morning, he learned that his best friend was dead. Wasn’t it just twelve hours ago that they were eating chicken wings at the Cooper’s Bar and Grill? After a long day of crunching numbers at the office, they stopped at a bar for a Thursday afternoon happy hour. They saw a few coworkers there, and before they knew it, it was closing time. Bill got in a car with someone he met just that evening and that was the last time Ali saw him".</a:t>
            </a:r>
          </a:p>
          <a:p>
            <a:endParaRPr lang="en-US" sz="2400" dirty="0"/>
          </a:p>
        </p:txBody>
      </p:sp>
    </p:spTree>
    <p:extLst>
      <p:ext uri="{BB962C8B-B14F-4D97-AF65-F5344CB8AC3E}">
        <p14:creationId xmlns:p14="http://schemas.microsoft.com/office/powerpoint/2010/main" val="3671944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27442"/>
          </a:xfrm>
        </p:spPr>
        <p:txBody>
          <a:bodyPr/>
          <a:lstStyle/>
          <a:p>
            <a:r>
              <a:rPr lang="en-US" dirty="0"/>
              <a:t>3) Expository Paragraph </a:t>
            </a:r>
          </a:p>
        </p:txBody>
      </p:sp>
      <p:sp>
        <p:nvSpPr>
          <p:cNvPr id="3" name="Content Placeholder 2"/>
          <p:cNvSpPr>
            <a:spLocks noGrp="1"/>
          </p:cNvSpPr>
          <p:nvPr>
            <p:ph idx="1"/>
          </p:nvPr>
        </p:nvSpPr>
        <p:spPr>
          <a:xfrm>
            <a:off x="506438" y="1378634"/>
            <a:ext cx="10142806" cy="5233181"/>
          </a:xfrm>
        </p:spPr>
        <p:txBody>
          <a:bodyPr>
            <a:normAutofit/>
          </a:bodyPr>
          <a:lstStyle/>
          <a:p>
            <a:r>
              <a:rPr lang="en-US" sz="2400" dirty="0"/>
              <a:t>It defines something or gives instruction. </a:t>
            </a:r>
          </a:p>
          <a:p>
            <a:pPr>
              <a:buNone/>
            </a:pPr>
            <a:endParaRPr lang="en-US" sz="2400" dirty="0"/>
          </a:p>
          <a:p>
            <a:r>
              <a:rPr lang="en-US" sz="2400" dirty="0"/>
              <a:t>It may also explain a process and influence the reader step by step via a form of the method. </a:t>
            </a:r>
            <a:br>
              <a:rPr lang="en-US" sz="2400" dirty="0"/>
            </a:br>
            <a:endParaRPr lang="en-US" sz="2400" dirty="0"/>
          </a:p>
          <a:p>
            <a:r>
              <a:rPr lang="en-US" sz="2400" dirty="0"/>
              <a:t>The Expository Paragraph usually needs research, but also it’s possible to rely on the writer’s own knowledge and experience.</a:t>
            </a:r>
          </a:p>
          <a:p>
            <a:endParaRPr lang="en-US" sz="2400" dirty="0"/>
          </a:p>
        </p:txBody>
      </p:sp>
    </p:spTree>
    <p:extLst>
      <p:ext uri="{BB962C8B-B14F-4D97-AF65-F5344CB8AC3E}">
        <p14:creationId xmlns:p14="http://schemas.microsoft.com/office/powerpoint/2010/main" val="3671944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438" y="1378634"/>
            <a:ext cx="10142806" cy="5233181"/>
          </a:xfrm>
        </p:spPr>
        <p:txBody>
          <a:bodyPr>
            <a:normAutofit lnSpcReduction="10000"/>
          </a:bodyPr>
          <a:lstStyle/>
          <a:p>
            <a:r>
              <a:rPr lang="en-US" sz="2400" dirty="0"/>
              <a:t>Example:</a:t>
            </a:r>
          </a:p>
          <a:p>
            <a:r>
              <a:rPr lang="en-US" sz="2400" dirty="0"/>
              <a:t>"People often think all planets are alike, but there are actually three types of planets in the solar system. The terrestrial planets are made of rock and metal and are closest to the sun. These include the midsize planets Mercury, Venus, Earth, and Mars. They rotate slowly and don’t have many moons. Farther from the sun are the planets called gas giants, Jupiter, Saturn, Uranus, and Neptune. They are called gas giants because they are formed from gases such as hydrogen and helium. Gas giants rotate fast and have many moons. Finally, planetoids are objects made up of rock and ice and are too small to be true “planets.” Planetoids sometimes even get pulled into a planet’s gravitational field and become moons themselves. Whether they are terrestrials, gas giants, or planetoids, the planets in the solar system are fascinating".</a:t>
            </a:r>
          </a:p>
          <a:p>
            <a:endParaRPr lang="en-US" sz="2400" dirty="0"/>
          </a:p>
        </p:txBody>
      </p:sp>
    </p:spTree>
    <p:extLst>
      <p:ext uri="{BB962C8B-B14F-4D97-AF65-F5344CB8AC3E}">
        <p14:creationId xmlns:p14="http://schemas.microsoft.com/office/powerpoint/2010/main" val="3671944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27442"/>
          </a:xfrm>
        </p:spPr>
        <p:txBody>
          <a:bodyPr/>
          <a:lstStyle/>
          <a:p>
            <a:r>
              <a:rPr lang="en-US" dirty="0"/>
              <a:t>4) Persuasive Paragraph </a:t>
            </a:r>
          </a:p>
        </p:txBody>
      </p:sp>
      <p:sp>
        <p:nvSpPr>
          <p:cNvPr id="3" name="Content Placeholder 2"/>
          <p:cNvSpPr>
            <a:spLocks noGrp="1"/>
          </p:cNvSpPr>
          <p:nvPr>
            <p:ph idx="1"/>
          </p:nvPr>
        </p:nvSpPr>
        <p:spPr>
          <a:xfrm>
            <a:off x="506438" y="1378634"/>
            <a:ext cx="10142806" cy="5233181"/>
          </a:xfrm>
        </p:spPr>
        <p:txBody>
          <a:bodyPr>
            <a:normAutofit/>
          </a:bodyPr>
          <a:lstStyle/>
          <a:p>
            <a:pPr>
              <a:buNone/>
            </a:pPr>
            <a:endParaRPr lang="en-US" sz="2400" dirty="0"/>
          </a:p>
          <a:p>
            <a:r>
              <a:rPr lang="en-US" sz="2400" dirty="0"/>
              <a:t>This kind of paragraph seeks to make the audience to admit a writer’s point of view or know his/her position. </a:t>
            </a:r>
          </a:p>
          <a:p>
            <a:pPr>
              <a:buNone/>
            </a:pPr>
            <a:endParaRPr lang="en-US" sz="2400" dirty="0"/>
          </a:p>
          <a:p>
            <a:r>
              <a:rPr lang="en-US" sz="2400" dirty="0"/>
              <a:t>Persuasive paragraphs are often used by the teachers because it is beneficial when building an argument. </a:t>
            </a:r>
          </a:p>
          <a:p>
            <a:endParaRPr lang="en-US" sz="2400" dirty="0"/>
          </a:p>
        </p:txBody>
      </p:sp>
    </p:spTree>
    <p:extLst>
      <p:ext uri="{BB962C8B-B14F-4D97-AF65-F5344CB8AC3E}">
        <p14:creationId xmlns:p14="http://schemas.microsoft.com/office/powerpoint/2010/main" val="3671944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438" y="1378634"/>
            <a:ext cx="10142806" cy="5233181"/>
          </a:xfrm>
        </p:spPr>
        <p:txBody>
          <a:bodyPr>
            <a:normAutofit lnSpcReduction="10000"/>
          </a:bodyPr>
          <a:lstStyle/>
          <a:p>
            <a:r>
              <a:rPr lang="en-US" sz="2400" dirty="0"/>
              <a:t>Example:</a:t>
            </a:r>
          </a:p>
          <a:p>
            <a:r>
              <a:rPr lang="en-US" sz="2400" dirty="0"/>
              <a:t>"Immigration contributes to the overall health of the American economy. Despite recent concerns expressed about illegal and some legal immigration to the United States, this country has largely benefited from the skills, talents, and ambition that immigrants bring with them. American businesses gain from a good source of affordable labor, while towns and cities are revitalized by immigrant families who strengthen communities through civic participation and the generation of new economic activity. The United States must continue to welcome new arrivals and help those who are already here; otherwise, the country will lose the advantages it has over other industrialized countries that compete against us in the global marketplace and seek to recruit from a vast pool of unskilled and skilled global workers".</a:t>
            </a:r>
          </a:p>
        </p:txBody>
      </p:sp>
    </p:spTree>
    <p:extLst>
      <p:ext uri="{BB962C8B-B14F-4D97-AF65-F5344CB8AC3E}">
        <p14:creationId xmlns:p14="http://schemas.microsoft.com/office/powerpoint/2010/main" val="36719446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534</TotalTime>
  <Words>1547</Words>
  <Application>Microsoft Office PowerPoint</Application>
  <PresentationFormat>Widescreen</PresentationFormat>
  <Paragraphs>77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Century Gothic</vt:lpstr>
      <vt:lpstr>Times New Roman</vt:lpstr>
      <vt:lpstr>Wingdings 3</vt:lpstr>
      <vt:lpstr>Ion</vt:lpstr>
      <vt:lpstr>Paragraph Writing</vt:lpstr>
      <vt:lpstr>What is a Paragraph?</vt:lpstr>
      <vt:lpstr> </vt:lpstr>
      <vt:lpstr>PowerPoint Presentation</vt:lpstr>
      <vt:lpstr>Format to Write Effective Paragraphs</vt:lpstr>
      <vt:lpstr>Example for indent</vt:lpstr>
      <vt:lpstr>Parts of a Paragraph</vt:lpstr>
      <vt:lpstr> </vt:lpstr>
      <vt:lpstr> </vt:lpstr>
      <vt:lpstr> </vt:lpstr>
      <vt:lpstr> </vt:lpstr>
      <vt:lpstr>Types of Paragraphs </vt:lpstr>
      <vt:lpstr>1) Descriptive Paragraph </vt:lpstr>
      <vt:lpstr> </vt:lpstr>
      <vt:lpstr>2) Narrative Paragraph </vt:lpstr>
      <vt:lpstr>PowerPoint Presentation</vt:lpstr>
      <vt:lpstr>3) Expository Paragraph </vt:lpstr>
      <vt:lpstr>PowerPoint Presentation</vt:lpstr>
      <vt:lpstr>4) Persuasive Paragraph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Georg Wilhelm Friedrich Hegel</dc:title>
  <dc:creator>atifaziafarooqi@hotmail.com</dc:creator>
  <cp:lastModifiedBy>Hassan Imtiaz</cp:lastModifiedBy>
  <cp:revision>84</cp:revision>
  <dcterms:created xsi:type="dcterms:W3CDTF">2016-03-06T13:55:12Z</dcterms:created>
  <dcterms:modified xsi:type="dcterms:W3CDTF">2025-10-27T14:41:08Z</dcterms:modified>
</cp:coreProperties>
</file>