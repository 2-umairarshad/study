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2" r:id="rId49"/>
    <p:sldId id="314" r:id="rId50"/>
    <p:sldId id="315" r:id="rId51"/>
    <p:sldId id="316" r:id="rId5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47675" y="441325"/>
            <a:ext cx="2720975" cy="107950"/>
          </a:xfrm>
          <a:custGeom>
            <a:avLst/>
            <a:gdLst/>
            <a:ahLst/>
            <a:cxnLst/>
            <a:rect l="l" t="t" r="r" b="b"/>
            <a:pathLst>
              <a:path w="2720975" h="107950">
                <a:moveTo>
                  <a:pt x="0" y="107950"/>
                </a:moveTo>
                <a:lnTo>
                  <a:pt x="2720975" y="107950"/>
                </a:lnTo>
                <a:lnTo>
                  <a:pt x="2720975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75350" y="441325"/>
            <a:ext cx="2711450" cy="107950"/>
          </a:xfrm>
          <a:custGeom>
            <a:avLst/>
            <a:gdLst/>
            <a:ahLst/>
            <a:cxnLst/>
            <a:rect l="l" t="t" r="r" b="b"/>
            <a:pathLst>
              <a:path w="2711450" h="107950">
                <a:moveTo>
                  <a:pt x="0" y="107950"/>
                </a:moveTo>
                <a:lnTo>
                  <a:pt x="2711450" y="107950"/>
                </a:lnTo>
                <a:lnTo>
                  <a:pt x="2711450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216275" y="441325"/>
            <a:ext cx="2711450" cy="107950"/>
          </a:xfrm>
          <a:custGeom>
            <a:avLst/>
            <a:gdLst/>
            <a:ahLst/>
            <a:cxnLst/>
            <a:rect l="l" t="t" r="r" b="b"/>
            <a:pathLst>
              <a:path w="2711450" h="107950">
                <a:moveTo>
                  <a:pt x="0" y="107950"/>
                </a:moveTo>
                <a:lnTo>
                  <a:pt x="2711450" y="107950"/>
                </a:lnTo>
                <a:lnTo>
                  <a:pt x="2711450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869948" y="1872995"/>
            <a:ext cx="5446776" cy="4317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101723" y="2105050"/>
            <a:ext cx="4984115" cy="3853815"/>
          </a:xfrm>
          <a:custGeom>
            <a:avLst/>
            <a:gdLst/>
            <a:ahLst/>
            <a:cxnLst/>
            <a:rect l="l" t="t" r="r" b="b"/>
            <a:pathLst>
              <a:path w="4984115" h="3853815">
                <a:moveTo>
                  <a:pt x="0" y="3853307"/>
                </a:moveTo>
                <a:lnTo>
                  <a:pt x="4983607" y="3853307"/>
                </a:lnTo>
                <a:lnTo>
                  <a:pt x="4983607" y="0"/>
                </a:lnTo>
                <a:lnTo>
                  <a:pt x="0" y="0"/>
                </a:lnTo>
                <a:lnTo>
                  <a:pt x="0" y="385330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47675" y="441325"/>
            <a:ext cx="2720975" cy="107950"/>
          </a:xfrm>
          <a:custGeom>
            <a:avLst/>
            <a:gdLst/>
            <a:ahLst/>
            <a:cxnLst/>
            <a:rect l="l" t="t" r="r" b="b"/>
            <a:pathLst>
              <a:path w="2720975" h="107950">
                <a:moveTo>
                  <a:pt x="0" y="107950"/>
                </a:moveTo>
                <a:lnTo>
                  <a:pt x="2720975" y="107950"/>
                </a:lnTo>
                <a:lnTo>
                  <a:pt x="2720975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75350" y="441325"/>
            <a:ext cx="2711450" cy="107950"/>
          </a:xfrm>
          <a:custGeom>
            <a:avLst/>
            <a:gdLst/>
            <a:ahLst/>
            <a:cxnLst/>
            <a:rect l="l" t="t" r="r" b="b"/>
            <a:pathLst>
              <a:path w="2711450" h="107950">
                <a:moveTo>
                  <a:pt x="0" y="107950"/>
                </a:moveTo>
                <a:lnTo>
                  <a:pt x="2711450" y="107950"/>
                </a:lnTo>
                <a:lnTo>
                  <a:pt x="2711450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216275" y="441325"/>
            <a:ext cx="2711450" cy="107950"/>
          </a:xfrm>
          <a:custGeom>
            <a:avLst/>
            <a:gdLst/>
            <a:ahLst/>
            <a:cxnLst/>
            <a:rect l="l" t="t" r="r" b="b"/>
            <a:pathLst>
              <a:path w="2711450" h="107950">
                <a:moveTo>
                  <a:pt x="0" y="107950"/>
                </a:moveTo>
                <a:lnTo>
                  <a:pt x="2711450" y="107950"/>
                </a:lnTo>
                <a:lnTo>
                  <a:pt x="2711450" y="0"/>
                </a:lnTo>
                <a:lnTo>
                  <a:pt x="0" y="0"/>
                </a:lnTo>
                <a:lnTo>
                  <a:pt x="0" y="10795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993" y="1398523"/>
            <a:ext cx="7824012" cy="307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993" y="1398523"/>
            <a:ext cx="7824012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8629" rIns="0" bIns="0" rtlCol="0">
            <a:spAutoFit/>
          </a:bodyPr>
          <a:lstStyle/>
          <a:p>
            <a:pPr marL="6985" algn="ctr">
              <a:lnSpc>
                <a:spcPct val="100000"/>
              </a:lnSpc>
            </a:pP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MODULE 01:</a:t>
            </a:r>
            <a:r>
              <a:rPr sz="4800" b="1" spc="-560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4800" b="1" spc="-50" dirty="0">
                <a:solidFill>
                  <a:srgbClr val="1A315F"/>
                </a:solidFill>
                <a:latin typeface="Gill Sans MT"/>
                <a:cs typeface="Gill Sans MT"/>
              </a:rPr>
              <a:t>SOFTWARE</a:t>
            </a:r>
            <a:endParaRPr sz="4800">
              <a:latin typeface="Gill Sans MT"/>
              <a:cs typeface="Gill Sans MT"/>
            </a:endParaRPr>
          </a:p>
          <a:p>
            <a:pPr marL="6985" algn="ctr">
              <a:lnSpc>
                <a:spcPct val="100000"/>
              </a:lnSpc>
            </a:pP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REQUIREMENTS</a:t>
            </a:r>
            <a:endParaRPr sz="4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2633" y="3434714"/>
            <a:ext cx="662559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3810" marR="5080" indent="-2531745">
              <a:lnSpc>
                <a:spcPts val="1630"/>
              </a:lnSpc>
            </a:pPr>
            <a:r>
              <a:rPr sz="1700" b="1" spc="175" dirty="0">
                <a:solidFill>
                  <a:srgbClr val="4590B8"/>
                </a:solidFill>
                <a:latin typeface="Gill Sans MT"/>
                <a:cs typeface="Gill Sans MT"/>
              </a:rPr>
              <a:t>UNIVERSITY </a:t>
            </a:r>
            <a:r>
              <a:rPr sz="1700" b="1" spc="100" dirty="0">
                <a:solidFill>
                  <a:srgbClr val="4590B8"/>
                </a:solidFill>
                <a:latin typeface="Gill Sans MT"/>
                <a:cs typeface="Gill Sans MT"/>
              </a:rPr>
              <a:t>OF </a:t>
            </a:r>
            <a:r>
              <a:rPr sz="1700" b="1" spc="130" dirty="0">
                <a:solidFill>
                  <a:srgbClr val="4590B8"/>
                </a:solidFill>
                <a:latin typeface="Gill Sans MT"/>
                <a:cs typeface="Gill Sans MT"/>
              </a:rPr>
              <a:t>ALBERTA </a:t>
            </a:r>
            <a:r>
              <a:rPr sz="1700" b="1" dirty="0">
                <a:solidFill>
                  <a:srgbClr val="4590B8"/>
                </a:solidFill>
                <a:latin typeface="Gill Sans MT"/>
                <a:cs typeface="Gill Sans MT"/>
              </a:rPr>
              <a:t>: </a:t>
            </a:r>
            <a:r>
              <a:rPr sz="1700" dirty="0">
                <a:solidFill>
                  <a:srgbClr val="4590B8"/>
                </a:solidFill>
                <a:latin typeface="Gill Sans MT"/>
                <a:cs typeface="Gill Sans MT"/>
              </a:rPr>
              <a:t>CLIENT NEEDS AND</a:t>
            </a:r>
            <a:r>
              <a:rPr sz="1700" spc="-125" dirty="0">
                <a:solidFill>
                  <a:srgbClr val="4590B8"/>
                </a:solidFill>
                <a:latin typeface="Gill Sans MT"/>
                <a:cs typeface="Gill Sans MT"/>
              </a:rPr>
              <a:t> </a:t>
            </a:r>
            <a:r>
              <a:rPr sz="1700" spc="-15" dirty="0">
                <a:solidFill>
                  <a:srgbClr val="4590B8"/>
                </a:solidFill>
                <a:latin typeface="Gill Sans MT"/>
                <a:cs typeface="Gill Sans MT"/>
              </a:rPr>
              <a:t>SOFTWARE  </a:t>
            </a:r>
            <a:r>
              <a:rPr sz="1700" dirty="0">
                <a:solidFill>
                  <a:srgbClr val="4590B8"/>
                </a:solidFill>
                <a:latin typeface="Gill Sans MT"/>
                <a:cs typeface="Gill Sans MT"/>
              </a:rPr>
              <a:t>REQUIREMENTS</a:t>
            </a:r>
            <a:endParaRPr sz="17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9502" y="1867153"/>
            <a:ext cx="645160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THREE </a:t>
            </a: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“</a:t>
            </a:r>
            <a:r>
              <a:rPr sz="4800" b="1" spc="-5" dirty="0">
                <a:solidFill>
                  <a:srgbClr val="FF0000"/>
                </a:solidFill>
                <a:latin typeface="Gill Sans MT"/>
                <a:cs typeface="Gill Sans MT"/>
              </a:rPr>
              <a:t>RIGHTS</a:t>
            </a: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”</a:t>
            </a:r>
            <a:r>
              <a:rPr sz="4800" b="1" spc="-540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OF</a:t>
            </a:r>
            <a:endParaRPr sz="4800">
              <a:latin typeface="Gill Sans MT"/>
              <a:cs typeface="Gill Sans MT"/>
            </a:endParaRPr>
          </a:p>
          <a:p>
            <a:pPr marL="3810" algn="ctr">
              <a:lnSpc>
                <a:spcPct val="100000"/>
              </a:lnSpc>
            </a:pPr>
            <a:r>
              <a:rPr sz="4800" b="1" spc="-50" dirty="0">
                <a:solidFill>
                  <a:srgbClr val="1A315F"/>
                </a:solidFill>
                <a:latin typeface="Gill Sans MT"/>
                <a:cs typeface="Gill Sans MT"/>
              </a:rPr>
              <a:t>SOFTWARE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6495415" cy="2253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Understand Right</a:t>
            </a:r>
            <a:r>
              <a:rPr sz="4000" spc="-5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</a:t>
            </a:r>
            <a:endParaRPr sz="4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Develop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Right (Done it</a:t>
            </a:r>
            <a:r>
              <a:rPr sz="4000" spc="-5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Right)</a:t>
            </a:r>
            <a:endParaRPr sz="4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650" spc="5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50" dirty="0">
                <a:solidFill>
                  <a:srgbClr val="3C3C3C"/>
                </a:solidFill>
                <a:latin typeface="Gill Sans MT"/>
                <a:cs typeface="Gill Sans MT"/>
              </a:rPr>
              <a:t>Manage</a:t>
            </a:r>
            <a:r>
              <a:rPr sz="4000" spc="-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Right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30" dirty="0">
                <a:solidFill>
                  <a:srgbClr val="FFFFFF"/>
                </a:solidFill>
              </a:rPr>
              <a:t>UNDERSTAND </a:t>
            </a:r>
            <a:r>
              <a:rPr sz="2500" spc="-5" dirty="0">
                <a:solidFill>
                  <a:srgbClr val="FFFFFF"/>
                </a:solidFill>
              </a:rPr>
              <a:t>RIGHT</a:t>
            </a:r>
            <a:r>
              <a:rPr sz="2500" spc="20" dirty="0">
                <a:solidFill>
                  <a:srgbClr val="FFFFFF"/>
                </a:solidFill>
              </a:rPr>
              <a:t> </a:t>
            </a:r>
            <a:r>
              <a:rPr sz="2500" spc="-30" dirty="0">
                <a:solidFill>
                  <a:srgbClr val="FFFFFF"/>
                </a:solidFill>
              </a:rPr>
              <a:t>PRODUCT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The </a:t>
            </a:r>
            <a:r>
              <a:rPr i="1" spc="10" dirty="0">
                <a:latin typeface="Gill Sans MT"/>
                <a:cs typeface="Gill Sans MT"/>
              </a:rPr>
              <a:t>right </a:t>
            </a:r>
            <a:r>
              <a:rPr i="1" spc="-20" dirty="0">
                <a:latin typeface="Gill Sans MT"/>
                <a:cs typeface="Gill Sans MT"/>
              </a:rPr>
              <a:t>product </a:t>
            </a:r>
            <a:r>
              <a:rPr spc="-5" dirty="0"/>
              <a:t>means </a:t>
            </a:r>
            <a:r>
              <a:rPr dirty="0"/>
              <a:t>meeting</a:t>
            </a:r>
            <a:r>
              <a:rPr spc="-535" dirty="0"/>
              <a:t> </a:t>
            </a:r>
            <a:r>
              <a:rPr spc="-5" dirty="0"/>
              <a:t>the  </a:t>
            </a:r>
            <a:r>
              <a:rPr i="1" spc="-10" dirty="0">
                <a:latin typeface="Gill Sans MT"/>
                <a:cs typeface="Gill Sans MT"/>
              </a:rPr>
              <a:t>needs </a:t>
            </a:r>
            <a:r>
              <a:rPr spc="-5" dirty="0"/>
              <a:t>of </a:t>
            </a:r>
            <a:r>
              <a:rPr spc="-25" dirty="0"/>
              <a:t>your </a:t>
            </a:r>
            <a:r>
              <a:rPr dirty="0"/>
              <a:t>clients </a:t>
            </a:r>
            <a:r>
              <a:rPr spc="-5" dirty="0"/>
              <a:t>and </a:t>
            </a:r>
            <a:r>
              <a:rPr dirty="0"/>
              <a:t>end-users  </a:t>
            </a:r>
            <a:r>
              <a:rPr spc="-5" dirty="0"/>
              <a:t>and </a:t>
            </a:r>
            <a:r>
              <a:rPr dirty="0"/>
              <a:t>not </a:t>
            </a:r>
            <a:r>
              <a:rPr spc="-5" dirty="0"/>
              <a:t>just </a:t>
            </a:r>
            <a:r>
              <a:rPr dirty="0"/>
              <a:t>their</a:t>
            </a:r>
            <a:r>
              <a:rPr spc="-45" dirty="0"/>
              <a:t> </a:t>
            </a:r>
            <a:r>
              <a:rPr i="1" spc="-20" dirty="0">
                <a:latin typeface="Gill Sans MT"/>
                <a:cs typeface="Gill Sans MT"/>
              </a:rPr>
              <a:t>wants</a:t>
            </a:r>
            <a:r>
              <a:rPr spc="-20" dirty="0"/>
              <a:t>.</a:t>
            </a:r>
            <a:endParaRPr sz="3650">
              <a:latin typeface="Gill Sans MT"/>
              <a:cs typeface="Gill Sans MT"/>
            </a:endParaRPr>
          </a:p>
          <a:p>
            <a:pPr marL="317500" marR="5080" indent="-3048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This </a:t>
            </a:r>
            <a:r>
              <a:rPr spc="-35" dirty="0"/>
              <a:t>involves </a:t>
            </a:r>
            <a:r>
              <a:rPr spc="-5" dirty="0"/>
              <a:t>understanding the  </a:t>
            </a:r>
            <a:r>
              <a:rPr spc="-15" dirty="0"/>
              <a:t>problem </a:t>
            </a:r>
            <a:r>
              <a:rPr spc="-20" dirty="0"/>
              <a:t>they </a:t>
            </a:r>
            <a:r>
              <a:rPr spc="-5" dirty="0"/>
              <a:t>need to solve, and</a:t>
            </a:r>
            <a:r>
              <a:rPr spc="-375" dirty="0"/>
              <a:t> </a:t>
            </a:r>
            <a:r>
              <a:rPr spc="-5" dirty="0"/>
              <a:t>the  tasks </a:t>
            </a:r>
            <a:r>
              <a:rPr spc="-20" dirty="0"/>
              <a:t>they </a:t>
            </a:r>
            <a:r>
              <a:rPr spc="-5" dirty="0"/>
              <a:t>need to accomplish with  the</a:t>
            </a:r>
            <a:r>
              <a:rPr spc="-70" dirty="0"/>
              <a:t> </a:t>
            </a:r>
            <a:r>
              <a:rPr spc="-5" dirty="0"/>
              <a:t>software.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706995" cy="3686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30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achieve </a:t>
            </a:r>
            <a:r>
              <a:rPr sz="4000" i="1" spc="-5" dirty="0">
                <a:solidFill>
                  <a:srgbClr val="3C3C3C"/>
                </a:solidFill>
                <a:latin typeface="Gill Sans MT"/>
                <a:cs typeface="Gill Sans MT"/>
              </a:rPr>
              <a:t>done </a:t>
            </a:r>
            <a:r>
              <a:rPr sz="4000" i="1" spc="10" dirty="0">
                <a:solidFill>
                  <a:srgbClr val="3C3C3C"/>
                </a:solidFill>
                <a:latin typeface="Gill Sans MT"/>
                <a:cs typeface="Gill Sans MT"/>
              </a:rPr>
              <a:t>right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4000" i="1" spc="-15" dirty="0">
                <a:solidFill>
                  <a:srgbClr val="3C3C3C"/>
                </a:solidFill>
                <a:latin typeface="Gill Sans MT"/>
                <a:cs typeface="Gill Sans MT"/>
              </a:rPr>
              <a:t>managed  </a:t>
            </a:r>
            <a:r>
              <a:rPr sz="4000" i="1" spc="10" dirty="0">
                <a:solidFill>
                  <a:srgbClr val="3C3C3C"/>
                </a:solidFill>
                <a:latin typeface="Gill Sans MT"/>
                <a:cs typeface="Gill Sans MT"/>
              </a:rPr>
              <a:t>right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,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software development must 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start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with a quality set of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software  requirements,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which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later  planned,</a:t>
            </a:r>
            <a:r>
              <a:rPr sz="4000" spc="-4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designed,</a:t>
            </a:r>
            <a:r>
              <a:rPr sz="4000" spc="-409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implemented,</a:t>
            </a:r>
            <a:r>
              <a:rPr sz="4000" spc="-4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 tested.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398523"/>
            <a:ext cx="7809865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737735" algn="l"/>
              </a:tabLst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-54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Understanding</a:t>
            </a:r>
            <a:r>
              <a:rPr spc="-480" dirty="0"/>
              <a:t> </a:t>
            </a:r>
            <a:r>
              <a:rPr spc="-5" dirty="0"/>
              <a:t>WHY	of </a:t>
            </a:r>
            <a:r>
              <a:rPr spc="-25" dirty="0"/>
              <a:t>your </a:t>
            </a:r>
            <a:r>
              <a:rPr spc="-5" dirty="0"/>
              <a:t>client</a:t>
            </a:r>
            <a:r>
              <a:rPr spc="-25" dirty="0"/>
              <a:t> </a:t>
            </a:r>
            <a:r>
              <a:rPr spc="-5" dirty="0"/>
              <a:t>?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647940" cy="4296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In this </a:t>
            </a:r>
            <a:r>
              <a:rPr sz="4000" spc="20" dirty="0">
                <a:solidFill>
                  <a:srgbClr val="3C3C3C"/>
                </a:solidFill>
                <a:latin typeface="Gill Sans MT"/>
                <a:cs typeface="Gill Sans MT"/>
              </a:rPr>
              <a:t>part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the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course,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you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will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learn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how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 elicit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needs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your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clients and 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end-users.You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will also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learn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how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express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these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needs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as a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quality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set of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initiate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software development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 planning</a:t>
            </a:r>
            <a:r>
              <a:rPr sz="4000" spc="-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activities.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8515" y="2599054"/>
            <a:ext cx="7717155" cy="763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145" dirty="0">
                <a:solidFill>
                  <a:srgbClr val="1A315F"/>
                </a:solidFill>
                <a:latin typeface="Gill Sans MT"/>
                <a:cs typeface="Gill Sans MT"/>
              </a:rPr>
              <a:t>WHAT </a:t>
            </a: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IS</a:t>
            </a:r>
            <a:r>
              <a:rPr sz="4800" b="1" spc="65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REQUIREMENT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35" dirty="0">
                <a:solidFill>
                  <a:srgbClr val="FFFFFF"/>
                </a:solidFill>
              </a:rPr>
              <a:t>INFORMALLY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355840" cy="307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8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185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is most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easily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understood as </a:t>
            </a:r>
            <a:r>
              <a:rPr sz="4000" i="1" spc="-5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4000" i="1" spc="-15" dirty="0">
                <a:solidFill>
                  <a:srgbClr val="3C3C3C"/>
                </a:solidFill>
                <a:latin typeface="Gill Sans MT"/>
                <a:cs typeface="Gill Sans MT"/>
              </a:rPr>
              <a:t>specific </a:t>
            </a:r>
            <a:r>
              <a:rPr sz="4000" i="1" dirty="0">
                <a:solidFill>
                  <a:srgbClr val="3C3C3C"/>
                </a:solidFill>
                <a:latin typeface="Gill Sans MT"/>
                <a:cs typeface="Gill Sans MT"/>
              </a:rPr>
              <a:t>description  </a:t>
            </a:r>
            <a:r>
              <a:rPr sz="4000" i="1" spc="-5" dirty="0">
                <a:solidFill>
                  <a:srgbClr val="3C3C3C"/>
                </a:solidFill>
                <a:latin typeface="Gill Sans MT"/>
                <a:cs typeface="Gill Sans MT"/>
              </a:rPr>
              <a:t>of your </a:t>
            </a:r>
            <a:r>
              <a:rPr sz="4000" i="1" spc="-20" dirty="0">
                <a:solidFill>
                  <a:srgbClr val="3C3C3C"/>
                </a:solidFill>
                <a:latin typeface="Gill Sans MT"/>
                <a:cs typeface="Gill Sans MT"/>
              </a:rPr>
              <a:t>client’s </a:t>
            </a:r>
            <a:r>
              <a:rPr sz="4000" i="1" spc="-5" dirty="0">
                <a:solidFill>
                  <a:srgbClr val="3C3C3C"/>
                </a:solidFill>
                <a:latin typeface="Gill Sans MT"/>
                <a:cs typeface="Gill Sans MT"/>
              </a:rPr>
              <a:t>needs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, which can be  used to help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create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real-world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</a:rPr>
              <a:t>IEEE: FORMAL</a:t>
            </a:r>
            <a:r>
              <a:rPr sz="2500" spc="-275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DEFINITION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8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pc="185" dirty="0"/>
              <a:t>A </a:t>
            </a:r>
            <a:r>
              <a:rPr spc="-5" dirty="0"/>
              <a:t>condition or capability that </a:t>
            </a:r>
            <a:r>
              <a:rPr spc="-15" dirty="0"/>
              <a:t>must  </a:t>
            </a:r>
            <a:r>
              <a:rPr spc="-5" dirty="0"/>
              <a:t>be </a:t>
            </a:r>
            <a:r>
              <a:rPr dirty="0"/>
              <a:t>met </a:t>
            </a:r>
            <a:r>
              <a:rPr spc="-5" dirty="0"/>
              <a:t>or possessed </a:t>
            </a:r>
            <a:r>
              <a:rPr spc="-25" dirty="0"/>
              <a:t>by </a:t>
            </a:r>
            <a:r>
              <a:rPr spc="-5" dirty="0"/>
              <a:t>a system </a:t>
            </a:r>
            <a:r>
              <a:rPr dirty="0"/>
              <a:t>or  </a:t>
            </a:r>
            <a:r>
              <a:rPr spc="-5" dirty="0"/>
              <a:t>system </a:t>
            </a:r>
            <a:r>
              <a:rPr dirty="0"/>
              <a:t>component </a:t>
            </a:r>
            <a:r>
              <a:rPr spc="-5" dirty="0"/>
              <a:t>to satisfy a  contract, </a:t>
            </a:r>
            <a:r>
              <a:rPr spc="-10" dirty="0"/>
              <a:t>standard, </a:t>
            </a:r>
            <a:r>
              <a:rPr spc="-5" dirty="0"/>
              <a:t>specification, or  </a:t>
            </a:r>
            <a:r>
              <a:rPr dirty="0"/>
              <a:t>other </a:t>
            </a:r>
            <a:r>
              <a:rPr spc="-15" dirty="0"/>
              <a:t>formally </a:t>
            </a:r>
            <a:r>
              <a:rPr spc="-5" dirty="0"/>
              <a:t>imposed</a:t>
            </a:r>
            <a:r>
              <a:rPr spc="15" dirty="0"/>
              <a:t> </a:t>
            </a:r>
            <a:r>
              <a:rPr spc="-5" dirty="0"/>
              <a:t>documents.</a:t>
            </a:r>
            <a:endParaRPr sz="36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303" y="1135634"/>
            <a:ext cx="7295515" cy="2226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</a:pPr>
            <a:r>
              <a:rPr sz="4800" b="1" spc="-20" dirty="0">
                <a:solidFill>
                  <a:srgbClr val="1A315F"/>
                </a:solidFill>
                <a:latin typeface="Gill Sans MT"/>
                <a:cs typeface="Gill Sans MT"/>
              </a:rPr>
              <a:t>ACTIVITIES </a:t>
            </a: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OF  REQUIREMENT  </a:t>
            </a:r>
            <a:r>
              <a:rPr sz="4800" b="1" spc="-50" dirty="0">
                <a:solidFill>
                  <a:srgbClr val="1A315F"/>
                </a:solidFill>
                <a:latin typeface="Gill Sans MT"/>
                <a:cs typeface="Gill Sans MT"/>
              </a:rPr>
              <a:t>SPECIFICATION</a:t>
            </a:r>
            <a:r>
              <a:rPr sz="4800" b="1" spc="-15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PHASE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Eliciting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Expressing</a:t>
            </a:r>
            <a:r>
              <a:rPr sz="4000" spc="-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Prioritizing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Analyzing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2599054"/>
            <a:ext cx="7320915" cy="763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dirty="0">
                <a:solidFill>
                  <a:srgbClr val="1A315F"/>
                </a:solidFill>
              </a:rPr>
              <a:t>ELICITING</a:t>
            </a:r>
            <a:r>
              <a:rPr sz="4800" spc="-90" dirty="0">
                <a:solidFill>
                  <a:srgbClr val="1A315F"/>
                </a:solidFill>
              </a:rPr>
              <a:t> </a:t>
            </a:r>
            <a:r>
              <a:rPr sz="4800" dirty="0">
                <a:solidFill>
                  <a:srgbClr val="1A315F"/>
                </a:solidFill>
              </a:rPr>
              <a:t>REQUIREMENTS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Eliciting</a:t>
            </a:r>
            <a:r>
              <a:rPr sz="4000" spc="-4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Expressing</a:t>
            </a:r>
            <a:r>
              <a:rPr sz="4000" spc="-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Prioritizing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Analyzing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The activity of </a:t>
            </a:r>
            <a:r>
              <a:rPr b="1" spc="-5" dirty="0">
                <a:latin typeface="Gill Sans MT"/>
                <a:cs typeface="Gill Sans MT"/>
              </a:rPr>
              <a:t>eliciting  </a:t>
            </a:r>
            <a:r>
              <a:rPr b="1" spc="-20" dirty="0">
                <a:latin typeface="Gill Sans MT"/>
                <a:cs typeface="Gill Sans MT"/>
              </a:rPr>
              <a:t>requirements </a:t>
            </a:r>
            <a:r>
              <a:rPr spc="-5" dirty="0"/>
              <a:t>is an </a:t>
            </a:r>
            <a:r>
              <a:rPr spc="-10" dirty="0"/>
              <a:t>interactive </a:t>
            </a:r>
            <a:r>
              <a:rPr dirty="0"/>
              <a:t>and  </a:t>
            </a:r>
            <a:r>
              <a:rPr spc="-20" dirty="0"/>
              <a:t>investigative </a:t>
            </a:r>
            <a:r>
              <a:rPr spc="-15" dirty="0"/>
              <a:t>process, </a:t>
            </a:r>
            <a:r>
              <a:rPr spc="-5" dirty="0"/>
              <a:t>which occurs  when meeting </a:t>
            </a:r>
            <a:r>
              <a:rPr spc="-10" dirty="0"/>
              <a:t>with </a:t>
            </a:r>
            <a:r>
              <a:rPr spc="-5" dirty="0"/>
              <a:t>the </a:t>
            </a:r>
            <a:r>
              <a:rPr dirty="0"/>
              <a:t>client </a:t>
            </a:r>
            <a:r>
              <a:rPr spc="-5" dirty="0"/>
              <a:t>and  users.</a:t>
            </a:r>
            <a:endParaRPr sz="36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65" dirty="0">
                <a:solidFill>
                  <a:srgbClr val="FFFFFF"/>
                </a:solidFill>
              </a:rPr>
              <a:t>WHAT </a:t>
            </a:r>
            <a:r>
              <a:rPr sz="2500" spc="-5" dirty="0">
                <a:solidFill>
                  <a:srgbClr val="FFFFFF"/>
                </a:solidFill>
              </a:rPr>
              <a:t>CLIENT</a:t>
            </a:r>
            <a:r>
              <a:rPr sz="2500" dirty="0">
                <a:solidFill>
                  <a:srgbClr val="FFFFFF"/>
                </a:solidFill>
              </a:rPr>
              <a:t> </a:t>
            </a:r>
            <a:r>
              <a:rPr sz="2500" spc="-25" dirty="0">
                <a:solidFill>
                  <a:srgbClr val="FFFFFF"/>
                </a:solidFill>
              </a:rPr>
              <a:t>KNOWS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669530" cy="246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Clients often </a:t>
            </a:r>
            <a:r>
              <a:rPr sz="4000" spc="-6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ideas about</a:t>
            </a:r>
            <a:r>
              <a:rPr sz="4000" spc="-4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what 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features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they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would 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like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in a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what these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features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should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look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like.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</a:rPr>
              <a:t>DO </a:t>
            </a:r>
            <a:r>
              <a:rPr sz="2500" spc="-65" dirty="0">
                <a:solidFill>
                  <a:srgbClr val="FFFFFF"/>
                </a:solidFill>
              </a:rPr>
              <a:t>NOT </a:t>
            </a:r>
            <a:r>
              <a:rPr sz="2500" spc="-5" dirty="0">
                <a:solidFill>
                  <a:srgbClr val="FFFFFF"/>
                </a:solidFill>
              </a:rPr>
              <a:t>EXPECT </a:t>
            </a:r>
            <a:r>
              <a:rPr sz="2500" spc="-40" dirty="0">
                <a:solidFill>
                  <a:srgbClr val="FFFFFF"/>
                </a:solidFill>
              </a:rPr>
              <a:t>FROM</a:t>
            </a:r>
            <a:r>
              <a:rPr sz="2500" spc="75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CLIENT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5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pc="55" dirty="0"/>
              <a:t>Many </a:t>
            </a:r>
            <a:r>
              <a:rPr spc="-5" dirty="0"/>
              <a:t>clients, </a:t>
            </a:r>
            <a:r>
              <a:rPr spc="-85" dirty="0"/>
              <a:t>however, </a:t>
            </a:r>
            <a:r>
              <a:rPr spc="-60" dirty="0"/>
              <a:t>have </a:t>
            </a:r>
            <a:r>
              <a:rPr spc="-5" dirty="0"/>
              <a:t>limited  knowledge of </a:t>
            </a:r>
            <a:r>
              <a:rPr spc="-15" dirty="0"/>
              <a:t>how software </a:t>
            </a:r>
            <a:r>
              <a:rPr spc="-5" dirty="0"/>
              <a:t>is built  and vague ideas </a:t>
            </a:r>
            <a:r>
              <a:rPr spc="-20" dirty="0"/>
              <a:t>regarding </a:t>
            </a:r>
            <a:r>
              <a:rPr spc="-10" dirty="0"/>
              <a:t>what  </a:t>
            </a:r>
            <a:r>
              <a:rPr spc="-25" dirty="0"/>
              <a:t>makes </a:t>
            </a:r>
            <a:r>
              <a:rPr spc="-5" dirty="0"/>
              <a:t>a </a:t>
            </a:r>
            <a:r>
              <a:rPr spc="-15" dirty="0"/>
              <a:t>project</a:t>
            </a:r>
            <a:r>
              <a:rPr spc="-30" dirty="0"/>
              <a:t> </a:t>
            </a:r>
            <a:r>
              <a:rPr spc="-5" dirty="0"/>
              <a:t>successful</a:t>
            </a:r>
            <a:endParaRPr sz="36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60" dirty="0">
                <a:solidFill>
                  <a:srgbClr val="FFFFFF"/>
                </a:solidFill>
              </a:rPr>
              <a:t>YOUR</a:t>
            </a:r>
            <a:r>
              <a:rPr sz="2500" spc="-4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JOB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It can </a:t>
            </a:r>
            <a:r>
              <a:rPr dirty="0"/>
              <a:t>be </a:t>
            </a:r>
            <a:r>
              <a:rPr spc="-5" dirty="0"/>
              <a:t>difficult </a:t>
            </a:r>
            <a:r>
              <a:rPr dirty="0"/>
              <a:t>then </a:t>
            </a:r>
            <a:r>
              <a:rPr spc="-20" dirty="0"/>
              <a:t>for </a:t>
            </a:r>
            <a:r>
              <a:rPr dirty="0"/>
              <a:t>clients</a:t>
            </a:r>
            <a:r>
              <a:rPr spc="-570" dirty="0"/>
              <a:t> </a:t>
            </a:r>
            <a:r>
              <a:rPr spc="-5" dirty="0"/>
              <a:t>to  understand </a:t>
            </a:r>
            <a:r>
              <a:rPr spc="-10" dirty="0"/>
              <a:t>what </a:t>
            </a:r>
            <a:r>
              <a:rPr spc="-15" dirty="0"/>
              <a:t>they </a:t>
            </a:r>
            <a:r>
              <a:rPr spc="-10" dirty="0"/>
              <a:t>truly </a:t>
            </a:r>
            <a:r>
              <a:rPr spc="-25" dirty="0"/>
              <a:t>require  </a:t>
            </a:r>
            <a:r>
              <a:rPr spc="-5" dirty="0"/>
              <a:t>in a </a:t>
            </a:r>
            <a:r>
              <a:rPr spc="-15" dirty="0"/>
              <a:t>product. </a:t>
            </a:r>
            <a:r>
              <a:rPr spc="-5" dirty="0"/>
              <a:t>It is the </a:t>
            </a:r>
            <a:r>
              <a:rPr spc="-30" dirty="0"/>
              <a:t>role </a:t>
            </a:r>
            <a:r>
              <a:rPr spc="-5" dirty="0"/>
              <a:t>of the  </a:t>
            </a:r>
            <a:r>
              <a:rPr spc="-15" dirty="0"/>
              <a:t>software product </a:t>
            </a:r>
            <a:r>
              <a:rPr spc="-5" dirty="0"/>
              <a:t>manager to help  the client </a:t>
            </a:r>
            <a:r>
              <a:rPr spc="-15" dirty="0"/>
              <a:t>figure </a:t>
            </a:r>
            <a:r>
              <a:rPr spc="-5" dirty="0"/>
              <a:t>out what </a:t>
            </a:r>
            <a:r>
              <a:rPr spc="-15" dirty="0"/>
              <a:t>they  </a:t>
            </a:r>
            <a:r>
              <a:rPr spc="-5" dirty="0"/>
              <a:t>“want” and what </a:t>
            </a:r>
            <a:r>
              <a:rPr spc="-15" dirty="0"/>
              <a:t>they</a:t>
            </a:r>
            <a:r>
              <a:rPr spc="-385" dirty="0"/>
              <a:t> </a:t>
            </a:r>
            <a:r>
              <a:rPr spc="-60" dirty="0"/>
              <a:t>“need.”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734314"/>
            <a:ext cx="291592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45" dirty="0">
                <a:solidFill>
                  <a:srgbClr val="FFFFFF"/>
                </a:solidFill>
              </a:rPr>
              <a:t>WANTS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-2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CLIENTS</a:t>
            </a:r>
            <a:endParaRPr sz="2500"/>
          </a:p>
        </p:txBody>
      </p:sp>
      <p:sp>
        <p:nvSpPr>
          <p:cNvPr id="4" name="object 4"/>
          <p:cNvSpPr/>
          <p:nvPr/>
        </p:nvSpPr>
        <p:spPr>
          <a:xfrm>
            <a:off x="677913" y="1280579"/>
            <a:ext cx="8056118" cy="5151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734314"/>
            <a:ext cx="310451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FFFFFF"/>
                </a:solidFill>
              </a:rPr>
              <a:t>NEED OF THE</a:t>
            </a:r>
            <a:r>
              <a:rPr sz="2500" spc="-355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CLIENT</a:t>
            </a:r>
            <a:endParaRPr sz="2500"/>
          </a:p>
        </p:txBody>
      </p:sp>
      <p:sp>
        <p:nvSpPr>
          <p:cNvPr id="4" name="object 4"/>
          <p:cNvSpPr/>
          <p:nvPr/>
        </p:nvSpPr>
        <p:spPr>
          <a:xfrm>
            <a:off x="551789" y="1463497"/>
            <a:ext cx="8166481" cy="4890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494905" cy="3686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 best 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way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discover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develop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“needs”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“wants” with 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your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client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through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eliciting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requirements,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where 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you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engage</a:t>
            </a:r>
            <a:r>
              <a:rPr sz="4000" spc="-3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in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discussion about the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product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with 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your</a:t>
            </a:r>
            <a:r>
              <a:rPr sz="4000" spc="-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client.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60" dirty="0">
                <a:solidFill>
                  <a:srgbClr val="FFFFFF"/>
                </a:solidFill>
              </a:rPr>
              <a:t>IMPORTANT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648575" cy="510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7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70" dirty="0">
                <a:solidFill>
                  <a:srgbClr val="3C3C3C"/>
                </a:solidFill>
                <a:latin typeface="Gill Sans MT"/>
                <a:cs typeface="Gill Sans MT"/>
              </a:rPr>
              <a:t>Note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eliciting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as 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“needs”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“wants” does not  necessarily mean that all the 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client’s 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features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ideas that fall in the  “want” </a:t>
            </a:r>
            <a:r>
              <a:rPr sz="4000" spc="5" dirty="0">
                <a:solidFill>
                  <a:srgbClr val="3C3C3C"/>
                </a:solidFill>
                <a:latin typeface="Gill Sans MT"/>
                <a:cs typeface="Gill Sans MT"/>
              </a:rPr>
              <a:t>category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not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doable or  should be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dismissed.</a:t>
            </a:r>
            <a:endParaRPr sz="4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may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excellent but at</a:t>
            </a:r>
            <a:r>
              <a:rPr sz="4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moment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feasible.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</a:rPr>
              <a:t>BRIDGE THE</a:t>
            </a:r>
            <a:r>
              <a:rPr sz="2500" spc="-350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GAP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336804" y="1316736"/>
            <a:ext cx="8330183" cy="5134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9993" y="3218179"/>
            <a:ext cx="7287895" cy="124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-560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Understand</a:t>
            </a:r>
            <a:r>
              <a:rPr sz="4000" spc="-4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spc="-50" dirty="0">
                <a:solidFill>
                  <a:srgbClr val="FFFFFF"/>
                </a:solidFill>
                <a:latin typeface="Gill Sans MT"/>
                <a:cs typeface="Gill Sans MT"/>
              </a:rPr>
              <a:t>Why</a:t>
            </a:r>
            <a:r>
              <a:rPr sz="4000" spc="-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of</a:t>
            </a:r>
            <a:r>
              <a:rPr sz="4000" spc="-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FFFFFF"/>
                </a:solidFill>
                <a:latin typeface="Gill Sans MT"/>
                <a:cs typeface="Gill Sans MT"/>
              </a:rPr>
              <a:t>the</a:t>
            </a:r>
            <a:r>
              <a:rPr sz="4000" spc="-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FFFFFF"/>
                </a:solidFill>
                <a:latin typeface="Gill Sans MT"/>
                <a:cs typeface="Gill Sans MT"/>
              </a:rPr>
              <a:t>client</a:t>
            </a:r>
            <a:r>
              <a:rPr sz="4000" spc="-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and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tell them </a:t>
            </a:r>
            <a:r>
              <a:rPr sz="4000" spc="-105" dirty="0">
                <a:solidFill>
                  <a:srgbClr val="FFFFFF"/>
                </a:solidFill>
                <a:latin typeface="Gill Sans MT"/>
                <a:cs typeface="Gill Sans MT"/>
              </a:rPr>
              <a:t>WHAT </a:t>
            </a: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to</a:t>
            </a:r>
            <a:r>
              <a:rPr sz="4000" spc="-4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Gill Sans MT"/>
                <a:cs typeface="Gill Sans MT"/>
              </a:rPr>
              <a:t>do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398523"/>
            <a:ext cx="6219190" cy="185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 algn="just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Do </a:t>
            </a:r>
            <a:r>
              <a:rPr dirty="0"/>
              <a:t>not </a:t>
            </a:r>
            <a:r>
              <a:rPr spc="-5" dirty="0"/>
              <a:t>mix up</a:t>
            </a:r>
            <a:r>
              <a:rPr spc="-590" dirty="0"/>
              <a:t> </a:t>
            </a:r>
            <a:r>
              <a:rPr spc="-10" dirty="0"/>
              <a:t>Requirement  </a:t>
            </a:r>
            <a:r>
              <a:rPr spc="-5" dirty="0"/>
              <a:t>Gathering </a:t>
            </a:r>
            <a:r>
              <a:rPr spc="-10" dirty="0"/>
              <a:t>with Requirement  </a:t>
            </a:r>
            <a:r>
              <a:rPr spc="-5" dirty="0"/>
              <a:t>Elicitation.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717790" cy="4296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tabLst>
                <a:tab pos="2240915" algn="l"/>
              </a:tabLst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gathering is the</a:t>
            </a:r>
            <a:r>
              <a:rPr sz="4000" spc="-5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more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passive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approach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simply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asking  the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client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what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they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would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like  </a:t>
            </a:r>
            <a:r>
              <a:rPr sz="4000" spc="15" dirty="0">
                <a:solidFill>
                  <a:srgbClr val="3C3C3C"/>
                </a:solidFill>
                <a:latin typeface="Gill Sans MT"/>
                <a:cs typeface="Gill Sans MT"/>
              </a:rPr>
              <a:t>done,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it often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puts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development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team in a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reactive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process.	</a:t>
            </a: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(that is </a:t>
            </a:r>
            <a:r>
              <a:rPr sz="4000" dirty="0">
                <a:solidFill>
                  <a:srgbClr val="FF0000"/>
                </a:solidFill>
                <a:latin typeface="Gill Sans MT"/>
                <a:cs typeface="Gill Sans MT"/>
              </a:rPr>
              <a:t>the</a:t>
            </a:r>
            <a:r>
              <a:rPr sz="4000" spc="-4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20" dirty="0">
                <a:solidFill>
                  <a:srgbClr val="FF0000"/>
                </a:solidFill>
                <a:latin typeface="Gill Sans MT"/>
                <a:cs typeface="Gill Sans MT"/>
              </a:rPr>
              <a:t>mistake </a:t>
            </a: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that 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software developers </a:t>
            </a:r>
            <a:r>
              <a:rPr sz="4000" spc="-10" dirty="0">
                <a:solidFill>
                  <a:srgbClr val="FF0000"/>
                </a:solidFill>
                <a:latin typeface="Gill Sans MT"/>
                <a:cs typeface="Gill Sans MT"/>
              </a:rPr>
              <a:t>mostly </a:t>
            </a: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do)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573645" cy="510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Eliciting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requirements, </a:t>
            </a:r>
            <a:r>
              <a:rPr sz="4000" spc="-85" dirty="0">
                <a:solidFill>
                  <a:srgbClr val="3C3C3C"/>
                </a:solidFill>
                <a:latin typeface="Gill Sans MT"/>
                <a:cs typeface="Gill Sans MT"/>
              </a:rPr>
              <a:t>however,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engages in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in-depth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discussion and  collaboration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start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 development,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so both the 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client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development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team 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work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together to build a successful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product.</a:t>
            </a:r>
            <a:endParaRPr sz="4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That should be</a:t>
            </a:r>
            <a:r>
              <a:rPr sz="4000" spc="-59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done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20061" y="1867153"/>
            <a:ext cx="511175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ct val="100000"/>
              </a:lnSpc>
            </a:pP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EXPRESSING</a:t>
            </a:r>
            <a:endParaRPr sz="48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REQUIREMENTS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Eliciting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FF0000"/>
                </a:solidFill>
                <a:latin typeface="Gill Sans MT"/>
                <a:cs typeface="Gill Sans MT"/>
              </a:rPr>
              <a:t>Expressing</a:t>
            </a:r>
            <a:r>
              <a:rPr sz="4000" spc="-8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Prioritizing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Analyzing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10" dirty="0"/>
              <a:t>Expressing </a:t>
            </a:r>
            <a:r>
              <a:rPr spc="-5" dirty="0"/>
              <a:t>the </a:t>
            </a:r>
            <a:r>
              <a:rPr spc="-10" dirty="0"/>
              <a:t>Requirement is  </a:t>
            </a:r>
            <a:r>
              <a:rPr spc="-15" dirty="0"/>
              <a:t>process </a:t>
            </a:r>
            <a:r>
              <a:rPr spc="-5" dirty="0"/>
              <a:t>to </a:t>
            </a:r>
            <a:r>
              <a:rPr spc="-10" dirty="0"/>
              <a:t>inform </a:t>
            </a:r>
            <a:r>
              <a:rPr spc="-5" dirty="0"/>
              <a:t>about the elicited  </a:t>
            </a:r>
            <a:r>
              <a:rPr spc="-15" dirty="0"/>
              <a:t>requirements </a:t>
            </a:r>
            <a:r>
              <a:rPr spc="-5" dirty="0"/>
              <a:t>to </a:t>
            </a:r>
            <a:r>
              <a:rPr spc="-25" dirty="0"/>
              <a:t>your </a:t>
            </a:r>
            <a:r>
              <a:rPr spc="-20" dirty="0"/>
              <a:t>developer </a:t>
            </a:r>
            <a:r>
              <a:rPr spc="-5" dirty="0"/>
              <a:t>and  also </a:t>
            </a:r>
            <a:r>
              <a:rPr spc="-20" dirty="0"/>
              <a:t>verify </a:t>
            </a:r>
            <a:r>
              <a:rPr spc="-30" dirty="0"/>
              <a:t>from </a:t>
            </a:r>
            <a:r>
              <a:rPr spc="-5" dirty="0"/>
              <a:t>the</a:t>
            </a:r>
            <a:r>
              <a:rPr spc="60" dirty="0"/>
              <a:t> </a:t>
            </a:r>
            <a:r>
              <a:rPr spc="-5" dirty="0"/>
              <a:t>client.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734314"/>
            <a:ext cx="552577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5" dirty="0">
                <a:solidFill>
                  <a:srgbClr val="FFFFFF"/>
                </a:solidFill>
              </a:rPr>
              <a:t>USUALLY </a:t>
            </a:r>
            <a:r>
              <a:rPr sz="2500" spc="-5" dirty="0">
                <a:solidFill>
                  <a:srgbClr val="FFFFFF"/>
                </a:solidFill>
              </a:rPr>
              <a:t>REQUIREMENTS </a:t>
            </a:r>
            <a:r>
              <a:rPr sz="2500" spc="-100" dirty="0">
                <a:solidFill>
                  <a:srgbClr val="FFFFFF"/>
                </a:solidFill>
              </a:rPr>
              <a:t>START</a:t>
            </a:r>
            <a:r>
              <a:rPr sz="2500" spc="145" dirty="0">
                <a:solidFill>
                  <a:srgbClr val="FFFFFF"/>
                </a:solidFill>
              </a:rPr>
              <a:t> </a:t>
            </a:r>
            <a:r>
              <a:rPr sz="2500" spc="-45" dirty="0">
                <a:solidFill>
                  <a:srgbClr val="FFFFFF"/>
                </a:solidFill>
              </a:rPr>
              <a:t>FROM</a:t>
            </a:r>
            <a:endParaRPr sz="2500"/>
          </a:p>
        </p:txBody>
      </p:sp>
      <p:sp>
        <p:nvSpPr>
          <p:cNvPr id="4" name="object 4"/>
          <p:cNvSpPr/>
          <p:nvPr/>
        </p:nvSpPr>
        <p:spPr>
          <a:xfrm>
            <a:off x="930160" y="1215669"/>
            <a:ext cx="7250810" cy="5437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734314"/>
            <a:ext cx="745934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FFFFFF"/>
                </a:solidFill>
              </a:rPr>
              <a:t>A</a:t>
            </a:r>
            <a:r>
              <a:rPr sz="2500" spc="-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MORE</a:t>
            </a:r>
            <a:r>
              <a:rPr sz="2500" spc="15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IT</a:t>
            </a:r>
            <a:r>
              <a:rPr sz="2500" spc="-254" dirty="0">
                <a:solidFill>
                  <a:srgbClr val="FFFFFF"/>
                </a:solidFill>
              </a:rPr>
              <a:t> </a:t>
            </a:r>
            <a:r>
              <a:rPr sz="2500" spc="-85" dirty="0">
                <a:solidFill>
                  <a:srgbClr val="FFFFFF"/>
                </a:solidFill>
              </a:rPr>
              <a:t>AWARE</a:t>
            </a:r>
            <a:r>
              <a:rPr sz="2500" spc="-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CLIENT</a:t>
            </a:r>
            <a:r>
              <a:rPr sz="2500" spc="25" dirty="0">
                <a:solidFill>
                  <a:srgbClr val="FFFFFF"/>
                </a:solidFill>
              </a:rPr>
              <a:t> </a:t>
            </a:r>
            <a:r>
              <a:rPr sz="2500" spc="-40" dirty="0">
                <a:solidFill>
                  <a:srgbClr val="FFFFFF"/>
                </a:solidFill>
              </a:rPr>
              <a:t>(THAT’S</a:t>
            </a:r>
            <a:r>
              <a:rPr sz="2500" spc="-310" dirty="0">
                <a:solidFill>
                  <a:srgbClr val="FFFFFF"/>
                </a:solidFill>
              </a:rPr>
              <a:t> </a:t>
            </a:r>
            <a:r>
              <a:rPr sz="2500" spc="-65" dirty="0">
                <a:solidFill>
                  <a:srgbClr val="FFFFFF"/>
                </a:solidFill>
              </a:rPr>
              <a:t>WHAT</a:t>
            </a:r>
            <a:r>
              <a:rPr sz="2500" spc="-375" dirty="0">
                <a:solidFill>
                  <a:srgbClr val="FFFFFF"/>
                </a:solidFill>
              </a:rPr>
              <a:t> </a:t>
            </a:r>
            <a:r>
              <a:rPr sz="2500" spc="-70" dirty="0">
                <a:solidFill>
                  <a:srgbClr val="FFFFFF"/>
                </a:solidFill>
              </a:rPr>
              <a:t>YOU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GET)</a:t>
            </a:r>
            <a:endParaRPr sz="2500"/>
          </a:p>
        </p:txBody>
      </p:sp>
      <p:sp>
        <p:nvSpPr>
          <p:cNvPr id="4" name="object 4"/>
          <p:cNvSpPr/>
          <p:nvPr/>
        </p:nvSpPr>
        <p:spPr>
          <a:xfrm>
            <a:off x="961694" y="1371536"/>
            <a:ext cx="7362444" cy="4948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  <a:latin typeface="Gill Sans MT"/>
                <a:cs typeface="Gill Sans MT"/>
              </a:rPr>
              <a:t>EXPRESSING</a:t>
            </a:r>
            <a:r>
              <a:rPr sz="2500" spc="-1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Gill Sans MT"/>
                <a:cs typeface="Gill Sans MT"/>
              </a:rPr>
              <a:t>REQUIREMENTS</a:t>
            </a:r>
            <a:endParaRPr sz="25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398523"/>
            <a:ext cx="723836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-560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15" dirty="0"/>
              <a:t>Different</a:t>
            </a:r>
            <a:r>
              <a:rPr dirty="0"/>
              <a:t> </a:t>
            </a:r>
            <a:r>
              <a:rPr spc="-55" dirty="0"/>
              <a:t>way</a:t>
            </a:r>
            <a:r>
              <a:rPr spc="-10" dirty="0"/>
              <a:t> </a:t>
            </a:r>
            <a:r>
              <a:rPr spc="-5" dirty="0"/>
              <a:t>to</a:t>
            </a:r>
            <a:r>
              <a:rPr spc="-10" dirty="0"/>
              <a:t> express,</a:t>
            </a:r>
            <a:r>
              <a:rPr spc="-425" dirty="0"/>
              <a:t> </a:t>
            </a:r>
            <a:r>
              <a:rPr spc="-45" dirty="0"/>
              <a:t>we</a:t>
            </a:r>
            <a:r>
              <a:rPr spc="-10" dirty="0"/>
              <a:t> </a:t>
            </a:r>
            <a:r>
              <a:rPr spc="-5" dirty="0"/>
              <a:t>shall</a:t>
            </a:r>
            <a:endParaRPr sz="365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pc="-5" dirty="0"/>
              <a:t>see</a:t>
            </a:r>
            <a:r>
              <a:rPr spc="-65" dirty="0"/>
              <a:t> </a:t>
            </a:r>
            <a:r>
              <a:rPr spc="-40" dirty="0"/>
              <a:t>shortly.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605" y="2794253"/>
            <a:ext cx="7004050" cy="2472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buClr>
                <a:srgbClr val="4590B8"/>
              </a:buClr>
              <a:buSzPct val="92187"/>
              <a:buFont typeface="Wingdings 2"/>
              <a:buChar char=""/>
              <a:tabLst>
                <a:tab pos="318135" algn="l"/>
              </a:tabLst>
            </a:pPr>
            <a:r>
              <a:rPr sz="3200" dirty="0">
                <a:solidFill>
                  <a:srgbClr val="3C3C3C"/>
                </a:solidFill>
                <a:latin typeface="Gill Sans MT"/>
                <a:cs typeface="Gill Sans MT"/>
              </a:rPr>
              <a:t>Writing </a:t>
            </a:r>
            <a:r>
              <a:rPr sz="3200" spc="-5" dirty="0">
                <a:solidFill>
                  <a:srgbClr val="3C3C3C"/>
                </a:solidFill>
                <a:latin typeface="Gill Sans MT"/>
                <a:cs typeface="Gill Sans MT"/>
              </a:rPr>
              <a:t>Requirements in </a:t>
            </a:r>
            <a:r>
              <a:rPr sz="3200" dirty="0">
                <a:solidFill>
                  <a:srgbClr val="3C3C3C"/>
                </a:solidFill>
                <a:latin typeface="Gill Sans MT"/>
                <a:cs typeface="Gill Sans MT"/>
              </a:rPr>
              <a:t>meaningful</a:t>
            </a:r>
            <a:r>
              <a:rPr sz="3200" spc="-1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3200" spc="-45" dirty="0">
                <a:solidFill>
                  <a:srgbClr val="3C3C3C"/>
                </a:solidFill>
                <a:latin typeface="Gill Sans MT"/>
                <a:cs typeface="Gill Sans MT"/>
              </a:rPr>
              <a:t>way</a:t>
            </a:r>
            <a:endParaRPr sz="32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365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8135" algn="l"/>
              </a:tabLst>
            </a:pPr>
            <a:r>
              <a:rPr sz="3200" dirty="0">
                <a:solidFill>
                  <a:srgbClr val="3C3C3C"/>
                </a:solidFill>
                <a:latin typeface="Gill Sans MT"/>
                <a:cs typeface="Gill Sans MT"/>
              </a:rPr>
              <a:t>Writing Use</a:t>
            </a:r>
            <a:r>
              <a:rPr sz="3200" spc="-11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3C3C3C"/>
                </a:solidFill>
                <a:latin typeface="Gill Sans MT"/>
                <a:cs typeface="Gill Sans MT"/>
              </a:rPr>
              <a:t>Cases</a:t>
            </a:r>
            <a:endParaRPr sz="32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370"/>
              </a:spcBef>
              <a:buClr>
                <a:srgbClr val="4590B8"/>
              </a:buClr>
              <a:buSzPct val="92187"/>
              <a:buFont typeface="Wingdings 2"/>
              <a:buChar char=""/>
              <a:tabLst>
                <a:tab pos="318135" algn="l"/>
              </a:tabLst>
            </a:pPr>
            <a:r>
              <a:rPr sz="3200" spc="-15" dirty="0">
                <a:solidFill>
                  <a:srgbClr val="3C3C3C"/>
                </a:solidFill>
                <a:latin typeface="Gill Sans MT"/>
                <a:cs typeface="Gill Sans MT"/>
              </a:rPr>
              <a:t>Wire</a:t>
            </a:r>
            <a:r>
              <a:rPr sz="3200" spc="-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3C3C3C"/>
                </a:solidFill>
                <a:latin typeface="Gill Sans MT"/>
                <a:cs typeface="Gill Sans MT"/>
              </a:rPr>
              <a:t>framing</a:t>
            </a:r>
            <a:endParaRPr sz="32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36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318135" algn="l"/>
              </a:tabLst>
            </a:pPr>
            <a:r>
              <a:rPr sz="3200" spc="15" dirty="0">
                <a:solidFill>
                  <a:srgbClr val="3C3C3C"/>
                </a:solidFill>
                <a:latin typeface="Gill Sans MT"/>
                <a:cs typeface="Gill Sans MT"/>
              </a:rPr>
              <a:t>Story</a:t>
            </a:r>
            <a:r>
              <a:rPr sz="3200" spc="-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3200" spc="-5" dirty="0">
                <a:solidFill>
                  <a:srgbClr val="3C3C3C"/>
                </a:solidFill>
                <a:latin typeface="Gill Sans MT"/>
                <a:cs typeface="Gill Sans MT"/>
              </a:rPr>
              <a:t>Boarding.</a:t>
            </a:r>
            <a:endParaRPr sz="3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20061" y="1867153"/>
            <a:ext cx="511175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" algn="ctr">
              <a:lnSpc>
                <a:spcPct val="100000"/>
              </a:lnSpc>
            </a:pPr>
            <a:r>
              <a:rPr sz="4800" b="1" dirty="0">
                <a:solidFill>
                  <a:srgbClr val="1A315F"/>
                </a:solidFill>
                <a:latin typeface="Gill Sans MT"/>
                <a:cs typeface="Gill Sans MT"/>
              </a:rPr>
              <a:t>PRIORITIZING</a:t>
            </a:r>
            <a:endParaRPr sz="48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REQUIREMENTS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Eliciting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latin typeface="Gill Sans MT"/>
                <a:cs typeface="Gill Sans MT"/>
              </a:rPr>
              <a:t>Expressing</a:t>
            </a:r>
            <a:r>
              <a:rPr sz="4000" spc="-8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Prioritizing</a:t>
            </a:r>
            <a:r>
              <a:rPr sz="4000" spc="-4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Analyzing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25" dirty="0">
                <a:solidFill>
                  <a:srgbClr val="FFFFFF"/>
                </a:solidFill>
              </a:rPr>
              <a:t>PRIORITIZATION </a:t>
            </a:r>
            <a:r>
              <a:rPr sz="2500" spc="-5" dirty="0">
                <a:solidFill>
                  <a:srgbClr val="FFFFFF"/>
                </a:solidFill>
              </a:rPr>
              <a:t>IS</a:t>
            </a:r>
            <a:r>
              <a:rPr sz="2500" spc="70" dirty="0">
                <a:solidFill>
                  <a:srgbClr val="FFFFFF"/>
                </a:solidFill>
              </a:rPr>
              <a:t> </a:t>
            </a:r>
            <a:r>
              <a:rPr sz="2500" spc="-60" dirty="0">
                <a:solidFill>
                  <a:srgbClr val="FFFFFF"/>
                </a:solidFill>
              </a:rPr>
              <a:t>IMPORTANT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Once a vision of </a:t>
            </a:r>
            <a:r>
              <a:rPr dirty="0"/>
              <a:t>what needs </a:t>
            </a:r>
            <a:r>
              <a:rPr spc="-5" dirty="0"/>
              <a:t>to</a:t>
            </a:r>
            <a:r>
              <a:rPr spc="-585" dirty="0"/>
              <a:t> </a:t>
            </a:r>
            <a:r>
              <a:rPr spc="-5" dirty="0"/>
              <a:t>be  done </a:t>
            </a:r>
            <a:r>
              <a:rPr spc="-20" dirty="0"/>
              <a:t>for </a:t>
            </a:r>
            <a:r>
              <a:rPr dirty="0"/>
              <a:t>the </a:t>
            </a:r>
            <a:r>
              <a:rPr spc="-15" dirty="0"/>
              <a:t>project </a:t>
            </a:r>
            <a:r>
              <a:rPr spc="-5" dirty="0"/>
              <a:t>has </a:t>
            </a:r>
            <a:r>
              <a:rPr dirty="0"/>
              <a:t>been  </a:t>
            </a:r>
            <a:r>
              <a:rPr spc="-5" dirty="0"/>
              <a:t>established </a:t>
            </a:r>
            <a:r>
              <a:rPr spc="-15" dirty="0"/>
              <a:t>through </a:t>
            </a:r>
            <a:r>
              <a:rPr dirty="0"/>
              <a:t>both </a:t>
            </a:r>
            <a:r>
              <a:rPr spc="-5" dirty="0"/>
              <a:t>eliciting  and </a:t>
            </a:r>
            <a:r>
              <a:rPr spc="-10" dirty="0"/>
              <a:t>expressing </a:t>
            </a:r>
            <a:r>
              <a:rPr spc="-15" dirty="0"/>
              <a:t>requirements, </a:t>
            </a:r>
            <a:r>
              <a:rPr spc="-5" dirty="0"/>
              <a:t>it </a:t>
            </a:r>
            <a:r>
              <a:rPr spc="-10" dirty="0"/>
              <a:t>is  </a:t>
            </a:r>
            <a:r>
              <a:rPr spc="5" dirty="0"/>
              <a:t>important </a:t>
            </a:r>
            <a:r>
              <a:rPr spc="-5" dirty="0"/>
              <a:t>to </a:t>
            </a:r>
            <a:r>
              <a:rPr b="1" spc="-15" dirty="0">
                <a:latin typeface="Gill Sans MT"/>
                <a:cs typeface="Gill Sans MT"/>
              </a:rPr>
              <a:t>prioritize </a:t>
            </a:r>
            <a:r>
              <a:rPr dirty="0"/>
              <a:t>client  needs, </a:t>
            </a:r>
            <a:r>
              <a:rPr spc="-5" dirty="0"/>
              <a:t>especially in </a:t>
            </a:r>
            <a:r>
              <a:rPr dirty="0"/>
              <a:t>Scrum  </a:t>
            </a:r>
            <a:r>
              <a:rPr spc="-25" dirty="0"/>
              <a:t>methodology.</a:t>
            </a:r>
            <a:endParaRPr sz="36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0" dirty="0">
                <a:solidFill>
                  <a:srgbClr val="FFFFFF"/>
                </a:solidFill>
              </a:rPr>
              <a:t>QUESTIONS </a:t>
            </a:r>
            <a:r>
              <a:rPr sz="2500" spc="-90" dirty="0">
                <a:solidFill>
                  <a:srgbClr val="FFFFFF"/>
                </a:solidFill>
              </a:rPr>
              <a:t>TO </a:t>
            </a:r>
            <a:r>
              <a:rPr sz="2500" spc="-5" dirty="0">
                <a:solidFill>
                  <a:srgbClr val="FFFFFF"/>
                </a:solidFill>
              </a:rPr>
              <a:t>HELP </a:t>
            </a:r>
            <a:r>
              <a:rPr sz="2500" spc="-30" dirty="0">
                <a:solidFill>
                  <a:srgbClr val="FFFFFF"/>
                </a:solidFill>
              </a:rPr>
              <a:t>ESTABLISH</a:t>
            </a:r>
            <a:r>
              <a:rPr sz="2500" spc="-8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PRIORITIES: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7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pc="70" dirty="0"/>
              <a:t>What </a:t>
            </a:r>
            <a:r>
              <a:rPr spc="-15" dirty="0"/>
              <a:t>requirements must </a:t>
            </a:r>
            <a:r>
              <a:rPr spc="-5" dirty="0"/>
              <a:t>be  completed </a:t>
            </a:r>
            <a:r>
              <a:rPr spc="-20" dirty="0"/>
              <a:t>for </a:t>
            </a:r>
            <a:r>
              <a:rPr spc="-5" dirty="0"/>
              <a:t>the </a:t>
            </a:r>
            <a:r>
              <a:rPr spc="-15" dirty="0"/>
              <a:t>project </a:t>
            </a:r>
            <a:r>
              <a:rPr spc="-5" dirty="0"/>
              <a:t>and  </a:t>
            </a:r>
            <a:r>
              <a:rPr spc="-15" dirty="0"/>
              <a:t>product </a:t>
            </a:r>
            <a:r>
              <a:rPr spc="-5" dirty="0"/>
              <a:t>to be</a:t>
            </a:r>
            <a:r>
              <a:rPr dirty="0"/>
              <a:t> </a:t>
            </a:r>
            <a:r>
              <a:rPr spc="-5" dirty="0"/>
              <a:t>successful?</a:t>
            </a:r>
            <a:endParaRPr sz="36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0" dirty="0">
                <a:solidFill>
                  <a:srgbClr val="FFFFFF"/>
                </a:solidFill>
              </a:rPr>
              <a:t>QUESTIONS </a:t>
            </a:r>
            <a:r>
              <a:rPr sz="2500" spc="-90" dirty="0">
                <a:solidFill>
                  <a:srgbClr val="FFFFFF"/>
                </a:solidFill>
              </a:rPr>
              <a:t>TO </a:t>
            </a:r>
            <a:r>
              <a:rPr sz="2500" spc="-5" dirty="0">
                <a:solidFill>
                  <a:srgbClr val="FFFFFF"/>
                </a:solidFill>
              </a:rPr>
              <a:t>HELP </a:t>
            </a:r>
            <a:r>
              <a:rPr sz="2500" spc="-30" dirty="0">
                <a:solidFill>
                  <a:srgbClr val="FFFFFF"/>
                </a:solidFill>
              </a:rPr>
              <a:t>ESTABLISH</a:t>
            </a:r>
            <a:r>
              <a:rPr sz="2500" spc="-95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PRIORITIES: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2206244"/>
            <a:ext cx="7800975" cy="3077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7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70" dirty="0">
                <a:solidFill>
                  <a:srgbClr val="3C3C3C"/>
                </a:solidFill>
                <a:latin typeface="Gill Sans MT"/>
                <a:cs typeface="Gill Sans MT"/>
              </a:rPr>
              <a:t>What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could be done to 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improve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project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or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but is not 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necessary?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These priorities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are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usually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only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included if both time  and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resources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allow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it.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398523"/>
            <a:ext cx="8006080" cy="307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7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pc="70" dirty="0"/>
              <a:t>What </a:t>
            </a:r>
            <a:r>
              <a:rPr spc="-15" dirty="0"/>
              <a:t>requirements </a:t>
            </a:r>
            <a:r>
              <a:rPr spc="-5" dirty="0"/>
              <a:t>should be done</a:t>
            </a:r>
            <a:r>
              <a:rPr spc="-55" dirty="0"/>
              <a:t> </a:t>
            </a:r>
            <a:r>
              <a:rPr spc="-5" dirty="0"/>
              <a:t>?  In </a:t>
            </a:r>
            <a:r>
              <a:rPr dirty="0"/>
              <a:t>other </a:t>
            </a:r>
            <a:r>
              <a:rPr spc="-25" dirty="0"/>
              <a:t>words, </a:t>
            </a:r>
            <a:r>
              <a:rPr spc="-10" dirty="0"/>
              <a:t>what </a:t>
            </a:r>
            <a:r>
              <a:rPr spc="-5" dirty="0"/>
              <a:t>is </a:t>
            </a:r>
            <a:r>
              <a:rPr spc="5" dirty="0"/>
              <a:t>important  </a:t>
            </a:r>
            <a:r>
              <a:rPr spc="-5" dirty="0"/>
              <a:t>but is not as </a:t>
            </a:r>
            <a:r>
              <a:rPr dirty="0"/>
              <a:t>time-critical </a:t>
            </a:r>
            <a:r>
              <a:rPr spc="-5" dirty="0"/>
              <a:t>or </a:t>
            </a:r>
            <a:r>
              <a:rPr dirty="0"/>
              <a:t>could be  </a:t>
            </a:r>
            <a:r>
              <a:rPr spc="-5" dirty="0"/>
              <a:t>satisfied another </a:t>
            </a:r>
            <a:r>
              <a:rPr spc="-55" dirty="0"/>
              <a:t>way </a:t>
            </a:r>
            <a:r>
              <a:rPr spc="-5" dirty="0"/>
              <a:t>or at a </a:t>
            </a:r>
            <a:r>
              <a:rPr spc="-10" dirty="0"/>
              <a:t>later  </a:t>
            </a:r>
            <a:r>
              <a:rPr spc="-5" dirty="0"/>
              <a:t>time on the</a:t>
            </a:r>
            <a:r>
              <a:rPr spc="-35" dirty="0"/>
              <a:t> </a:t>
            </a:r>
            <a:r>
              <a:rPr spc="-15" dirty="0"/>
              <a:t>project?</a:t>
            </a:r>
            <a:endParaRPr sz="36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</a:rPr>
              <a:t>SO PRIORITIZED IN </a:t>
            </a:r>
            <a:r>
              <a:rPr sz="2500" spc="-20" dirty="0">
                <a:solidFill>
                  <a:srgbClr val="FFFFFF"/>
                </a:solidFill>
              </a:rPr>
              <a:t>FOLLOWING</a:t>
            </a:r>
            <a:r>
              <a:rPr sz="2500" spc="75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ORDER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686675" cy="469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-560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sz="4000" b="1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b="1" spc="-5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4000" b="1" spc="-10" dirty="0">
                <a:solidFill>
                  <a:srgbClr val="3C3C3C"/>
                </a:solidFill>
                <a:latin typeface="Gill Sans MT"/>
                <a:cs typeface="Gill Sans MT"/>
              </a:rPr>
              <a:t>DONE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:</a:t>
            </a:r>
            <a:r>
              <a:rPr sz="4000" spc="-3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5" dirty="0">
                <a:solidFill>
                  <a:srgbClr val="3C3C3C"/>
                </a:solidFill>
                <a:latin typeface="Gill Sans MT"/>
                <a:cs typeface="Gill Sans MT"/>
              </a:rPr>
              <a:t>Important</a:t>
            </a:r>
            <a:r>
              <a:rPr sz="4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Urgent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success.</a:t>
            </a:r>
            <a:endParaRPr sz="4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-560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sz="4000" b="1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b="1" spc="-5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4000" b="1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b="1" spc="-5" dirty="0">
                <a:solidFill>
                  <a:srgbClr val="3C3C3C"/>
                </a:solidFill>
                <a:latin typeface="Gill Sans MT"/>
                <a:cs typeface="Gill Sans MT"/>
              </a:rPr>
              <a:t>DONE:</a:t>
            </a:r>
            <a:r>
              <a:rPr sz="4000" b="1" spc="-3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5" dirty="0">
                <a:solidFill>
                  <a:srgbClr val="3C3C3C"/>
                </a:solidFill>
                <a:latin typeface="Gill Sans MT"/>
                <a:cs typeface="Gill Sans MT"/>
              </a:rPr>
              <a:t>Important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but not Urgent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40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success.</a:t>
            </a:r>
            <a:endParaRPr sz="4000">
              <a:latin typeface="Gill Sans MT"/>
              <a:cs typeface="Gill Sans MT"/>
            </a:endParaRPr>
          </a:p>
          <a:p>
            <a:pPr marL="317500" marR="5080" indent="-304800">
              <a:lnSpc>
                <a:spcPct val="100000"/>
              </a:lnSpc>
              <a:spcBef>
                <a:spcPts val="1560"/>
              </a:spcBef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3C3C3C"/>
                </a:solidFill>
                <a:latin typeface="Gill Sans MT"/>
                <a:cs typeface="Gill Sans MT"/>
              </a:rPr>
              <a:t>COULD BE </a:t>
            </a:r>
            <a:r>
              <a:rPr sz="4000" b="1" spc="-10" dirty="0">
                <a:solidFill>
                  <a:srgbClr val="3C3C3C"/>
                </a:solidFill>
                <a:latin typeface="Gill Sans MT"/>
                <a:cs typeface="Gill Sans MT"/>
              </a:rPr>
              <a:t>DONE: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Not  </a:t>
            </a:r>
            <a:r>
              <a:rPr sz="4000" spc="5" dirty="0">
                <a:solidFill>
                  <a:srgbClr val="3C3C3C"/>
                </a:solidFill>
                <a:latin typeface="Gill Sans MT"/>
                <a:cs typeface="Gill Sans MT"/>
              </a:rPr>
              <a:t>Important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not Urgent but 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make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project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more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attractive.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597775" cy="124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17920" algn="l"/>
              </a:tabLst>
            </a:pPr>
            <a:r>
              <a:rPr sz="3650" spc="2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25" dirty="0">
                <a:solidFill>
                  <a:srgbClr val="3C3C3C"/>
                </a:solidFill>
                <a:latin typeface="Gill Sans MT"/>
                <a:cs typeface="Gill Sans MT"/>
              </a:rPr>
              <a:t>Prioritizing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5" dirty="0">
                <a:solidFill>
                  <a:srgbClr val="3C3C3C"/>
                </a:solidFill>
                <a:latin typeface="Gill Sans MT"/>
                <a:cs typeface="Gill Sans MT"/>
              </a:rPr>
              <a:t>important</a:t>
            </a:r>
            <a:r>
              <a:rPr sz="40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and	critical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a successful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life.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9547" y="1558797"/>
            <a:ext cx="819150" cy="356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0000"/>
                </a:solidFill>
              </a:rPr>
              <a:t>Urge</a:t>
            </a:r>
            <a:r>
              <a:rPr sz="2200" dirty="0">
                <a:solidFill>
                  <a:srgbClr val="000000"/>
                </a:solidFill>
              </a:rPr>
              <a:t>n</a:t>
            </a:r>
            <a:r>
              <a:rPr sz="2200" spc="-5" dirty="0">
                <a:solidFill>
                  <a:srgbClr val="000000"/>
                </a:solidFill>
              </a:rPr>
              <a:t>t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196966" y="1558797"/>
            <a:ext cx="1362075" cy="356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Gill Sans MT"/>
                <a:cs typeface="Gill Sans MT"/>
              </a:rPr>
              <a:t>Not</a:t>
            </a:r>
            <a:r>
              <a:rPr sz="2200" spc="-80" dirty="0">
                <a:latin typeface="Gill Sans MT"/>
                <a:cs typeface="Gill Sans MT"/>
              </a:rPr>
              <a:t> </a:t>
            </a:r>
            <a:r>
              <a:rPr sz="2200" spc="-5" dirty="0">
                <a:latin typeface="Gill Sans MT"/>
                <a:cs typeface="Gill Sans MT"/>
              </a:rPr>
              <a:t>Urgent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152" y="4169648"/>
            <a:ext cx="349250" cy="17068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200" dirty="0">
                <a:latin typeface="Gill Sans MT"/>
                <a:cs typeface="Gill Sans MT"/>
              </a:rPr>
              <a:t>Not</a:t>
            </a:r>
            <a:r>
              <a:rPr sz="2200" spc="-5" dirty="0">
                <a:latin typeface="Gill Sans MT"/>
                <a:cs typeface="Gill Sans MT"/>
              </a:rPr>
              <a:t> </a:t>
            </a:r>
            <a:r>
              <a:rPr sz="2200" dirty="0">
                <a:latin typeface="Gill Sans MT"/>
                <a:cs typeface="Gill Sans MT"/>
              </a:rPr>
              <a:t>Im</a:t>
            </a:r>
            <a:r>
              <a:rPr sz="2200" spc="5" dirty="0">
                <a:latin typeface="Gill Sans MT"/>
                <a:cs typeface="Gill Sans MT"/>
              </a:rPr>
              <a:t>p</a:t>
            </a:r>
            <a:r>
              <a:rPr sz="2200" dirty="0">
                <a:latin typeface="Gill Sans MT"/>
                <a:cs typeface="Gill Sans MT"/>
              </a:rPr>
              <a:t>o</a:t>
            </a:r>
            <a:r>
              <a:rPr sz="2200" spc="35" dirty="0">
                <a:latin typeface="Gill Sans MT"/>
                <a:cs typeface="Gill Sans MT"/>
              </a:rPr>
              <a:t>r</a:t>
            </a:r>
            <a:r>
              <a:rPr sz="2200" dirty="0">
                <a:latin typeface="Gill Sans MT"/>
                <a:cs typeface="Gill Sans MT"/>
              </a:rPr>
              <a:t>tant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8152" y="2494952"/>
            <a:ext cx="349250" cy="11645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200" dirty="0">
                <a:latin typeface="Gill Sans MT"/>
                <a:cs typeface="Gill Sans MT"/>
              </a:rPr>
              <a:t>Im</a:t>
            </a:r>
            <a:r>
              <a:rPr sz="2200" spc="5" dirty="0">
                <a:latin typeface="Gill Sans MT"/>
                <a:cs typeface="Gill Sans MT"/>
              </a:rPr>
              <a:t>p</a:t>
            </a:r>
            <a:r>
              <a:rPr sz="2200" dirty="0">
                <a:latin typeface="Gill Sans MT"/>
                <a:cs typeface="Gill Sans MT"/>
              </a:rPr>
              <a:t>o</a:t>
            </a:r>
            <a:r>
              <a:rPr sz="2200" spc="35" dirty="0">
                <a:latin typeface="Gill Sans MT"/>
                <a:cs typeface="Gill Sans MT"/>
              </a:rPr>
              <a:t>r</a:t>
            </a:r>
            <a:r>
              <a:rPr sz="2200" dirty="0">
                <a:latin typeface="Gill Sans MT"/>
                <a:cs typeface="Gill Sans MT"/>
              </a:rPr>
              <a:t>tant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84551" y="2601976"/>
            <a:ext cx="1009650" cy="911225"/>
          </a:xfrm>
          <a:custGeom>
            <a:avLst/>
            <a:gdLst/>
            <a:ahLst/>
            <a:cxnLst/>
            <a:rect l="l" t="t" r="r" b="b"/>
            <a:pathLst>
              <a:path w="1009650" h="911225">
                <a:moveTo>
                  <a:pt x="0" y="911225"/>
                </a:moveTo>
                <a:lnTo>
                  <a:pt x="1009650" y="911225"/>
                </a:lnTo>
                <a:lnTo>
                  <a:pt x="1009650" y="0"/>
                </a:lnTo>
                <a:lnTo>
                  <a:pt x="0" y="0"/>
                </a:lnTo>
                <a:lnTo>
                  <a:pt x="0" y="9112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84526" y="4546600"/>
            <a:ext cx="1409700" cy="911225"/>
          </a:xfrm>
          <a:custGeom>
            <a:avLst/>
            <a:gdLst/>
            <a:ahLst/>
            <a:cxnLst/>
            <a:rect l="l" t="t" r="r" b="b"/>
            <a:pathLst>
              <a:path w="1409700" h="911225">
                <a:moveTo>
                  <a:pt x="0" y="911225"/>
                </a:moveTo>
                <a:lnTo>
                  <a:pt x="1409700" y="911225"/>
                </a:lnTo>
                <a:lnTo>
                  <a:pt x="1409700" y="0"/>
                </a:lnTo>
                <a:lnTo>
                  <a:pt x="0" y="0"/>
                </a:lnTo>
                <a:lnTo>
                  <a:pt x="0" y="9112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99075" y="2601976"/>
            <a:ext cx="1155700" cy="911225"/>
          </a:xfrm>
          <a:custGeom>
            <a:avLst/>
            <a:gdLst/>
            <a:ahLst/>
            <a:cxnLst/>
            <a:rect l="l" t="t" r="r" b="b"/>
            <a:pathLst>
              <a:path w="1155700" h="911225">
                <a:moveTo>
                  <a:pt x="0" y="911225"/>
                </a:moveTo>
                <a:lnTo>
                  <a:pt x="1155700" y="911225"/>
                </a:lnTo>
                <a:lnTo>
                  <a:pt x="1155700" y="0"/>
                </a:lnTo>
                <a:lnTo>
                  <a:pt x="0" y="0"/>
                </a:lnTo>
                <a:lnTo>
                  <a:pt x="0" y="9112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72075" y="4546600"/>
            <a:ext cx="1409700" cy="911225"/>
          </a:xfrm>
          <a:custGeom>
            <a:avLst/>
            <a:gdLst/>
            <a:ahLst/>
            <a:cxnLst/>
            <a:rect l="l" t="t" r="r" b="b"/>
            <a:pathLst>
              <a:path w="1409700" h="911225">
                <a:moveTo>
                  <a:pt x="0" y="911225"/>
                </a:moveTo>
                <a:lnTo>
                  <a:pt x="1409700" y="911225"/>
                </a:lnTo>
                <a:lnTo>
                  <a:pt x="1409700" y="0"/>
                </a:lnTo>
                <a:lnTo>
                  <a:pt x="0" y="0"/>
                </a:lnTo>
                <a:lnTo>
                  <a:pt x="0" y="9112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02226" y="1585975"/>
            <a:ext cx="0" cy="4846955"/>
          </a:xfrm>
          <a:custGeom>
            <a:avLst/>
            <a:gdLst/>
            <a:ahLst/>
            <a:cxnLst/>
            <a:rect l="l" t="t" r="r" b="b"/>
            <a:pathLst>
              <a:path h="4846955">
                <a:moveTo>
                  <a:pt x="0" y="0"/>
                </a:moveTo>
                <a:lnTo>
                  <a:pt x="0" y="48465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58975" y="4033773"/>
            <a:ext cx="6237605" cy="6350"/>
          </a:xfrm>
          <a:custGeom>
            <a:avLst/>
            <a:gdLst/>
            <a:ahLst/>
            <a:cxnLst/>
            <a:rect l="l" t="t" r="r" b="b"/>
            <a:pathLst>
              <a:path w="6237605" h="6350">
                <a:moveTo>
                  <a:pt x="0" y="0"/>
                </a:moveTo>
                <a:lnTo>
                  <a:pt x="6237224" y="635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80970" y="2635884"/>
            <a:ext cx="1909445" cy="325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0" algn="ctr">
              <a:lnSpc>
                <a:spcPct val="100000"/>
              </a:lnSpc>
            </a:pPr>
            <a:r>
              <a:rPr sz="2400" b="1" dirty="0">
                <a:latin typeface="Gill Sans MT"/>
                <a:cs typeface="Gill Sans MT"/>
              </a:rPr>
              <a:t>Q1</a:t>
            </a:r>
            <a:endParaRPr sz="2400">
              <a:latin typeface="Gill Sans MT"/>
              <a:cs typeface="Gill Sans MT"/>
            </a:endParaRPr>
          </a:p>
          <a:p>
            <a:pPr marL="742315" marR="225425" algn="ctr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Gill Sans MT"/>
                <a:cs typeface="Gill Sans MT"/>
              </a:rPr>
              <a:t>Imp</a:t>
            </a:r>
            <a:r>
              <a:rPr sz="1800" spc="5" dirty="0">
                <a:latin typeface="Gill Sans MT"/>
                <a:cs typeface="Gill Sans MT"/>
              </a:rPr>
              <a:t>o</a:t>
            </a:r>
            <a:r>
              <a:rPr sz="1800" spc="25" dirty="0">
                <a:latin typeface="Gill Sans MT"/>
                <a:cs typeface="Gill Sans MT"/>
              </a:rPr>
              <a:t>r</a:t>
            </a:r>
            <a:r>
              <a:rPr sz="1800" dirty="0">
                <a:latin typeface="Gill Sans MT"/>
                <a:cs typeface="Gill Sans MT"/>
              </a:rPr>
              <a:t>tant  </a:t>
            </a:r>
            <a:r>
              <a:rPr sz="1800" spc="-5" dirty="0">
                <a:latin typeface="Gill Sans MT"/>
                <a:cs typeface="Gill Sans MT"/>
              </a:rPr>
              <a:t>Urgent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Just do</a:t>
            </a:r>
            <a:r>
              <a:rPr sz="16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506730" algn="ctr">
              <a:lnSpc>
                <a:spcPct val="100000"/>
              </a:lnSpc>
            </a:pPr>
            <a:r>
              <a:rPr sz="2400" b="1" dirty="0">
                <a:latin typeface="Gill Sans MT"/>
                <a:cs typeface="Gill Sans MT"/>
              </a:rPr>
              <a:t>Q3</a:t>
            </a:r>
            <a:endParaRPr sz="2400">
              <a:latin typeface="Gill Sans MT"/>
              <a:cs typeface="Gill Sans MT"/>
            </a:endParaRPr>
          </a:p>
          <a:p>
            <a:pPr marL="519430" marR="5080" algn="ctr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Gill Sans MT"/>
                <a:cs typeface="Gill Sans MT"/>
              </a:rPr>
              <a:t>Not</a:t>
            </a:r>
            <a:r>
              <a:rPr sz="1800" spc="-8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Important  </a:t>
            </a:r>
            <a:r>
              <a:rPr sz="1800" spc="-5" dirty="0">
                <a:latin typeface="Gill Sans MT"/>
                <a:cs typeface="Gill Sans MT"/>
              </a:rPr>
              <a:t>Urgent</a:t>
            </a:r>
            <a:endParaRPr sz="1800">
              <a:latin typeface="Gill Sans MT"/>
              <a:cs typeface="Gill Sans MT"/>
            </a:endParaRPr>
          </a:p>
          <a:p>
            <a:pPr marL="17780">
              <a:lnSpc>
                <a:spcPct val="100000"/>
              </a:lnSpc>
              <a:spcBef>
                <a:spcPts val="1040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Filter</a:t>
            </a:r>
            <a:r>
              <a:rPr sz="16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1854" y="2635884"/>
            <a:ext cx="1896745" cy="3259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0" algn="ctr">
              <a:lnSpc>
                <a:spcPct val="100000"/>
              </a:lnSpc>
            </a:pPr>
            <a:r>
              <a:rPr sz="2400" b="1" dirty="0">
                <a:latin typeface="Gill Sans MT"/>
                <a:cs typeface="Gill Sans MT"/>
              </a:rPr>
              <a:t>Q2</a:t>
            </a:r>
            <a:endParaRPr sz="2400">
              <a:latin typeface="Gill Sans MT"/>
              <a:cs typeface="Gill Sans MT"/>
            </a:endParaRPr>
          </a:p>
          <a:p>
            <a:pPr marL="650875" marR="145415" indent="-4445" algn="ctr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Gill Sans MT"/>
                <a:cs typeface="Gill Sans MT"/>
              </a:rPr>
              <a:t>Important  Not</a:t>
            </a:r>
            <a:r>
              <a:rPr sz="1800" spc="-90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Urgent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Live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your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life</a:t>
            </a:r>
            <a:r>
              <a:rPr sz="16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here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Times New Roman"/>
              <a:cs typeface="Times New Roman"/>
            </a:endParaRPr>
          </a:p>
          <a:p>
            <a:pPr marL="494030" algn="ctr">
              <a:lnSpc>
                <a:spcPct val="100000"/>
              </a:lnSpc>
            </a:pPr>
            <a:r>
              <a:rPr sz="2400" b="1" dirty="0">
                <a:latin typeface="Gill Sans MT"/>
                <a:cs typeface="Gill Sans MT"/>
              </a:rPr>
              <a:t>Q4</a:t>
            </a:r>
            <a:endParaRPr sz="2400">
              <a:latin typeface="Gill Sans MT"/>
              <a:cs typeface="Gill Sans MT"/>
            </a:endParaRPr>
          </a:p>
          <a:p>
            <a:pPr marL="506730" marR="5080" algn="ctr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Gill Sans MT"/>
                <a:cs typeface="Gill Sans MT"/>
              </a:rPr>
              <a:t>Not</a:t>
            </a:r>
            <a:r>
              <a:rPr sz="1800" spc="-8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Important  Not</a:t>
            </a:r>
            <a:r>
              <a:rPr sz="1800" spc="-90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Urgent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Stop doing</a:t>
            </a:r>
            <a:r>
              <a:rPr sz="16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39289" y="1867153"/>
            <a:ext cx="527177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70" dirty="0">
                <a:solidFill>
                  <a:srgbClr val="1A315F"/>
                </a:solidFill>
                <a:latin typeface="Gill Sans MT"/>
                <a:cs typeface="Gill Sans MT"/>
              </a:rPr>
              <a:t>ANALYZING</a:t>
            </a:r>
            <a:r>
              <a:rPr sz="4800" b="1" spc="-800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THE</a:t>
            </a:r>
            <a:endParaRPr sz="4800">
              <a:latin typeface="Gill Sans MT"/>
              <a:cs typeface="Gill Sans MT"/>
            </a:endParaRPr>
          </a:p>
          <a:p>
            <a:pPr marL="635" algn="ctr">
              <a:lnSpc>
                <a:spcPct val="100000"/>
              </a:lnSpc>
            </a:pP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REQUIREMENTS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Eliciting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latin typeface="Gill Sans MT"/>
                <a:cs typeface="Gill Sans MT"/>
              </a:rPr>
              <a:t>Expressing</a:t>
            </a:r>
            <a:r>
              <a:rPr sz="4000" spc="-8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Prioritizing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solidFill>
                  <a:srgbClr val="FF0000"/>
                </a:solidFill>
                <a:latin typeface="Gill Sans MT"/>
                <a:cs typeface="Gill Sans MT"/>
              </a:rPr>
              <a:t>Analyzing</a:t>
            </a:r>
            <a:r>
              <a:rPr sz="4000" spc="-5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The </a:t>
            </a:r>
            <a:r>
              <a:rPr spc="-15" dirty="0"/>
              <a:t>process </a:t>
            </a:r>
            <a:r>
              <a:rPr spc="-5" dirty="0"/>
              <a:t>of examining the </a:t>
            </a:r>
            <a:r>
              <a:rPr spc="-10" dirty="0"/>
              <a:t>listed  </a:t>
            </a:r>
            <a:r>
              <a:rPr spc="-15" dirty="0"/>
              <a:t>requirements </a:t>
            </a:r>
            <a:r>
              <a:rPr spc="-5" dirty="0"/>
              <a:t>of a </a:t>
            </a:r>
            <a:r>
              <a:rPr spc="-15" dirty="0"/>
              <a:t>project </a:t>
            </a:r>
            <a:r>
              <a:rPr spc="-5" dirty="0"/>
              <a:t>to </a:t>
            </a:r>
            <a:r>
              <a:rPr spc="-15" dirty="0"/>
              <a:t>ensure  </a:t>
            </a:r>
            <a:r>
              <a:rPr spc="-5" dirty="0"/>
              <a:t>that </a:t>
            </a:r>
            <a:r>
              <a:rPr spc="-15" dirty="0"/>
              <a:t>they </a:t>
            </a:r>
            <a:r>
              <a:rPr spc="-35" dirty="0"/>
              <a:t>are </a:t>
            </a:r>
            <a:r>
              <a:rPr spc="-70" dirty="0"/>
              <a:t>clear, </a:t>
            </a:r>
            <a:r>
              <a:rPr spc="5" dirty="0"/>
              <a:t>complete, </a:t>
            </a:r>
            <a:r>
              <a:rPr spc="-5" dirty="0"/>
              <a:t>and  consistent is </a:t>
            </a:r>
            <a:r>
              <a:rPr spc="-15" dirty="0"/>
              <a:t>known </a:t>
            </a:r>
            <a:r>
              <a:rPr spc="-5" dirty="0"/>
              <a:t>as </a:t>
            </a:r>
            <a:r>
              <a:rPr b="1" spc="-10" dirty="0">
                <a:latin typeface="Gill Sans MT"/>
                <a:cs typeface="Gill Sans MT"/>
              </a:rPr>
              <a:t>analyzing  </a:t>
            </a:r>
            <a:r>
              <a:rPr b="1" spc="-15" dirty="0">
                <a:latin typeface="Gill Sans MT"/>
                <a:cs typeface="Gill Sans MT"/>
              </a:rPr>
              <a:t>requirements</a:t>
            </a:r>
            <a:r>
              <a:rPr spc="-15" dirty="0"/>
              <a:t>.</a:t>
            </a:r>
            <a:endParaRPr sz="36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821930" cy="3884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Some time 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4000" spc="-6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4000" spc="-4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requirement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those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not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consistent with each  </a:t>
            </a:r>
            <a:r>
              <a:rPr sz="4000" spc="-70" dirty="0">
                <a:solidFill>
                  <a:srgbClr val="3C3C3C"/>
                </a:solidFill>
                <a:latin typeface="Gill Sans MT"/>
                <a:cs typeface="Gill Sans MT"/>
              </a:rPr>
              <a:t>other.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Fulfilling one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  </a:t>
            </a:r>
            <a:r>
              <a:rPr sz="4000" spc="-55" dirty="0">
                <a:solidFill>
                  <a:srgbClr val="3C3C3C"/>
                </a:solidFill>
                <a:latin typeface="Gill Sans MT"/>
                <a:cs typeface="Gill Sans MT"/>
              </a:rPr>
              <a:t>may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disturb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other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20" dirty="0">
                <a:solidFill>
                  <a:srgbClr val="3C3C3C"/>
                </a:solidFill>
                <a:latin typeface="Gill Sans MT"/>
                <a:cs typeface="Gill Sans MT"/>
              </a:rPr>
              <a:t>one.</a:t>
            </a:r>
            <a:endParaRPr sz="4000">
              <a:latin typeface="Gill Sans MT"/>
              <a:cs typeface="Gill Sans MT"/>
            </a:endParaRPr>
          </a:p>
          <a:p>
            <a:pPr marL="317500" marR="86995" indent="-304800">
              <a:lnSpc>
                <a:spcPct val="100000"/>
              </a:lnSpc>
              <a:spcBef>
                <a:spcPts val="1560"/>
              </a:spcBef>
            </a:pPr>
            <a:r>
              <a:rPr sz="3650" spc="7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7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example consider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following</a:t>
            </a:r>
            <a:r>
              <a:rPr sz="4000" spc="-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two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requirments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5" dirty="0">
                <a:solidFill>
                  <a:srgbClr val="FFFFFF"/>
                </a:solidFill>
              </a:rPr>
              <a:t>CONFLICTING</a:t>
            </a:r>
            <a:r>
              <a:rPr sz="2500" spc="-3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845425" cy="3275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9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90" dirty="0">
                <a:solidFill>
                  <a:srgbClr val="3C3C3C"/>
                </a:solidFill>
                <a:latin typeface="Gill Sans MT"/>
                <a:cs typeface="Gill Sans MT"/>
              </a:rPr>
              <a:t>App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should not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access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4000" spc="-1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user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messages.</a:t>
            </a:r>
            <a:endParaRPr sz="4000">
              <a:latin typeface="Gill Sans MT"/>
              <a:cs typeface="Gill Sans MT"/>
            </a:endParaRPr>
          </a:p>
          <a:p>
            <a:pPr marL="317500" marR="5080" indent="-304800">
              <a:lnSpc>
                <a:spcPct val="100000"/>
              </a:lnSpc>
              <a:spcBef>
                <a:spcPts val="1560"/>
              </a:spcBef>
            </a:pPr>
            <a:r>
              <a:rPr sz="3650" spc="7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70" dirty="0">
                <a:solidFill>
                  <a:srgbClr val="3C3C3C"/>
                </a:solidFill>
                <a:latin typeface="Gill Sans MT"/>
                <a:cs typeface="Gill Sans MT"/>
              </a:rPr>
              <a:t>When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confirmation message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arrives,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app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should automatically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read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pin code and</a:t>
            </a:r>
            <a:r>
              <a:rPr sz="4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proceed.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36797" y="1398523"/>
            <a:ext cx="2767965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9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eq</a:t>
            </a:r>
            <a:r>
              <a:rPr sz="4000" spc="0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4000" spc="-9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eme</a:t>
            </a:r>
            <a:r>
              <a:rPr sz="4000" spc="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ts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0688" y="1398523"/>
            <a:ext cx="1970405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0665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helps	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993" y="1398523"/>
            <a:ext cx="2262505" cy="124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spc="3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30" dirty="0">
                <a:solidFill>
                  <a:srgbClr val="3C3C3C"/>
                </a:solidFill>
                <a:latin typeface="Gill Sans MT"/>
                <a:cs typeface="Gill Sans MT"/>
              </a:rPr>
              <a:t>Analyzing</a:t>
            </a:r>
            <a:endParaRPr sz="4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resolve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4936" y="2008123"/>
            <a:ext cx="3001010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78560" algn="l"/>
              </a:tabLst>
            </a:pP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any	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potential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4793" y="2617978"/>
            <a:ext cx="2766695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9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eq</a:t>
            </a:r>
            <a:r>
              <a:rPr sz="4000" spc="0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4000" spc="-9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ements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4370" y="2617978"/>
            <a:ext cx="1734185" cy="63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1270" algn="l"/>
              </a:tabLst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or	to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5052" y="2008123"/>
            <a:ext cx="2105660" cy="124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conflicting</a:t>
            </a:r>
            <a:endParaRPr sz="4000">
              <a:latin typeface="Gill Sans MT"/>
              <a:cs typeface="Gill Sans MT"/>
            </a:endParaRPr>
          </a:p>
          <a:p>
            <a:pPr marL="598170">
              <a:lnSpc>
                <a:spcPct val="100000"/>
              </a:lnSpc>
            </a:pP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id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ntify</a:t>
            </a:r>
            <a:endParaRPr sz="40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4793" y="3227577"/>
            <a:ext cx="7526655" cy="185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problems between requirements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might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not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easily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seen at first 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glance.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37" y="3998912"/>
            <a:ext cx="8239125" cy="1259205"/>
          </a:xfrm>
          <a:custGeom>
            <a:avLst/>
            <a:gdLst/>
            <a:ahLst/>
            <a:cxnLst/>
            <a:rect l="l" t="t" r="r" b="b"/>
            <a:pathLst>
              <a:path w="8239125" h="1259204">
                <a:moveTo>
                  <a:pt x="0" y="1258887"/>
                </a:moveTo>
                <a:lnTo>
                  <a:pt x="8239125" y="1258887"/>
                </a:lnTo>
                <a:lnTo>
                  <a:pt x="8239125" y="0"/>
                </a:lnTo>
                <a:lnTo>
                  <a:pt x="0" y="0"/>
                </a:lnTo>
                <a:lnTo>
                  <a:pt x="0" y="1258887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20061" y="1867153"/>
            <a:ext cx="511175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4800" b="1" spc="-25" dirty="0">
                <a:solidFill>
                  <a:srgbClr val="1A315F"/>
                </a:solidFill>
                <a:latin typeface="Gill Sans MT"/>
                <a:cs typeface="Gill Sans MT"/>
              </a:rPr>
              <a:t>MANAGING</a:t>
            </a:r>
            <a:endParaRPr sz="48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1A315F"/>
                </a:solidFill>
                <a:latin typeface="Gill Sans MT"/>
                <a:cs typeface="Gill Sans MT"/>
              </a:rPr>
              <a:t>REQUIREMENTS</a:t>
            </a:r>
            <a:endParaRPr sz="4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608076"/>
            <a:ext cx="8239125" cy="65087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63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95"/>
              </a:spcBef>
            </a:pPr>
            <a:r>
              <a:rPr sz="2500" spc="-15" dirty="0">
                <a:solidFill>
                  <a:srgbClr val="FFFFFF"/>
                </a:solidFill>
              </a:rPr>
              <a:t>ACTIVITIES </a:t>
            </a:r>
            <a:r>
              <a:rPr sz="2500" spc="-5" dirty="0">
                <a:solidFill>
                  <a:srgbClr val="FFFFFF"/>
                </a:solidFill>
              </a:rPr>
              <a:t>OF</a:t>
            </a:r>
            <a:r>
              <a:rPr sz="2500" spc="10" dirty="0">
                <a:solidFill>
                  <a:srgbClr val="FFFFFF"/>
                </a:solidFill>
              </a:rPr>
              <a:t> </a:t>
            </a:r>
            <a:r>
              <a:rPr sz="2500" spc="-5" dirty="0">
                <a:solidFill>
                  <a:srgbClr val="FFFFFF"/>
                </a:solidFill>
              </a:rPr>
              <a:t>REQUIREMENTS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5894705" cy="386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Eliciting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latin typeface="Gill Sans MT"/>
                <a:cs typeface="Gill Sans MT"/>
              </a:rPr>
              <a:t>Expressing</a:t>
            </a:r>
            <a:r>
              <a:rPr sz="4000" spc="-8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latin typeface="Gill Sans MT"/>
                <a:cs typeface="Gill Sans MT"/>
              </a:rPr>
              <a:t>Prioritizing</a:t>
            </a:r>
            <a:r>
              <a:rPr sz="4000" spc="-40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10" dirty="0">
                <a:latin typeface="Gill Sans MT"/>
                <a:cs typeface="Gill Sans MT"/>
              </a:rPr>
              <a:t>Analyzing</a:t>
            </a:r>
            <a:r>
              <a:rPr sz="4000" spc="-55" dirty="0">
                <a:latin typeface="Gill Sans MT"/>
                <a:cs typeface="Gill Sans MT"/>
              </a:rPr>
              <a:t> </a:t>
            </a:r>
            <a:r>
              <a:rPr sz="4000" spc="-15" dirty="0"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  <a:p>
            <a:pPr marL="756285" indent="-743585">
              <a:lnSpc>
                <a:spcPct val="100000"/>
              </a:lnSpc>
              <a:spcBef>
                <a:spcPts val="1560"/>
              </a:spcBef>
              <a:buClr>
                <a:srgbClr val="4590B8"/>
              </a:buClr>
              <a:buSzPct val="91250"/>
              <a:buAutoNum type="arabicPeriod"/>
              <a:tabLst>
                <a:tab pos="756285" algn="l"/>
                <a:tab pos="756920" algn="l"/>
              </a:tabLst>
            </a:pPr>
            <a:r>
              <a:rPr sz="4000" spc="-5" dirty="0">
                <a:solidFill>
                  <a:srgbClr val="FF0000"/>
                </a:solidFill>
                <a:latin typeface="Gill Sans MT"/>
                <a:cs typeface="Gill Sans MT"/>
              </a:rPr>
              <a:t>Managing</a:t>
            </a:r>
            <a:r>
              <a:rPr sz="4000" spc="-4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Gill Sans MT"/>
                <a:cs typeface="Gill Sans MT"/>
              </a:rPr>
              <a:t>requirements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546975" cy="449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1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3650" spc="15" dirty="0">
                <a:solidFill>
                  <a:srgbClr val="4590B8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If something changes in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one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requirement,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it will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affect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other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development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the</a:t>
            </a:r>
            <a:r>
              <a:rPr sz="4000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product.</a:t>
            </a:r>
            <a:endParaRPr sz="4000">
              <a:latin typeface="Gill Sans MT"/>
              <a:cs typeface="Gill Sans MT"/>
            </a:endParaRPr>
          </a:p>
          <a:p>
            <a:pPr marL="317500" marR="229235" indent="-304800">
              <a:lnSpc>
                <a:spcPct val="100000"/>
              </a:lnSpc>
              <a:spcBef>
                <a:spcPts val="1560"/>
              </a:spcBef>
            </a:pPr>
            <a:r>
              <a:rPr sz="3650" spc="35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35" dirty="0">
                <a:solidFill>
                  <a:srgbClr val="3C3C3C"/>
                </a:solidFill>
                <a:latin typeface="Gill Sans MT"/>
                <a:cs typeface="Gill Sans MT"/>
              </a:rPr>
              <a:t>Managing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Requirement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allows </a:t>
            </a:r>
            <a:r>
              <a:rPr sz="4000" spc="-30" dirty="0">
                <a:solidFill>
                  <a:srgbClr val="3C3C3C"/>
                </a:solidFill>
                <a:latin typeface="Gill Sans MT"/>
                <a:cs typeface="Gill Sans MT"/>
              </a:rPr>
              <a:t>you  </a:t>
            </a:r>
            <a:r>
              <a:rPr sz="4000" spc="-30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identify the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impact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a  </a:t>
            </a:r>
            <a:r>
              <a:rPr sz="4000" spc="-20" dirty="0">
                <a:solidFill>
                  <a:srgbClr val="3C3C3C"/>
                </a:solidFill>
                <a:latin typeface="Gill Sans MT"/>
                <a:cs typeface="Gill Sans MT"/>
              </a:rPr>
              <a:t>requirement</a:t>
            </a:r>
            <a:r>
              <a:rPr sz="4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4000" spc="10" dirty="0">
                <a:solidFill>
                  <a:srgbClr val="3C3C3C"/>
                </a:solidFill>
                <a:latin typeface="Gill Sans MT"/>
                <a:cs typeface="Gill Sans MT"/>
              </a:rPr>
              <a:t>change.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675" y="608076"/>
            <a:ext cx="8239125" cy="650875"/>
          </a:xfrm>
          <a:custGeom>
            <a:avLst/>
            <a:gdLst/>
            <a:ahLst/>
            <a:cxnLst/>
            <a:rect l="l" t="t" r="r" b="b"/>
            <a:pathLst>
              <a:path w="8239125" h="650875">
                <a:moveTo>
                  <a:pt x="0" y="650875"/>
                </a:moveTo>
                <a:lnTo>
                  <a:pt x="8239125" y="650875"/>
                </a:lnTo>
                <a:lnTo>
                  <a:pt x="8239125" y="0"/>
                </a:lnTo>
                <a:lnTo>
                  <a:pt x="0" y="0"/>
                </a:lnTo>
                <a:lnTo>
                  <a:pt x="0" y="6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993" y="1398523"/>
            <a:ext cx="7824470" cy="3686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3650" spc="40" dirty="0">
                <a:solidFill>
                  <a:srgbClr val="4590B8"/>
                </a:solidFill>
                <a:latin typeface="Wingdings 2"/>
                <a:cs typeface="Wingdings 2"/>
              </a:rPr>
              <a:t></a:t>
            </a:r>
            <a:r>
              <a:rPr sz="4000" spc="40" dirty="0">
                <a:solidFill>
                  <a:srgbClr val="3C3C3C"/>
                </a:solidFill>
                <a:latin typeface="Gill Sans MT"/>
                <a:cs typeface="Gill Sans MT"/>
              </a:rPr>
              <a:t>Managing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also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means  ensuring that the identified 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 </a:t>
            </a:r>
            <a:r>
              <a:rPr sz="4000" spc="-3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4000" dirty="0">
                <a:solidFill>
                  <a:srgbClr val="3C3C3C"/>
                </a:solidFill>
                <a:latin typeface="Gill Sans MT"/>
                <a:cs typeface="Gill Sans MT"/>
              </a:rPr>
              <a:t>central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to the  </a:t>
            </a:r>
            <a:r>
              <a:rPr sz="4000" spc="-25" dirty="0">
                <a:solidFill>
                  <a:srgbClr val="3C3C3C"/>
                </a:solidFill>
                <a:latin typeface="Gill Sans MT"/>
                <a:cs typeface="Gill Sans MT"/>
              </a:rPr>
              <a:t>many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processes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4000" spc="-15" dirty="0">
                <a:solidFill>
                  <a:srgbClr val="3C3C3C"/>
                </a:solidFill>
                <a:latin typeface="Gill Sans MT"/>
                <a:cs typeface="Gill Sans MT"/>
              </a:rPr>
              <a:t>product creation,  </a:t>
            </a:r>
            <a:r>
              <a:rPr sz="4000" spc="-5" dirty="0">
                <a:solidFill>
                  <a:srgbClr val="3C3C3C"/>
                </a:solidFill>
                <a:latin typeface="Gill Sans MT"/>
                <a:cs typeface="Gill Sans MT"/>
              </a:rPr>
              <a:t>including coding, testing, and change  </a:t>
            </a:r>
            <a:r>
              <a:rPr sz="4000" spc="-10" dirty="0">
                <a:solidFill>
                  <a:srgbClr val="3C3C3C"/>
                </a:solidFill>
                <a:latin typeface="Gill Sans MT"/>
                <a:cs typeface="Gill Sans MT"/>
              </a:rPr>
              <a:t>logs.</a:t>
            </a:r>
            <a:endParaRPr sz="4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1112</Words>
  <Application>Microsoft Office PowerPoint</Application>
  <PresentationFormat>On-screen Show (4:3)</PresentationFormat>
  <Paragraphs>151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Gill Sans MT</vt:lpstr>
      <vt:lpstr>Times New Roman</vt:lpstr>
      <vt:lpstr>Wingdings 2</vt:lpstr>
      <vt:lpstr>Office Theme</vt:lpstr>
      <vt:lpstr>PowerPoint Presentation</vt:lpstr>
      <vt:lpstr>PowerPoint Presentation</vt:lpstr>
      <vt:lpstr>PowerPoint Presentation</vt:lpstr>
      <vt:lpstr>UNDERSTAND RIGHT PRODUCT</vt:lpstr>
      <vt:lpstr>PowerPoint Presentation</vt:lpstr>
      <vt:lpstr> Understanding WHY of your client ?</vt:lpstr>
      <vt:lpstr>PowerPoint Presentation</vt:lpstr>
      <vt:lpstr>WHAT IS REQUIREMENT</vt:lpstr>
      <vt:lpstr>INFORMALLY</vt:lpstr>
      <vt:lpstr>IEEE: FORMAL DEFINITION</vt:lpstr>
      <vt:lpstr>ACTIVITIES OF  REQUIREMENT  SPECIFICATION PHASE</vt:lpstr>
      <vt:lpstr>ACTIVITIES OF REQUIREMENTS</vt:lpstr>
      <vt:lpstr>ELICITING REQUIREMENTS</vt:lpstr>
      <vt:lpstr>ACTIVITIES OF REQUIREMENTS</vt:lpstr>
      <vt:lpstr>PowerPoint Presentation</vt:lpstr>
      <vt:lpstr>WHAT CLIENT KNOWS</vt:lpstr>
      <vt:lpstr>DO NOT EXPECT FROM CLIENT</vt:lpstr>
      <vt:lpstr>YOUR JOB</vt:lpstr>
      <vt:lpstr>WANTS OF CLIENTS</vt:lpstr>
      <vt:lpstr>NEED OF THE CLIENT</vt:lpstr>
      <vt:lpstr>PowerPoint Presentation</vt:lpstr>
      <vt:lpstr>IMPORTANT</vt:lpstr>
      <vt:lpstr>BRIDGE THE GAP</vt:lpstr>
      <vt:lpstr> Do not mix up Requirement  Gathering with Requirement  Elicitation.</vt:lpstr>
      <vt:lpstr>PowerPoint Presentation</vt:lpstr>
      <vt:lpstr>PowerPoint Presentation</vt:lpstr>
      <vt:lpstr>PowerPoint Presentation</vt:lpstr>
      <vt:lpstr>ACTIVITIES OF REQUIREMENTS</vt:lpstr>
      <vt:lpstr>PowerPoint Presentation</vt:lpstr>
      <vt:lpstr>USUALLY REQUIREMENTS START FROM</vt:lpstr>
      <vt:lpstr>A MORE IT AWARE CLIENT (THAT’S WHAT YOU GET)</vt:lpstr>
      <vt:lpstr> Different way to express, we shall see shortly.</vt:lpstr>
      <vt:lpstr>PowerPoint Presentation</vt:lpstr>
      <vt:lpstr>ACTIVITIES OF REQUIREMENTS</vt:lpstr>
      <vt:lpstr>PRIORITIZATION IS IMPORTANT</vt:lpstr>
      <vt:lpstr>QUESTIONS TO HELP ESTABLISH PRIORITIES:</vt:lpstr>
      <vt:lpstr>QUESTIONS TO HELP ESTABLISH PRIORITIES:</vt:lpstr>
      <vt:lpstr>What requirements should be done ?  In other words, what is important  but is not as time-critical or could be  satisfied another way or at a later  time on the project?</vt:lpstr>
      <vt:lpstr>SO PRIORITIZED IN FOLLOWING ORDER</vt:lpstr>
      <vt:lpstr>PowerPoint Presentation</vt:lpstr>
      <vt:lpstr>Urgent</vt:lpstr>
      <vt:lpstr>PowerPoint Presentation</vt:lpstr>
      <vt:lpstr>ACTIVITIES OF REQUIREMENTS</vt:lpstr>
      <vt:lpstr>PowerPoint Presentation</vt:lpstr>
      <vt:lpstr>PowerPoint Presentation</vt:lpstr>
      <vt:lpstr>CONFLICTING REQUIREMENT</vt:lpstr>
      <vt:lpstr>PowerPoint Presentation</vt:lpstr>
      <vt:lpstr>PowerPoint Presentation</vt:lpstr>
      <vt:lpstr>ACTIVITIES OF REQUIREMENTS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Kamran Karim Kundi</dc:creator>
  <cp:lastModifiedBy>Mr. Zeeshan Ramzan</cp:lastModifiedBy>
  <cp:revision>3</cp:revision>
  <dcterms:created xsi:type="dcterms:W3CDTF">2019-02-12T09:20:31Z</dcterms:created>
  <dcterms:modified xsi:type="dcterms:W3CDTF">2020-10-05T09:59:55Z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2019-02-12T00:00:00Z</vt:filetime>
  </property>
</Properties>
</file>