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7" r:id="rId20"/>
    <p:sldId id="279" r:id="rId21"/>
    <p:sldId id="280" r:id="rId22"/>
    <p:sldId id="281" r:id="rId23"/>
    <p:sldId id="282" r:id="rId2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1" autoAdjust="0"/>
    <p:restoredTop sz="94660"/>
  </p:normalViewPr>
  <p:slideViewPr>
    <p:cSldViewPr>
      <p:cViewPr varScale="1">
        <p:scale>
          <a:sx n="63" d="100"/>
          <a:sy n="63" d="100"/>
        </p:scale>
        <p:origin x="1221" y="3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tx1"/>
                </a:solidFill>
                <a:latin typeface="Ebrima"/>
                <a:cs typeface="Ebrima"/>
              </a:defRPr>
            </a:lvl1p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11/27/2023</a:t>
            </a:fld>
            <a:endParaRPr lang="en-US"/>
          </a:p>
        </p:txBody>
      </p:sp>
      <p:sp>
        <p:nvSpPr>
          <p:cNvPr id="6" name="Holder 6"/>
          <p:cNvSpPr>
            <a:spLocks noGrp="1"/>
          </p:cNvSpPr>
          <p:nvPr>
            <p:ph type="sldNum" sz="quarter" idx="7"/>
          </p:nvPr>
        </p:nvSpPr>
        <p:spPr/>
        <p:txBody>
          <a:bodyPr lIns="0" tIns="0" rIns="0" bIns="0"/>
          <a:lstStyle>
            <a:lvl1pPr>
              <a:defRPr sz="1200" b="1" i="0">
                <a:solidFill>
                  <a:srgbClr val="888888"/>
                </a:solidFill>
                <a:latin typeface="Ebrima"/>
                <a:cs typeface="Ebrima"/>
              </a:defRPr>
            </a:lvl1pPr>
          </a:lstStyle>
          <a:p>
            <a:pPr marL="38100">
              <a:lnSpc>
                <a:spcPct val="100000"/>
              </a:lnSpc>
              <a:spcBef>
                <a:spcPts val="190"/>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Ebrima"/>
                <a:cs typeface="Ebrim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1" i="0">
                <a:solidFill>
                  <a:schemeClr val="tx1"/>
                </a:solidFill>
                <a:latin typeface="Ebrima"/>
                <a:cs typeface="Ebrima"/>
              </a:defRPr>
            </a:lvl1p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11/27/2023</a:t>
            </a:fld>
            <a:endParaRPr lang="en-US"/>
          </a:p>
        </p:txBody>
      </p:sp>
      <p:sp>
        <p:nvSpPr>
          <p:cNvPr id="6" name="Holder 6"/>
          <p:cNvSpPr>
            <a:spLocks noGrp="1"/>
          </p:cNvSpPr>
          <p:nvPr>
            <p:ph type="sldNum" sz="quarter" idx="7"/>
          </p:nvPr>
        </p:nvSpPr>
        <p:spPr/>
        <p:txBody>
          <a:bodyPr lIns="0" tIns="0" rIns="0" bIns="0"/>
          <a:lstStyle>
            <a:lvl1pPr>
              <a:defRPr sz="1200" b="1" i="0">
                <a:solidFill>
                  <a:srgbClr val="888888"/>
                </a:solidFill>
                <a:latin typeface="Ebrima"/>
                <a:cs typeface="Ebrima"/>
              </a:defRPr>
            </a:lvl1pPr>
          </a:lstStyle>
          <a:p>
            <a:pPr marL="38100">
              <a:lnSpc>
                <a:spcPct val="100000"/>
              </a:lnSpc>
              <a:spcBef>
                <a:spcPts val="190"/>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Ebrima"/>
                <a:cs typeface="Ebrim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1" i="0">
                <a:solidFill>
                  <a:schemeClr val="tx1"/>
                </a:solidFill>
                <a:latin typeface="Ebrima"/>
                <a:cs typeface="Ebrima"/>
              </a:defRPr>
            </a:lvl1p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11/27/2023</a:t>
            </a:fld>
            <a:endParaRPr lang="en-US"/>
          </a:p>
        </p:txBody>
      </p:sp>
      <p:sp>
        <p:nvSpPr>
          <p:cNvPr id="7" name="Holder 7"/>
          <p:cNvSpPr>
            <a:spLocks noGrp="1"/>
          </p:cNvSpPr>
          <p:nvPr>
            <p:ph type="sldNum" sz="quarter" idx="7"/>
          </p:nvPr>
        </p:nvSpPr>
        <p:spPr/>
        <p:txBody>
          <a:bodyPr lIns="0" tIns="0" rIns="0" bIns="0"/>
          <a:lstStyle>
            <a:lvl1pPr>
              <a:defRPr sz="1200" b="1" i="0">
                <a:solidFill>
                  <a:srgbClr val="888888"/>
                </a:solidFill>
                <a:latin typeface="Ebrima"/>
                <a:cs typeface="Ebrima"/>
              </a:defRPr>
            </a:lvl1pPr>
          </a:lstStyle>
          <a:p>
            <a:pPr marL="38100">
              <a:lnSpc>
                <a:spcPct val="100000"/>
              </a:lnSpc>
              <a:spcBef>
                <a:spcPts val="190"/>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Ebrima"/>
                <a:cs typeface="Ebrima"/>
              </a:defRPr>
            </a:lvl1pPr>
          </a:lstStyle>
          <a:p>
            <a:endParaRPr/>
          </a:p>
        </p:txBody>
      </p:sp>
      <p:sp>
        <p:nvSpPr>
          <p:cNvPr id="3" name="Holder 3"/>
          <p:cNvSpPr>
            <a:spLocks noGrp="1"/>
          </p:cNvSpPr>
          <p:nvPr>
            <p:ph type="ftr" sz="quarter" idx="5"/>
          </p:nvPr>
        </p:nvSpPr>
        <p:spPr/>
        <p:txBody>
          <a:bodyPr lIns="0" tIns="0" rIns="0" bIns="0"/>
          <a:lstStyle>
            <a:lvl1pPr>
              <a:defRPr sz="1200" b="1" i="0">
                <a:solidFill>
                  <a:schemeClr val="tx1"/>
                </a:solidFill>
                <a:latin typeface="Ebrima"/>
                <a:cs typeface="Ebrima"/>
              </a:defRPr>
            </a:lvl1p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11/27/2023</a:t>
            </a:fld>
            <a:endParaRPr lang="en-US"/>
          </a:p>
        </p:txBody>
      </p:sp>
      <p:sp>
        <p:nvSpPr>
          <p:cNvPr id="5" name="Holder 5"/>
          <p:cNvSpPr>
            <a:spLocks noGrp="1"/>
          </p:cNvSpPr>
          <p:nvPr>
            <p:ph type="sldNum" sz="quarter" idx="7"/>
          </p:nvPr>
        </p:nvSpPr>
        <p:spPr/>
        <p:txBody>
          <a:bodyPr lIns="0" tIns="0" rIns="0" bIns="0"/>
          <a:lstStyle>
            <a:lvl1pPr>
              <a:defRPr sz="1200" b="1" i="0">
                <a:solidFill>
                  <a:srgbClr val="888888"/>
                </a:solidFill>
                <a:latin typeface="Ebrima"/>
                <a:cs typeface="Ebrima"/>
              </a:defRPr>
            </a:lvl1pPr>
          </a:lstStyle>
          <a:p>
            <a:pPr marL="38100">
              <a:lnSpc>
                <a:spcPct val="100000"/>
              </a:lnSpc>
              <a:spcBef>
                <a:spcPts val="190"/>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1" i="0">
                <a:solidFill>
                  <a:schemeClr val="tx1"/>
                </a:solidFill>
                <a:latin typeface="Ebrima"/>
                <a:cs typeface="Ebrima"/>
              </a:defRPr>
            </a:lvl1p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11/27/2023</a:t>
            </a:fld>
            <a:endParaRPr lang="en-US"/>
          </a:p>
        </p:txBody>
      </p:sp>
      <p:sp>
        <p:nvSpPr>
          <p:cNvPr id="4" name="Holder 4"/>
          <p:cNvSpPr>
            <a:spLocks noGrp="1"/>
          </p:cNvSpPr>
          <p:nvPr>
            <p:ph type="sldNum" sz="quarter" idx="7"/>
          </p:nvPr>
        </p:nvSpPr>
        <p:spPr/>
        <p:txBody>
          <a:bodyPr lIns="0" tIns="0" rIns="0" bIns="0"/>
          <a:lstStyle>
            <a:lvl1pPr>
              <a:defRPr sz="1200" b="1" i="0">
                <a:solidFill>
                  <a:srgbClr val="888888"/>
                </a:solidFill>
                <a:latin typeface="Ebrima"/>
                <a:cs typeface="Ebrima"/>
              </a:defRPr>
            </a:lvl1pPr>
          </a:lstStyle>
          <a:p>
            <a:pPr marL="38100">
              <a:lnSpc>
                <a:spcPct val="100000"/>
              </a:lnSpc>
              <a:spcBef>
                <a:spcPts val="190"/>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376425"/>
            <a:ext cx="9144000" cy="73025"/>
          </a:xfrm>
          <a:prstGeom prst="rect">
            <a:avLst/>
          </a:prstGeom>
        </p:spPr>
      </p:pic>
      <p:pic>
        <p:nvPicPr>
          <p:cNvPr id="17" name="bg object 17"/>
          <p:cNvPicPr/>
          <p:nvPr/>
        </p:nvPicPr>
        <p:blipFill>
          <a:blip r:embed="rId8" cstate="print"/>
          <a:stretch>
            <a:fillRect/>
          </a:stretch>
        </p:blipFill>
        <p:spPr>
          <a:xfrm>
            <a:off x="0" y="48767"/>
            <a:ext cx="1572768" cy="1389888"/>
          </a:xfrm>
          <a:prstGeom prst="rect">
            <a:avLst/>
          </a:prstGeom>
        </p:spPr>
      </p:pic>
      <p:pic>
        <p:nvPicPr>
          <p:cNvPr id="18" name="bg object 18"/>
          <p:cNvPicPr/>
          <p:nvPr/>
        </p:nvPicPr>
        <p:blipFill>
          <a:blip r:embed="rId9" cstate="print"/>
          <a:stretch>
            <a:fillRect/>
          </a:stretch>
        </p:blipFill>
        <p:spPr>
          <a:xfrm>
            <a:off x="0" y="0"/>
            <a:ext cx="1572768" cy="1386839"/>
          </a:xfrm>
          <a:prstGeom prst="rect">
            <a:avLst/>
          </a:prstGeom>
        </p:spPr>
      </p:pic>
      <p:sp>
        <p:nvSpPr>
          <p:cNvPr id="2" name="Holder 2"/>
          <p:cNvSpPr>
            <a:spLocks noGrp="1"/>
          </p:cNvSpPr>
          <p:nvPr>
            <p:ph type="title"/>
          </p:nvPr>
        </p:nvSpPr>
        <p:spPr>
          <a:xfrm>
            <a:off x="1731518" y="170814"/>
            <a:ext cx="5680963" cy="1001394"/>
          </a:xfrm>
          <a:prstGeom prst="rect">
            <a:avLst/>
          </a:prstGeom>
        </p:spPr>
        <p:txBody>
          <a:bodyPr wrap="square" lIns="0" tIns="0" rIns="0" bIns="0">
            <a:spAutoFit/>
          </a:bodyPr>
          <a:lstStyle>
            <a:lvl1pPr>
              <a:defRPr sz="3200" b="0" i="0">
                <a:solidFill>
                  <a:schemeClr val="tx1"/>
                </a:solidFill>
                <a:latin typeface="Ebrima"/>
                <a:cs typeface="Ebrima"/>
              </a:defRPr>
            </a:lvl1pPr>
          </a:lstStyle>
          <a:p>
            <a:endParaRPr/>
          </a:p>
        </p:txBody>
      </p:sp>
      <p:sp>
        <p:nvSpPr>
          <p:cNvPr id="3" name="Holder 3"/>
          <p:cNvSpPr>
            <a:spLocks noGrp="1"/>
          </p:cNvSpPr>
          <p:nvPr>
            <p:ph type="body" idx="1"/>
          </p:nvPr>
        </p:nvSpPr>
        <p:spPr>
          <a:xfrm>
            <a:off x="660095" y="1461262"/>
            <a:ext cx="7823809" cy="3757295"/>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510641" y="6385675"/>
            <a:ext cx="4489450" cy="215900"/>
          </a:xfrm>
          <a:prstGeom prst="rect">
            <a:avLst/>
          </a:prstGeom>
        </p:spPr>
        <p:txBody>
          <a:bodyPr wrap="square" lIns="0" tIns="0" rIns="0" bIns="0">
            <a:spAutoFit/>
          </a:bodyPr>
          <a:lstStyle>
            <a:lvl1pPr>
              <a:defRPr sz="1200" b="1" i="0">
                <a:solidFill>
                  <a:schemeClr val="tx1"/>
                </a:solidFill>
                <a:latin typeface="Ebrima"/>
                <a:cs typeface="Ebrima"/>
              </a:defRPr>
            </a:lvl1p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11/27/2023</a:t>
            </a:fld>
            <a:endParaRPr lang="en-US"/>
          </a:p>
        </p:txBody>
      </p:sp>
      <p:sp>
        <p:nvSpPr>
          <p:cNvPr id="6" name="Holder 6"/>
          <p:cNvSpPr>
            <a:spLocks noGrp="1"/>
          </p:cNvSpPr>
          <p:nvPr>
            <p:ph type="sldNum" sz="quarter" idx="7"/>
          </p:nvPr>
        </p:nvSpPr>
        <p:spPr>
          <a:xfrm>
            <a:off x="8380476" y="6420118"/>
            <a:ext cx="253365" cy="226695"/>
          </a:xfrm>
          <a:prstGeom prst="rect">
            <a:avLst/>
          </a:prstGeom>
        </p:spPr>
        <p:txBody>
          <a:bodyPr wrap="square" lIns="0" tIns="0" rIns="0" bIns="0">
            <a:spAutoFit/>
          </a:bodyPr>
          <a:lstStyle>
            <a:lvl1pPr>
              <a:defRPr sz="1200" b="1" i="0">
                <a:solidFill>
                  <a:srgbClr val="888888"/>
                </a:solidFill>
                <a:latin typeface="Ebrima"/>
                <a:cs typeface="Ebrima"/>
              </a:defRPr>
            </a:lvl1pPr>
          </a:lstStyle>
          <a:p>
            <a:pPr marL="38100">
              <a:lnSpc>
                <a:spcPct val="100000"/>
              </a:lnSpc>
              <a:spcBef>
                <a:spcPts val="190"/>
              </a:spcBef>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5242"/>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29588F"/>
          </a:solidFill>
        </p:spPr>
        <p:txBody>
          <a:bodyPr wrap="square" lIns="0" tIns="0" rIns="0" bIns="0" rtlCol="0"/>
          <a:lstStyle/>
          <a:p>
            <a:endParaRPr/>
          </a:p>
        </p:txBody>
      </p:sp>
      <p:grpSp>
        <p:nvGrpSpPr>
          <p:cNvPr id="3" name="object 3"/>
          <p:cNvGrpSpPr/>
          <p:nvPr/>
        </p:nvGrpSpPr>
        <p:grpSpPr>
          <a:xfrm>
            <a:off x="4713732" y="3107434"/>
            <a:ext cx="4300855" cy="3750945"/>
            <a:chOff x="4713732" y="3107434"/>
            <a:chExt cx="4300855" cy="3750945"/>
          </a:xfrm>
        </p:grpSpPr>
        <p:pic>
          <p:nvPicPr>
            <p:cNvPr id="4" name="object 4"/>
            <p:cNvPicPr/>
            <p:nvPr/>
          </p:nvPicPr>
          <p:blipFill>
            <a:blip r:embed="rId2" cstate="print"/>
            <a:stretch>
              <a:fillRect/>
            </a:stretch>
          </p:blipFill>
          <p:spPr>
            <a:xfrm>
              <a:off x="4713732" y="3157726"/>
              <a:ext cx="4300727" cy="3700272"/>
            </a:xfrm>
            <a:prstGeom prst="rect">
              <a:avLst/>
            </a:prstGeom>
          </p:spPr>
        </p:pic>
        <p:pic>
          <p:nvPicPr>
            <p:cNvPr id="5" name="object 5"/>
            <p:cNvPicPr/>
            <p:nvPr/>
          </p:nvPicPr>
          <p:blipFill>
            <a:blip r:embed="rId3" cstate="print"/>
            <a:stretch>
              <a:fillRect/>
            </a:stretch>
          </p:blipFill>
          <p:spPr>
            <a:xfrm>
              <a:off x="4713732" y="3107434"/>
              <a:ext cx="4300727" cy="3750564"/>
            </a:xfrm>
            <a:prstGeom prst="rect">
              <a:avLst/>
            </a:prstGeom>
          </p:spPr>
        </p:pic>
      </p:grpSp>
      <p:sp>
        <p:nvSpPr>
          <p:cNvPr id="11" name="object 11"/>
          <p:cNvSpPr txBox="1"/>
          <p:nvPr/>
        </p:nvSpPr>
        <p:spPr>
          <a:xfrm>
            <a:off x="685801" y="1916282"/>
            <a:ext cx="6640322" cy="825226"/>
          </a:xfrm>
          <a:prstGeom prst="rect">
            <a:avLst/>
          </a:prstGeom>
        </p:spPr>
        <p:txBody>
          <a:bodyPr vert="horz" wrap="square" lIns="0" tIns="13335" rIns="0" bIns="0" rtlCol="0">
            <a:spAutoFit/>
          </a:bodyPr>
          <a:lstStyle/>
          <a:p>
            <a:pPr marL="12700" marR="5080" indent="1530350" algn="ctr">
              <a:lnSpc>
                <a:spcPct val="150000"/>
              </a:lnSpc>
              <a:spcBef>
                <a:spcPts val="105"/>
              </a:spcBef>
            </a:pPr>
            <a:r>
              <a:rPr lang="en-US" sz="4000" b="1" spc="-10" dirty="0">
                <a:solidFill>
                  <a:srgbClr val="FFFFFF"/>
                </a:solidFill>
                <a:latin typeface="Ebrima"/>
                <a:cs typeface="Ebrima"/>
              </a:rPr>
              <a:t>Chapter 9</a:t>
            </a:r>
            <a:r>
              <a:rPr lang="en-US" sz="4000" b="1" dirty="0">
                <a:solidFill>
                  <a:srgbClr val="FFFFFF"/>
                </a:solidFill>
                <a:latin typeface="Ebrima"/>
                <a:cs typeface="Ebrima"/>
              </a:rPr>
              <a:t>: </a:t>
            </a:r>
            <a:r>
              <a:rPr sz="4000" b="1" spc="-10" dirty="0">
                <a:solidFill>
                  <a:srgbClr val="FFFFFF"/>
                </a:solidFill>
                <a:latin typeface="Ebrima"/>
                <a:cs typeface="Ebrima"/>
              </a:rPr>
              <a:t>Databases</a:t>
            </a:r>
            <a:endParaRPr sz="4000" dirty="0">
              <a:latin typeface="Ebrima"/>
              <a:cs typeface="Ebri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1887220" cy="574040"/>
          </a:xfrm>
          <a:prstGeom prst="rect">
            <a:avLst/>
          </a:prstGeom>
        </p:spPr>
        <p:txBody>
          <a:bodyPr vert="horz" wrap="square" lIns="0" tIns="12700" rIns="0" bIns="0" rtlCol="0">
            <a:spAutoFit/>
          </a:bodyPr>
          <a:lstStyle/>
          <a:p>
            <a:pPr marL="12700">
              <a:lnSpc>
                <a:spcPct val="100000"/>
              </a:lnSpc>
              <a:spcBef>
                <a:spcPts val="100"/>
              </a:spcBef>
            </a:pPr>
            <a:r>
              <a:rPr sz="3600" dirty="0"/>
              <a:t>Overview</a:t>
            </a:r>
            <a:endParaRPr sz="3600"/>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2</a:t>
            </a:fld>
            <a:endParaRPr dirty="0"/>
          </a:p>
        </p:txBody>
      </p:sp>
      <p:sp>
        <p:nvSpPr>
          <p:cNvPr id="3" name="object 3"/>
          <p:cNvSpPr txBox="1"/>
          <p:nvPr/>
        </p:nvSpPr>
        <p:spPr>
          <a:xfrm>
            <a:off x="535940" y="1461262"/>
            <a:ext cx="7506970" cy="3025775"/>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spc="-5" dirty="0">
                <a:latin typeface="Calibri"/>
                <a:cs typeface="Calibri"/>
              </a:rPr>
              <a:t>This</a:t>
            </a:r>
            <a:r>
              <a:rPr sz="2400" spc="-30" dirty="0">
                <a:latin typeface="Calibri"/>
                <a:cs typeface="Calibri"/>
              </a:rPr>
              <a:t> </a:t>
            </a:r>
            <a:r>
              <a:rPr sz="2400" spc="-5" dirty="0">
                <a:latin typeface="Calibri"/>
                <a:cs typeface="Calibri"/>
              </a:rPr>
              <a:t>chapter</a:t>
            </a:r>
            <a:r>
              <a:rPr sz="2400" spc="-30" dirty="0">
                <a:latin typeface="Calibri"/>
                <a:cs typeface="Calibri"/>
              </a:rPr>
              <a:t> </a:t>
            </a:r>
            <a:r>
              <a:rPr sz="2400" spc="-20" dirty="0">
                <a:latin typeface="Calibri"/>
                <a:cs typeface="Calibri"/>
              </a:rPr>
              <a:t>covers:</a:t>
            </a:r>
            <a:endParaRPr sz="2400">
              <a:latin typeface="Calibri"/>
              <a:cs typeface="Calibri"/>
            </a:endParaRPr>
          </a:p>
          <a:p>
            <a:pPr marL="756285" marR="5080" lvl="1" indent="-287020">
              <a:lnSpc>
                <a:spcPct val="100000"/>
              </a:lnSpc>
              <a:spcBef>
                <a:spcPts val="575"/>
              </a:spcBef>
              <a:buFont typeface="Arial MT"/>
              <a:buChar char="–"/>
              <a:tabLst>
                <a:tab pos="756920" algn="l"/>
              </a:tabLst>
            </a:pPr>
            <a:r>
              <a:rPr sz="2400" spc="-10" dirty="0">
                <a:latin typeface="Calibri"/>
                <a:cs typeface="Calibri"/>
              </a:rPr>
              <a:t>What</a:t>
            </a:r>
            <a:r>
              <a:rPr sz="2400" spc="-25" dirty="0">
                <a:latin typeface="Calibri"/>
                <a:cs typeface="Calibri"/>
              </a:rPr>
              <a:t> </a:t>
            </a:r>
            <a:r>
              <a:rPr sz="2400" dirty="0">
                <a:latin typeface="Calibri"/>
                <a:cs typeface="Calibri"/>
              </a:rPr>
              <a:t>a</a:t>
            </a:r>
            <a:r>
              <a:rPr sz="2400" spc="-20" dirty="0">
                <a:latin typeface="Calibri"/>
                <a:cs typeface="Calibri"/>
              </a:rPr>
              <a:t> </a:t>
            </a:r>
            <a:r>
              <a:rPr sz="2400" spc="-10" dirty="0">
                <a:latin typeface="Calibri"/>
                <a:cs typeface="Calibri"/>
              </a:rPr>
              <a:t>database</a:t>
            </a:r>
            <a:r>
              <a:rPr sz="2400" spc="-5" dirty="0">
                <a:latin typeface="Calibri"/>
                <a:cs typeface="Calibri"/>
              </a:rPr>
              <a:t> </a:t>
            </a:r>
            <a:r>
              <a:rPr sz="2400" dirty="0">
                <a:latin typeface="Calibri"/>
                <a:cs typeface="Calibri"/>
              </a:rPr>
              <a:t>is,</a:t>
            </a:r>
            <a:r>
              <a:rPr sz="2400" spc="-25"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individuals</a:t>
            </a:r>
            <a:r>
              <a:rPr sz="2400" spc="-5" dirty="0">
                <a:latin typeface="Calibri"/>
                <a:cs typeface="Calibri"/>
              </a:rPr>
              <a:t> </a:t>
            </a:r>
            <a:r>
              <a:rPr sz="2400" dirty="0">
                <a:latin typeface="Calibri"/>
                <a:cs typeface="Calibri"/>
              </a:rPr>
              <a:t>who</a:t>
            </a:r>
            <a:r>
              <a:rPr sz="2400" spc="-25" dirty="0">
                <a:latin typeface="Calibri"/>
                <a:cs typeface="Calibri"/>
              </a:rPr>
              <a:t> </a:t>
            </a:r>
            <a:r>
              <a:rPr sz="2400" spc="-5" dirty="0">
                <a:latin typeface="Calibri"/>
                <a:cs typeface="Calibri"/>
              </a:rPr>
              <a:t>use</a:t>
            </a:r>
            <a:r>
              <a:rPr sz="2400" dirty="0">
                <a:latin typeface="Calibri"/>
                <a:cs typeface="Calibri"/>
              </a:rPr>
              <a:t> them,</a:t>
            </a:r>
            <a:r>
              <a:rPr sz="2400" spc="-20" dirty="0">
                <a:latin typeface="Calibri"/>
                <a:cs typeface="Calibri"/>
              </a:rPr>
              <a:t> </a:t>
            </a:r>
            <a:r>
              <a:rPr sz="2400" dirty="0">
                <a:latin typeface="Calibri"/>
                <a:cs typeface="Calibri"/>
              </a:rPr>
              <a:t>and </a:t>
            </a:r>
            <a:r>
              <a:rPr sz="2400" spc="-530" dirty="0">
                <a:latin typeface="Calibri"/>
                <a:cs typeface="Calibri"/>
              </a:rPr>
              <a:t> </a:t>
            </a:r>
            <a:r>
              <a:rPr sz="2400" spc="-10" dirty="0">
                <a:latin typeface="Calibri"/>
                <a:cs typeface="Calibri"/>
              </a:rPr>
              <a:t>how</a:t>
            </a:r>
            <a:r>
              <a:rPr sz="2400" spc="-25" dirty="0">
                <a:latin typeface="Calibri"/>
                <a:cs typeface="Calibri"/>
              </a:rPr>
              <a:t> </a:t>
            </a:r>
            <a:r>
              <a:rPr sz="2400" spc="-5" dirty="0">
                <a:latin typeface="Calibri"/>
                <a:cs typeface="Calibri"/>
              </a:rPr>
              <a:t>databases</a:t>
            </a:r>
            <a:r>
              <a:rPr sz="2400" spc="-20" dirty="0">
                <a:latin typeface="Calibri"/>
                <a:cs typeface="Calibri"/>
              </a:rPr>
              <a:t> </a:t>
            </a:r>
            <a:r>
              <a:rPr sz="2400" spc="-15" dirty="0">
                <a:latin typeface="Calibri"/>
                <a:cs typeface="Calibri"/>
              </a:rPr>
              <a:t>evolved</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10" dirty="0">
                <a:latin typeface="Calibri"/>
                <a:cs typeface="Calibri"/>
              </a:rPr>
              <a:t>Important</a:t>
            </a:r>
            <a:r>
              <a:rPr sz="2400" spc="-45" dirty="0">
                <a:latin typeface="Calibri"/>
                <a:cs typeface="Calibri"/>
              </a:rPr>
              <a:t> </a:t>
            </a:r>
            <a:r>
              <a:rPr sz="2400" spc="-10" dirty="0">
                <a:latin typeface="Calibri"/>
                <a:cs typeface="Calibri"/>
              </a:rPr>
              <a:t>database</a:t>
            </a:r>
            <a:r>
              <a:rPr sz="2400" dirty="0">
                <a:latin typeface="Calibri"/>
                <a:cs typeface="Calibri"/>
              </a:rPr>
              <a:t> </a:t>
            </a:r>
            <a:r>
              <a:rPr sz="2400" spc="-10" dirty="0">
                <a:latin typeface="Calibri"/>
                <a:cs typeface="Calibri"/>
              </a:rPr>
              <a:t>concepts</a:t>
            </a:r>
            <a:r>
              <a:rPr sz="2400" spc="-25" dirty="0">
                <a:latin typeface="Calibri"/>
                <a:cs typeface="Calibri"/>
              </a:rPr>
              <a:t> </a:t>
            </a:r>
            <a:r>
              <a:rPr sz="2400" dirty="0">
                <a:latin typeface="Calibri"/>
                <a:cs typeface="Calibri"/>
              </a:rPr>
              <a:t>and</a:t>
            </a:r>
            <a:r>
              <a:rPr sz="2400" spc="-5" dirty="0">
                <a:latin typeface="Calibri"/>
                <a:cs typeface="Calibri"/>
              </a:rPr>
              <a:t> vocabulary</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0" dirty="0">
                <a:latin typeface="Calibri"/>
                <a:cs typeface="Calibri"/>
              </a:rPr>
              <a:t>Database</a:t>
            </a:r>
            <a:r>
              <a:rPr sz="2400" spc="-45" dirty="0">
                <a:latin typeface="Calibri"/>
                <a:cs typeface="Calibri"/>
              </a:rPr>
              <a:t> </a:t>
            </a:r>
            <a:r>
              <a:rPr sz="2400" spc="-5" dirty="0">
                <a:latin typeface="Calibri"/>
                <a:cs typeface="Calibri"/>
              </a:rPr>
              <a:t>classifications</a:t>
            </a:r>
            <a:r>
              <a:rPr sz="2400" spc="-40" dirty="0">
                <a:latin typeface="Calibri"/>
                <a:cs typeface="Calibri"/>
              </a:rPr>
              <a:t> </a:t>
            </a:r>
            <a:r>
              <a:rPr sz="2400" dirty="0">
                <a:latin typeface="Calibri"/>
                <a:cs typeface="Calibri"/>
              </a:rPr>
              <a:t>and</a:t>
            </a:r>
            <a:r>
              <a:rPr sz="2400" spc="-20" dirty="0">
                <a:latin typeface="Calibri"/>
                <a:cs typeface="Calibri"/>
              </a:rPr>
              <a:t> </a:t>
            </a:r>
            <a:r>
              <a:rPr sz="2400" dirty="0">
                <a:latin typeface="Calibri"/>
                <a:cs typeface="Calibri"/>
              </a:rPr>
              <a:t>models</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5" dirty="0">
                <a:latin typeface="Calibri"/>
                <a:cs typeface="Calibri"/>
              </a:rPr>
              <a:t>The</a:t>
            </a:r>
            <a:r>
              <a:rPr sz="2400" spc="-10" dirty="0">
                <a:latin typeface="Calibri"/>
                <a:cs typeface="Calibri"/>
              </a:rPr>
              <a:t> relational</a:t>
            </a:r>
            <a:r>
              <a:rPr sz="2400" spc="-30" dirty="0">
                <a:latin typeface="Calibri"/>
                <a:cs typeface="Calibri"/>
              </a:rPr>
              <a:t> </a:t>
            </a:r>
            <a:r>
              <a:rPr sz="2400" spc="-10" dirty="0">
                <a:latin typeface="Calibri"/>
                <a:cs typeface="Calibri"/>
              </a:rPr>
              <a:t>database</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0" dirty="0">
                <a:latin typeface="Calibri"/>
                <a:cs typeface="Calibri"/>
              </a:rPr>
              <a:t>How</a:t>
            </a:r>
            <a:r>
              <a:rPr sz="2400" spc="-20" dirty="0">
                <a:latin typeface="Calibri"/>
                <a:cs typeface="Calibri"/>
              </a:rPr>
              <a:t> </a:t>
            </a:r>
            <a:r>
              <a:rPr sz="2400" spc="-10" dirty="0">
                <a:latin typeface="Calibri"/>
                <a:cs typeface="Calibri"/>
              </a:rPr>
              <a:t>databases</a:t>
            </a:r>
            <a:r>
              <a:rPr sz="2400" spc="-25" dirty="0">
                <a:latin typeface="Calibri"/>
                <a:cs typeface="Calibri"/>
              </a:rPr>
              <a:t> </a:t>
            </a:r>
            <a:r>
              <a:rPr sz="2400" spc="-15" dirty="0">
                <a:latin typeface="Calibri"/>
                <a:cs typeface="Calibri"/>
              </a:rPr>
              <a:t>are</a:t>
            </a:r>
            <a:r>
              <a:rPr sz="2400" spc="-5" dirty="0">
                <a:latin typeface="Calibri"/>
                <a:cs typeface="Calibri"/>
              </a:rPr>
              <a:t> used</a:t>
            </a:r>
            <a:r>
              <a:rPr sz="2400" spc="-10" dirty="0">
                <a:latin typeface="Calibri"/>
                <a:cs typeface="Calibri"/>
              </a:rPr>
              <a:t> </a:t>
            </a:r>
            <a:r>
              <a:rPr sz="2400" spc="-5" dirty="0">
                <a:latin typeface="Calibri"/>
                <a:cs typeface="Calibri"/>
              </a:rPr>
              <a:t>on</a:t>
            </a:r>
            <a:r>
              <a:rPr sz="2400" dirty="0">
                <a:latin typeface="Calibri"/>
                <a:cs typeface="Calibri"/>
              </a:rPr>
              <a:t> the</a:t>
            </a:r>
            <a:r>
              <a:rPr sz="2400" spc="-15" dirty="0">
                <a:latin typeface="Calibri"/>
                <a:cs typeface="Calibri"/>
              </a:rPr>
              <a:t> </a:t>
            </a:r>
            <a:r>
              <a:rPr sz="2400" spc="-30" dirty="0">
                <a:latin typeface="Calibri"/>
                <a:cs typeface="Calibri"/>
              </a:rPr>
              <a:t>Web</a:t>
            </a:r>
            <a:endParaRPr sz="24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337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35" dirty="0"/>
              <a:t> </a:t>
            </a:r>
            <a:r>
              <a:rPr sz="3600" spc="-5" dirty="0"/>
              <a:t>Is</a:t>
            </a:r>
            <a:r>
              <a:rPr sz="3600" spc="-35" dirty="0"/>
              <a:t> </a:t>
            </a:r>
            <a:r>
              <a:rPr sz="3600" dirty="0"/>
              <a:t>a</a:t>
            </a:r>
            <a:r>
              <a:rPr sz="3600" spc="-20" dirty="0"/>
              <a:t> </a:t>
            </a:r>
            <a:r>
              <a:rPr sz="3600" spc="-5" dirty="0"/>
              <a:t>Database?</a:t>
            </a:r>
            <a:endParaRPr sz="3600"/>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3</a:t>
            </a:fld>
            <a:endParaRPr dirty="0"/>
          </a:p>
        </p:txBody>
      </p:sp>
      <p:sp>
        <p:nvSpPr>
          <p:cNvPr id="3" name="object 3"/>
          <p:cNvSpPr txBox="1"/>
          <p:nvPr/>
        </p:nvSpPr>
        <p:spPr>
          <a:xfrm>
            <a:off x="535940" y="1461262"/>
            <a:ext cx="7854950" cy="4196080"/>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spc="-10" dirty="0">
                <a:latin typeface="Calibri"/>
                <a:cs typeface="Calibri"/>
              </a:rPr>
              <a:t>Database</a:t>
            </a:r>
            <a:endParaRPr sz="2400">
              <a:latin typeface="Calibri"/>
              <a:cs typeface="Calibri"/>
            </a:endParaRPr>
          </a:p>
          <a:p>
            <a:pPr marL="756285" marR="779780" lvl="1" indent="-287020">
              <a:lnSpc>
                <a:spcPct val="100000"/>
              </a:lnSpc>
              <a:spcBef>
                <a:spcPts val="575"/>
              </a:spcBef>
              <a:buFont typeface="Arial MT"/>
              <a:buChar char="–"/>
              <a:tabLst>
                <a:tab pos="756920" algn="l"/>
              </a:tabLst>
            </a:pPr>
            <a:r>
              <a:rPr sz="2400" dirty="0">
                <a:latin typeface="Calibri"/>
                <a:cs typeface="Calibri"/>
              </a:rPr>
              <a:t>A </a:t>
            </a:r>
            <a:r>
              <a:rPr sz="2400" spc="-10" dirty="0">
                <a:latin typeface="Calibri"/>
                <a:cs typeface="Calibri"/>
              </a:rPr>
              <a:t>collection </a:t>
            </a:r>
            <a:r>
              <a:rPr sz="2400" spc="-5" dirty="0">
                <a:latin typeface="Calibri"/>
                <a:cs typeface="Calibri"/>
              </a:rPr>
              <a:t>of </a:t>
            </a:r>
            <a:r>
              <a:rPr sz="2400" spc="-15" dirty="0">
                <a:latin typeface="Calibri"/>
                <a:cs typeface="Calibri"/>
              </a:rPr>
              <a:t>related data </a:t>
            </a:r>
            <a:r>
              <a:rPr sz="2400" spc="-20" dirty="0">
                <a:latin typeface="Calibri"/>
                <a:cs typeface="Calibri"/>
              </a:rPr>
              <a:t>stored </a:t>
            </a:r>
            <a:r>
              <a:rPr sz="2400" dirty="0">
                <a:latin typeface="Calibri"/>
                <a:cs typeface="Calibri"/>
              </a:rPr>
              <a:t>in a manner </a:t>
            </a:r>
            <a:r>
              <a:rPr sz="2400" spc="-10" dirty="0">
                <a:latin typeface="Calibri"/>
                <a:cs typeface="Calibri"/>
              </a:rPr>
              <a:t>that </a:t>
            </a:r>
            <a:r>
              <a:rPr sz="2400" spc="-530" dirty="0">
                <a:latin typeface="Calibri"/>
                <a:cs typeface="Calibri"/>
              </a:rPr>
              <a:t> </a:t>
            </a:r>
            <a:r>
              <a:rPr sz="2400" dirty="0">
                <a:latin typeface="Calibri"/>
                <a:cs typeface="Calibri"/>
              </a:rPr>
              <a:t>enables</a:t>
            </a:r>
            <a:r>
              <a:rPr sz="2400" spc="-15" dirty="0">
                <a:latin typeface="Calibri"/>
                <a:cs typeface="Calibri"/>
              </a:rPr>
              <a:t> </a:t>
            </a:r>
            <a:r>
              <a:rPr sz="2400" spc="-10" dirty="0">
                <a:latin typeface="Calibri"/>
                <a:cs typeface="Calibri"/>
              </a:rPr>
              <a:t>information</a:t>
            </a:r>
            <a:r>
              <a:rPr sz="2400" spc="-25" dirty="0">
                <a:latin typeface="Calibri"/>
                <a:cs typeface="Calibri"/>
              </a:rPr>
              <a:t> </a:t>
            </a:r>
            <a:r>
              <a:rPr sz="2400" spc="-15" dirty="0">
                <a:latin typeface="Calibri"/>
                <a:cs typeface="Calibri"/>
              </a:rPr>
              <a:t>to</a:t>
            </a:r>
            <a:r>
              <a:rPr sz="2400" spc="-20" dirty="0">
                <a:latin typeface="Calibri"/>
                <a:cs typeface="Calibri"/>
              </a:rPr>
              <a:t> </a:t>
            </a:r>
            <a:r>
              <a:rPr sz="2400" spc="-5" dirty="0">
                <a:latin typeface="Calibri"/>
                <a:cs typeface="Calibri"/>
              </a:rPr>
              <a:t>be</a:t>
            </a:r>
            <a:r>
              <a:rPr sz="2400" spc="-10" dirty="0">
                <a:latin typeface="Calibri"/>
                <a:cs typeface="Calibri"/>
              </a:rPr>
              <a:t> retrieved</a:t>
            </a:r>
            <a:r>
              <a:rPr sz="2400" dirty="0">
                <a:latin typeface="Calibri"/>
                <a:cs typeface="Calibri"/>
              </a:rPr>
              <a:t> as</a:t>
            </a:r>
            <a:r>
              <a:rPr sz="2400" spc="-5" dirty="0">
                <a:latin typeface="Calibri"/>
                <a:cs typeface="Calibri"/>
              </a:rPr>
              <a:t> needed</a:t>
            </a:r>
            <a:endParaRPr sz="2400">
              <a:latin typeface="Calibri"/>
              <a:cs typeface="Calibri"/>
            </a:endParaRPr>
          </a:p>
          <a:p>
            <a:pPr marL="355600" indent="-343535">
              <a:lnSpc>
                <a:spcPct val="100000"/>
              </a:lnSpc>
              <a:spcBef>
                <a:spcPts val="580"/>
              </a:spcBef>
              <a:buFont typeface="Arial MT"/>
              <a:buChar char="•"/>
              <a:tabLst>
                <a:tab pos="355600" algn="l"/>
                <a:tab pos="356235" algn="l"/>
              </a:tabLst>
            </a:pPr>
            <a:r>
              <a:rPr sz="2400" spc="-10" dirty="0">
                <a:latin typeface="Calibri"/>
                <a:cs typeface="Calibri"/>
              </a:rPr>
              <a:t>Database</a:t>
            </a:r>
            <a:r>
              <a:rPr sz="2400" spc="-35" dirty="0">
                <a:latin typeface="Calibri"/>
                <a:cs typeface="Calibri"/>
              </a:rPr>
              <a:t> </a:t>
            </a:r>
            <a:r>
              <a:rPr sz="2400" spc="-5" dirty="0">
                <a:latin typeface="Calibri"/>
                <a:cs typeface="Calibri"/>
              </a:rPr>
              <a:t>Management</a:t>
            </a:r>
            <a:r>
              <a:rPr sz="2400" spc="-20" dirty="0">
                <a:latin typeface="Calibri"/>
                <a:cs typeface="Calibri"/>
              </a:rPr>
              <a:t> System</a:t>
            </a:r>
            <a:r>
              <a:rPr sz="2400" spc="-40" dirty="0">
                <a:latin typeface="Calibri"/>
                <a:cs typeface="Calibri"/>
              </a:rPr>
              <a:t> </a:t>
            </a:r>
            <a:r>
              <a:rPr sz="2400" spc="-5" dirty="0">
                <a:latin typeface="Calibri"/>
                <a:cs typeface="Calibri"/>
              </a:rPr>
              <a:t>(DBMS)</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5" dirty="0">
                <a:latin typeface="Calibri"/>
                <a:cs typeface="Calibri"/>
              </a:rPr>
              <a:t>Used</a:t>
            </a:r>
            <a:r>
              <a:rPr sz="2400" spc="-15" dirty="0">
                <a:latin typeface="Calibri"/>
                <a:cs typeface="Calibri"/>
              </a:rPr>
              <a:t> to</a:t>
            </a:r>
            <a:r>
              <a:rPr sz="2400" spc="-10" dirty="0">
                <a:latin typeface="Calibri"/>
                <a:cs typeface="Calibri"/>
              </a:rPr>
              <a:t> </a:t>
            </a:r>
            <a:r>
              <a:rPr sz="2400" spc="-15" dirty="0">
                <a:latin typeface="Calibri"/>
                <a:cs typeface="Calibri"/>
              </a:rPr>
              <a:t>create, </a:t>
            </a:r>
            <a:r>
              <a:rPr sz="2400" spc="-5" dirty="0">
                <a:latin typeface="Calibri"/>
                <a:cs typeface="Calibri"/>
              </a:rPr>
              <a:t>maintain,</a:t>
            </a:r>
            <a:r>
              <a:rPr sz="2400" spc="-30" dirty="0">
                <a:latin typeface="Calibri"/>
                <a:cs typeface="Calibri"/>
              </a:rPr>
              <a:t> </a:t>
            </a:r>
            <a:r>
              <a:rPr sz="2400" dirty="0">
                <a:latin typeface="Calibri"/>
                <a:cs typeface="Calibri"/>
              </a:rPr>
              <a:t>and</a:t>
            </a:r>
            <a:r>
              <a:rPr sz="2400" spc="-5" dirty="0">
                <a:latin typeface="Calibri"/>
                <a:cs typeface="Calibri"/>
              </a:rPr>
              <a:t> </a:t>
            </a:r>
            <a:r>
              <a:rPr sz="2400" dirty="0">
                <a:latin typeface="Calibri"/>
                <a:cs typeface="Calibri"/>
              </a:rPr>
              <a:t>access</a:t>
            </a:r>
            <a:r>
              <a:rPr sz="2400" spc="-25" dirty="0">
                <a:latin typeface="Calibri"/>
                <a:cs typeface="Calibri"/>
              </a:rPr>
              <a:t> </a:t>
            </a:r>
            <a:r>
              <a:rPr sz="2400" spc="-10" dirty="0">
                <a:latin typeface="Calibri"/>
                <a:cs typeface="Calibri"/>
              </a:rPr>
              <a:t>databases</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10" dirty="0">
                <a:latin typeface="Calibri"/>
                <a:cs typeface="Calibri"/>
              </a:rPr>
              <a:t>Database</a:t>
            </a:r>
            <a:r>
              <a:rPr sz="2400" spc="-55" dirty="0">
                <a:latin typeface="Calibri"/>
                <a:cs typeface="Calibri"/>
              </a:rPr>
              <a:t> </a:t>
            </a:r>
            <a:r>
              <a:rPr sz="2400" dirty="0">
                <a:latin typeface="Calibri"/>
                <a:cs typeface="Calibri"/>
              </a:rPr>
              <a:t>engine</a:t>
            </a:r>
            <a:endParaRPr sz="2400">
              <a:latin typeface="Calibri"/>
              <a:cs typeface="Calibri"/>
            </a:endParaRPr>
          </a:p>
          <a:p>
            <a:pPr marL="1155700" marR="769620" lvl="2" indent="-228600">
              <a:lnSpc>
                <a:spcPct val="100000"/>
              </a:lnSpc>
              <a:spcBef>
                <a:spcPts val="575"/>
              </a:spcBef>
              <a:buFont typeface="Arial MT"/>
              <a:buChar char="•"/>
              <a:tabLst>
                <a:tab pos="1156335" algn="l"/>
              </a:tabLst>
            </a:pPr>
            <a:r>
              <a:rPr sz="2400" spc="-5" dirty="0">
                <a:latin typeface="Calibri"/>
                <a:cs typeface="Calibri"/>
              </a:rPr>
              <a:t>The</a:t>
            </a:r>
            <a:r>
              <a:rPr sz="2400" spc="-15" dirty="0">
                <a:latin typeface="Calibri"/>
                <a:cs typeface="Calibri"/>
              </a:rPr>
              <a:t> </a:t>
            </a:r>
            <a:r>
              <a:rPr sz="2400" spc="-5" dirty="0">
                <a:latin typeface="Calibri"/>
                <a:cs typeface="Calibri"/>
              </a:rPr>
              <a:t>part</a:t>
            </a:r>
            <a:r>
              <a:rPr sz="2400" spc="-20" dirty="0">
                <a:latin typeface="Calibri"/>
                <a:cs typeface="Calibri"/>
              </a:rPr>
              <a:t> </a:t>
            </a:r>
            <a:r>
              <a:rPr sz="2400" spc="-5" dirty="0">
                <a:latin typeface="Calibri"/>
                <a:cs typeface="Calibri"/>
              </a:rPr>
              <a:t>of</a:t>
            </a:r>
            <a:r>
              <a:rPr sz="2400" spc="-10" dirty="0">
                <a:latin typeface="Calibri"/>
                <a:cs typeface="Calibri"/>
              </a:rPr>
              <a:t> </a:t>
            </a:r>
            <a:r>
              <a:rPr sz="2400" dirty="0">
                <a:latin typeface="Calibri"/>
                <a:cs typeface="Calibri"/>
              </a:rPr>
              <a:t>the</a:t>
            </a:r>
            <a:r>
              <a:rPr sz="2400" spc="-15" dirty="0">
                <a:latin typeface="Calibri"/>
                <a:cs typeface="Calibri"/>
              </a:rPr>
              <a:t> program </a:t>
            </a:r>
            <a:r>
              <a:rPr sz="2400" spc="-10" dirty="0">
                <a:latin typeface="Calibri"/>
                <a:cs typeface="Calibri"/>
              </a:rPr>
              <a:t>that</a:t>
            </a:r>
            <a:r>
              <a:rPr sz="2400" spc="-20" dirty="0">
                <a:latin typeface="Calibri"/>
                <a:cs typeface="Calibri"/>
              </a:rPr>
              <a:t> </a:t>
            </a:r>
            <a:r>
              <a:rPr sz="2400" dirty="0">
                <a:latin typeface="Calibri"/>
                <a:cs typeface="Calibri"/>
              </a:rPr>
              <a:t>actually</a:t>
            </a:r>
            <a:r>
              <a:rPr sz="2400" spc="-30" dirty="0">
                <a:latin typeface="Calibri"/>
                <a:cs typeface="Calibri"/>
              </a:rPr>
              <a:t> </a:t>
            </a:r>
            <a:r>
              <a:rPr sz="2400" spc="-20" dirty="0">
                <a:latin typeface="Calibri"/>
                <a:cs typeface="Calibri"/>
              </a:rPr>
              <a:t>stores</a:t>
            </a:r>
            <a:r>
              <a:rPr sz="2400" spc="-5" dirty="0">
                <a:latin typeface="Calibri"/>
                <a:cs typeface="Calibri"/>
              </a:rPr>
              <a:t> </a:t>
            </a:r>
            <a:r>
              <a:rPr sz="2400" dirty="0">
                <a:latin typeface="Calibri"/>
                <a:cs typeface="Calibri"/>
              </a:rPr>
              <a:t>and </a:t>
            </a:r>
            <a:r>
              <a:rPr sz="2400" spc="-530" dirty="0">
                <a:latin typeface="Calibri"/>
                <a:cs typeface="Calibri"/>
              </a:rPr>
              <a:t> </a:t>
            </a:r>
            <a:r>
              <a:rPr sz="2400" spc="-10" dirty="0">
                <a:latin typeface="Calibri"/>
                <a:cs typeface="Calibri"/>
              </a:rPr>
              <a:t>retrieves</a:t>
            </a:r>
            <a:r>
              <a:rPr sz="2400" spc="-20" dirty="0">
                <a:latin typeface="Calibri"/>
                <a:cs typeface="Calibri"/>
              </a:rPr>
              <a:t> </a:t>
            </a:r>
            <a:r>
              <a:rPr sz="2400" spc="-15" dirty="0">
                <a:latin typeface="Calibri"/>
                <a:cs typeface="Calibri"/>
              </a:rPr>
              <a:t>data</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10" dirty="0">
                <a:latin typeface="Calibri"/>
                <a:cs typeface="Calibri"/>
              </a:rPr>
              <a:t>Microsoft</a:t>
            </a:r>
            <a:r>
              <a:rPr sz="2400" spc="-35" dirty="0">
                <a:latin typeface="Calibri"/>
                <a:cs typeface="Calibri"/>
              </a:rPr>
              <a:t> </a:t>
            </a:r>
            <a:r>
              <a:rPr sz="2400" dirty="0">
                <a:latin typeface="Calibri"/>
                <a:cs typeface="Calibri"/>
              </a:rPr>
              <a:t>Access,</a:t>
            </a:r>
            <a:r>
              <a:rPr sz="2400" spc="-20" dirty="0">
                <a:latin typeface="Calibri"/>
                <a:cs typeface="Calibri"/>
              </a:rPr>
              <a:t> </a:t>
            </a:r>
            <a:r>
              <a:rPr sz="2400" spc="-5" dirty="0">
                <a:latin typeface="Calibri"/>
                <a:cs typeface="Calibri"/>
              </a:rPr>
              <a:t>OpenOffice</a:t>
            </a:r>
            <a:r>
              <a:rPr sz="2400" dirty="0">
                <a:latin typeface="Calibri"/>
                <a:cs typeface="Calibri"/>
              </a:rPr>
              <a:t> Base, </a:t>
            </a:r>
            <a:r>
              <a:rPr sz="2400" spc="-10" dirty="0">
                <a:latin typeface="Calibri"/>
                <a:cs typeface="Calibri"/>
              </a:rPr>
              <a:t>Corel </a:t>
            </a:r>
            <a:r>
              <a:rPr sz="2400" spc="-25" dirty="0">
                <a:latin typeface="Calibri"/>
                <a:cs typeface="Calibri"/>
              </a:rPr>
              <a:t>Paradox,</a:t>
            </a:r>
            <a:r>
              <a:rPr sz="2400" spc="-15" dirty="0">
                <a:latin typeface="Calibri"/>
                <a:cs typeface="Calibri"/>
              </a:rPr>
              <a:t> </a:t>
            </a:r>
            <a:r>
              <a:rPr sz="2400" spc="-10" dirty="0">
                <a:latin typeface="Calibri"/>
                <a:cs typeface="Calibri"/>
              </a:rPr>
              <a:t>Oracle</a:t>
            </a:r>
            <a:endParaRPr sz="2400">
              <a:latin typeface="Calibri"/>
              <a:cs typeface="Calibri"/>
            </a:endParaRPr>
          </a:p>
          <a:p>
            <a:pPr marL="756285">
              <a:lnSpc>
                <a:spcPct val="100000"/>
              </a:lnSpc>
            </a:pPr>
            <a:r>
              <a:rPr sz="2400" spc="-10" dirty="0">
                <a:latin typeface="Calibri"/>
                <a:cs typeface="Calibri"/>
              </a:rPr>
              <a:t>Database,</a:t>
            </a:r>
            <a:r>
              <a:rPr sz="2400" spc="-50" dirty="0">
                <a:latin typeface="Calibri"/>
                <a:cs typeface="Calibri"/>
              </a:rPr>
              <a:t> </a:t>
            </a:r>
            <a:r>
              <a:rPr sz="2400" spc="-10" dirty="0">
                <a:latin typeface="Calibri"/>
                <a:cs typeface="Calibri"/>
              </a:rPr>
              <a:t>etc.</a:t>
            </a:r>
            <a:endParaRPr sz="24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337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35" dirty="0"/>
              <a:t> </a:t>
            </a:r>
            <a:r>
              <a:rPr sz="3600" spc="-5" dirty="0"/>
              <a:t>Is</a:t>
            </a:r>
            <a:r>
              <a:rPr sz="3600" spc="-35" dirty="0"/>
              <a:t> </a:t>
            </a:r>
            <a:r>
              <a:rPr sz="3600" dirty="0"/>
              <a:t>a</a:t>
            </a:r>
            <a:r>
              <a:rPr sz="3600" spc="-20" dirty="0"/>
              <a:t> </a:t>
            </a:r>
            <a:r>
              <a:rPr sz="3600" spc="-5" dirty="0"/>
              <a:t>Database?</a:t>
            </a:r>
            <a:endParaRPr sz="3600"/>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4</a:t>
            </a:fld>
            <a:endParaRPr dirty="0"/>
          </a:p>
        </p:txBody>
      </p:sp>
      <p:sp>
        <p:nvSpPr>
          <p:cNvPr id="3" name="object 3"/>
          <p:cNvSpPr txBox="1"/>
          <p:nvPr/>
        </p:nvSpPr>
        <p:spPr>
          <a:xfrm>
            <a:off x="535940" y="1461262"/>
            <a:ext cx="7769859" cy="3830954"/>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dirty="0">
                <a:latin typeface="Calibri"/>
                <a:cs typeface="Calibri"/>
              </a:rPr>
              <a:t>A</a:t>
            </a:r>
            <a:r>
              <a:rPr sz="2400" spc="-35" dirty="0">
                <a:latin typeface="Calibri"/>
                <a:cs typeface="Calibri"/>
              </a:rPr>
              <a:t> </a:t>
            </a:r>
            <a:r>
              <a:rPr sz="2400" spc="-10" dirty="0">
                <a:latin typeface="Calibri"/>
                <a:cs typeface="Calibri"/>
              </a:rPr>
              <a:t>database</a:t>
            </a:r>
            <a:r>
              <a:rPr sz="2400" spc="-5" dirty="0">
                <a:latin typeface="Calibri"/>
                <a:cs typeface="Calibri"/>
              </a:rPr>
              <a:t> typically</a:t>
            </a:r>
            <a:r>
              <a:rPr sz="2400" spc="-35" dirty="0">
                <a:latin typeface="Calibri"/>
                <a:cs typeface="Calibri"/>
              </a:rPr>
              <a:t> </a:t>
            </a:r>
            <a:r>
              <a:rPr sz="2400" spc="-10" dirty="0">
                <a:latin typeface="Calibri"/>
                <a:cs typeface="Calibri"/>
              </a:rPr>
              <a:t>consists</a:t>
            </a:r>
            <a:r>
              <a:rPr sz="2400" spc="-25" dirty="0">
                <a:latin typeface="Calibri"/>
                <a:cs typeface="Calibri"/>
              </a:rPr>
              <a:t> </a:t>
            </a:r>
            <a:r>
              <a:rPr sz="2400" spc="-5" dirty="0">
                <a:latin typeface="Calibri"/>
                <a:cs typeface="Calibri"/>
              </a:rPr>
              <a:t>of:</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35" dirty="0">
                <a:latin typeface="Calibri"/>
                <a:cs typeface="Calibri"/>
              </a:rPr>
              <a:t>Tables</a:t>
            </a:r>
            <a:endParaRPr sz="2400">
              <a:latin typeface="Calibri"/>
              <a:cs typeface="Calibri"/>
            </a:endParaRPr>
          </a:p>
          <a:p>
            <a:pPr marL="1155700" lvl="2" indent="-229235">
              <a:lnSpc>
                <a:spcPct val="100000"/>
              </a:lnSpc>
              <a:spcBef>
                <a:spcPts val="580"/>
              </a:spcBef>
              <a:buFont typeface="Arial MT"/>
              <a:buChar char="•"/>
              <a:tabLst>
                <a:tab pos="1156335" algn="l"/>
              </a:tabLst>
            </a:pPr>
            <a:r>
              <a:rPr sz="2400" spc="-5" dirty="0">
                <a:latin typeface="Calibri"/>
                <a:cs typeface="Calibri"/>
              </a:rPr>
              <a:t>Collection</a:t>
            </a:r>
            <a:r>
              <a:rPr sz="2400" spc="-50" dirty="0">
                <a:latin typeface="Calibri"/>
                <a:cs typeface="Calibri"/>
              </a:rPr>
              <a:t> </a:t>
            </a:r>
            <a:r>
              <a:rPr sz="2400" spc="-5" dirty="0">
                <a:latin typeface="Calibri"/>
                <a:cs typeface="Calibri"/>
              </a:rPr>
              <a:t>of</a:t>
            </a:r>
            <a:r>
              <a:rPr sz="2400" spc="-10" dirty="0">
                <a:latin typeface="Calibri"/>
                <a:cs typeface="Calibri"/>
              </a:rPr>
              <a:t> </a:t>
            </a:r>
            <a:r>
              <a:rPr sz="2400" spc="-15" dirty="0">
                <a:latin typeface="Calibri"/>
                <a:cs typeface="Calibri"/>
              </a:rPr>
              <a:t>related</a:t>
            </a:r>
            <a:r>
              <a:rPr sz="2400" spc="-10" dirty="0">
                <a:latin typeface="Calibri"/>
                <a:cs typeface="Calibri"/>
              </a:rPr>
              <a:t> </a:t>
            </a:r>
            <a:r>
              <a:rPr sz="2400" spc="-20" dirty="0">
                <a:latin typeface="Calibri"/>
                <a:cs typeface="Calibri"/>
              </a:rPr>
              <a:t>records</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5" dirty="0">
                <a:latin typeface="Calibri"/>
                <a:cs typeface="Calibri"/>
              </a:rPr>
              <a:t>Fields</a:t>
            </a:r>
            <a:r>
              <a:rPr sz="2400" spc="-50" dirty="0">
                <a:latin typeface="Calibri"/>
                <a:cs typeface="Calibri"/>
              </a:rPr>
              <a:t> </a:t>
            </a:r>
            <a:r>
              <a:rPr sz="2400" spc="-10" dirty="0">
                <a:latin typeface="Calibri"/>
                <a:cs typeface="Calibri"/>
              </a:rPr>
              <a:t>(columns)</a:t>
            </a:r>
            <a:endParaRPr sz="2400">
              <a:latin typeface="Calibri"/>
              <a:cs typeface="Calibri"/>
            </a:endParaRPr>
          </a:p>
          <a:p>
            <a:pPr marL="1155700" marR="528320" lvl="2" indent="-228600">
              <a:lnSpc>
                <a:spcPct val="100000"/>
              </a:lnSpc>
              <a:spcBef>
                <a:spcPts val="575"/>
              </a:spcBef>
              <a:buFont typeface="Arial MT"/>
              <a:buChar char="•"/>
              <a:tabLst>
                <a:tab pos="1156335" algn="l"/>
              </a:tabLst>
            </a:pPr>
            <a:r>
              <a:rPr sz="2400" spc="-5" dirty="0">
                <a:latin typeface="Calibri"/>
                <a:cs typeface="Calibri"/>
              </a:rPr>
              <a:t>Single </a:t>
            </a:r>
            <a:r>
              <a:rPr sz="2400" spc="-10" dirty="0">
                <a:latin typeface="Calibri"/>
                <a:cs typeface="Calibri"/>
              </a:rPr>
              <a:t>category </a:t>
            </a:r>
            <a:r>
              <a:rPr sz="2400" spc="-5" dirty="0">
                <a:latin typeface="Calibri"/>
                <a:cs typeface="Calibri"/>
              </a:rPr>
              <a:t>of </a:t>
            </a:r>
            <a:r>
              <a:rPr sz="2400" spc="-15" dirty="0">
                <a:latin typeface="Calibri"/>
                <a:cs typeface="Calibri"/>
              </a:rPr>
              <a:t>data to </a:t>
            </a:r>
            <a:r>
              <a:rPr sz="2400" spc="-5" dirty="0">
                <a:latin typeface="Calibri"/>
                <a:cs typeface="Calibri"/>
              </a:rPr>
              <a:t>be </a:t>
            </a:r>
            <a:r>
              <a:rPr sz="2400" spc="-20" dirty="0">
                <a:latin typeface="Calibri"/>
                <a:cs typeface="Calibri"/>
              </a:rPr>
              <a:t>stored </a:t>
            </a:r>
            <a:r>
              <a:rPr sz="2400" dirty="0">
                <a:latin typeface="Calibri"/>
                <a:cs typeface="Calibri"/>
              </a:rPr>
              <a:t>in a </a:t>
            </a:r>
            <a:r>
              <a:rPr sz="2400" spc="-10" dirty="0">
                <a:latin typeface="Calibri"/>
                <a:cs typeface="Calibri"/>
              </a:rPr>
              <a:t>database </a:t>
            </a:r>
            <a:r>
              <a:rPr sz="2400" spc="-530" dirty="0">
                <a:latin typeface="Calibri"/>
                <a:cs typeface="Calibri"/>
              </a:rPr>
              <a:t> </a:t>
            </a:r>
            <a:r>
              <a:rPr sz="2400" spc="-5" dirty="0">
                <a:latin typeface="Calibri"/>
                <a:cs typeface="Calibri"/>
              </a:rPr>
              <a:t>(name,</a:t>
            </a:r>
            <a:r>
              <a:rPr sz="2400" spc="-30" dirty="0">
                <a:latin typeface="Calibri"/>
                <a:cs typeface="Calibri"/>
              </a:rPr>
              <a:t> </a:t>
            </a:r>
            <a:r>
              <a:rPr sz="2400" spc="-5" dirty="0">
                <a:latin typeface="Calibri"/>
                <a:cs typeface="Calibri"/>
              </a:rPr>
              <a:t>telephone</a:t>
            </a:r>
            <a:r>
              <a:rPr sz="2400" dirty="0">
                <a:latin typeface="Calibri"/>
                <a:cs typeface="Calibri"/>
              </a:rPr>
              <a:t> </a:t>
            </a:r>
            <a:r>
              <a:rPr sz="2400" spc="-35" dirty="0">
                <a:latin typeface="Calibri"/>
                <a:cs typeface="Calibri"/>
              </a:rPr>
              <a:t>number,</a:t>
            </a:r>
            <a:r>
              <a:rPr sz="2400" spc="-15" dirty="0">
                <a:latin typeface="Calibri"/>
                <a:cs typeface="Calibri"/>
              </a:rPr>
              <a:t> </a:t>
            </a:r>
            <a:r>
              <a:rPr sz="2400" spc="-10" dirty="0">
                <a:latin typeface="Calibri"/>
                <a:cs typeface="Calibri"/>
              </a:rPr>
              <a:t>etc.)</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15" dirty="0">
                <a:latin typeface="Calibri"/>
                <a:cs typeface="Calibri"/>
              </a:rPr>
              <a:t>Records</a:t>
            </a:r>
            <a:r>
              <a:rPr sz="2400" spc="-75" dirty="0">
                <a:latin typeface="Calibri"/>
                <a:cs typeface="Calibri"/>
              </a:rPr>
              <a:t> </a:t>
            </a:r>
            <a:r>
              <a:rPr sz="2400" spc="-15" dirty="0">
                <a:latin typeface="Calibri"/>
                <a:cs typeface="Calibri"/>
              </a:rPr>
              <a:t>(rows)</a:t>
            </a:r>
            <a:endParaRPr sz="2400">
              <a:latin typeface="Calibri"/>
              <a:cs typeface="Calibri"/>
            </a:endParaRPr>
          </a:p>
          <a:p>
            <a:pPr marL="1155700" marR="5080" lvl="2" indent="-228600">
              <a:lnSpc>
                <a:spcPct val="100000"/>
              </a:lnSpc>
              <a:spcBef>
                <a:spcPts val="575"/>
              </a:spcBef>
              <a:buFont typeface="Arial MT"/>
              <a:buChar char="•"/>
              <a:tabLst>
                <a:tab pos="1156335" algn="l"/>
              </a:tabLst>
            </a:pPr>
            <a:r>
              <a:rPr sz="2400" spc="-5" dirty="0">
                <a:latin typeface="Calibri"/>
                <a:cs typeface="Calibri"/>
              </a:rPr>
              <a:t>Collection of </a:t>
            </a:r>
            <a:r>
              <a:rPr sz="2400" spc="-15" dirty="0">
                <a:latin typeface="Calibri"/>
                <a:cs typeface="Calibri"/>
              </a:rPr>
              <a:t>related </a:t>
            </a:r>
            <a:r>
              <a:rPr sz="2400" spc="-5" dirty="0">
                <a:latin typeface="Calibri"/>
                <a:cs typeface="Calibri"/>
              </a:rPr>
              <a:t>fields </a:t>
            </a:r>
            <a:r>
              <a:rPr sz="2400" dirty="0">
                <a:latin typeface="Calibri"/>
                <a:cs typeface="Calibri"/>
              </a:rPr>
              <a:t>in a </a:t>
            </a:r>
            <a:r>
              <a:rPr sz="2400" spc="-10" dirty="0">
                <a:latin typeface="Calibri"/>
                <a:cs typeface="Calibri"/>
              </a:rPr>
              <a:t>database </a:t>
            </a:r>
            <a:r>
              <a:rPr sz="2400" spc="-5" dirty="0">
                <a:latin typeface="Calibri"/>
                <a:cs typeface="Calibri"/>
              </a:rPr>
              <a:t>(all </a:t>
            </a:r>
            <a:r>
              <a:rPr sz="2400" dirty="0">
                <a:latin typeface="Calibri"/>
                <a:cs typeface="Calibri"/>
              </a:rPr>
              <a:t>the </a:t>
            </a:r>
            <a:r>
              <a:rPr sz="2400" spc="-5" dirty="0">
                <a:latin typeface="Calibri"/>
                <a:cs typeface="Calibri"/>
              </a:rPr>
              <a:t>fields </a:t>
            </a:r>
            <a:r>
              <a:rPr sz="2400" spc="-530" dirty="0">
                <a:latin typeface="Calibri"/>
                <a:cs typeface="Calibri"/>
              </a:rPr>
              <a:t> </a:t>
            </a:r>
            <a:r>
              <a:rPr sz="2400" spc="-20" dirty="0">
                <a:latin typeface="Calibri"/>
                <a:cs typeface="Calibri"/>
              </a:rPr>
              <a:t>for</a:t>
            </a:r>
            <a:r>
              <a:rPr sz="2400" spc="-30" dirty="0">
                <a:latin typeface="Calibri"/>
                <a:cs typeface="Calibri"/>
              </a:rPr>
              <a:t> </a:t>
            </a:r>
            <a:r>
              <a:rPr sz="2400" spc="-5" dirty="0">
                <a:latin typeface="Calibri"/>
                <a:cs typeface="Calibri"/>
              </a:rPr>
              <a:t>one</a:t>
            </a:r>
            <a:r>
              <a:rPr sz="2400" dirty="0">
                <a:latin typeface="Calibri"/>
                <a:cs typeface="Calibri"/>
              </a:rPr>
              <a:t> </a:t>
            </a:r>
            <a:r>
              <a:rPr sz="2400" spc="-30" dirty="0">
                <a:latin typeface="Calibri"/>
                <a:cs typeface="Calibri"/>
              </a:rPr>
              <a:t>customer,</a:t>
            </a:r>
            <a:r>
              <a:rPr sz="2400" spc="-25" dirty="0">
                <a:latin typeface="Calibri"/>
                <a:cs typeface="Calibri"/>
              </a:rPr>
              <a:t> </a:t>
            </a:r>
            <a:r>
              <a:rPr sz="2400" spc="-20" dirty="0">
                <a:latin typeface="Calibri"/>
                <a:cs typeface="Calibri"/>
              </a:rPr>
              <a:t>for</a:t>
            </a:r>
            <a:r>
              <a:rPr sz="2400" spc="-15" dirty="0">
                <a:latin typeface="Calibri"/>
                <a:cs typeface="Calibri"/>
              </a:rPr>
              <a:t> </a:t>
            </a:r>
            <a:r>
              <a:rPr sz="2400" spc="-10" dirty="0">
                <a:latin typeface="Calibri"/>
                <a:cs typeface="Calibri"/>
              </a:rPr>
              <a:t>example)</a:t>
            </a:r>
            <a:endParaRPr sz="24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337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35" dirty="0"/>
              <a:t> </a:t>
            </a:r>
            <a:r>
              <a:rPr sz="3600" spc="-5" dirty="0"/>
              <a:t>Is</a:t>
            </a:r>
            <a:r>
              <a:rPr sz="3600" spc="-35" dirty="0"/>
              <a:t> </a:t>
            </a:r>
            <a:r>
              <a:rPr sz="3600" dirty="0"/>
              <a:t>a</a:t>
            </a:r>
            <a:r>
              <a:rPr sz="3600" spc="-20" dirty="0"/>
              <a:t> </a:t>
            </a:r>
            <a:r>
              <a:rPr sz="3600" spc="-5" dirty="0"/>
              <a:t>Database?</a:t>
            </a:r>
            <a:endParaRPr sz="3600"/>
          </a:p>
        </p:txBody>
      </p:sp>
      <p:sp>
        <p:nvSpPr>
          <p:cNvPr id="3" name="object 3"/>
          <p:cNvSpPr txBox="1"/>
          <p:nvPr/>
        </p:nvSpPr>
        <p:spPr>
          <a:xfrm>
            <a:off x="535940" y="1534414"/>
            <a:ext cx="5082540" cy="391160"/>
          </a:xfrm>
          <a:prstGeom prst="rect">
            <a:avLst/>
          </a:prstGeom>
        </p:spPr>
        <p:txBody>
          <a:bodyPr vert="horz" wrap="square" lIns="0" tIns="12700" rIns="0" bIns="0" rtlCol="0">
            <a:spAutoFit/>
          </a:bodyPr>
          <a:lstStyle/>
          <a:p>
            <a:pPr marL="355600" indent="-343535">
              <a:lnSpc>
                <a:spcPct val="100000"/>
              </a:lnSpc>
              <a:spcBef>
                <a:spcPts val="100"/>
              </a:spcBef>
              <a:buFont typeface="Arial MT"/>
              <a:buChar char="•"/>
              <a:tabLst>
                <a:tab pos="355600" algn="l"/>
                <a:tab pos="356235" algn="l"/>
              </a:tabLst>
            </a:pPr>
            <a:r>
              <a:rPr sz="2400" dirty="0">
                <a:latin typeface="Calibri"/>
                <a:cs typeface="Calibri"/>
              </a:rPr>
              <a:t>A</a:t>
            </a:r>
            <a:r>
              <a:rPr sz="2400" spc="-25" dirty="0">
                <a:latin typeface="Calibri"/>
                <a:cs typeface="Calibri"/>
              </a:rPr>
              <a:t> </a:t>
            </a:r>
            <a:r>
              <a:rPr sz="2400" spc="-5" dirty="0">
                <a:latin typeface="Calibri"/>
                <a:cs typeface="Calibri"/>
              </a:rPr>
              <a:t>Simple</a:t>
            </a:r>
            <a:r>
              <a:rPr sz="2400" spc="-10" dirty="0">
                <a:latin typeface="Calibri"/>
                <a:cs typeface="Calibri"/>
              </a:rPr>
              <a:t> Relational</a:t>
            </a:r>
            <a:r>
              <a:rPr sz="2400" spc="-30" dirty="0">
                <a:latin typeface="Calibri"/>
                <a:cs typeface="Calibri"/>
              </a:rPr>
              <a:t> </a:t>
            </a:r>
            <a:r>
              <a:rPr sz="2400" spc="-10" dirty="0">
                <a:latin typeface="Calibri"/>
                <a:cs typeface="Calibri"/>
              </a:rPr>
              <a:t>Database Example</a:t>
            </a:r>
            <a:endParaRPr sz="2400">
              <a:latin typeface="Calibri"/>
              <a:cs typeface="Calibri"/>
            </a:endParaRPr>
          </a:p>
        </p:txBody>
      </p:sp>
      <p:pic>
        <p:nvPicPr>
          <p:cNvPr id="4" name="object 4"/>
          <p:cNvPicPr/>
          <p:nvPr/>
        </p:nvPicPr>
        <p:blipFill>
          <a:blip r:embed="rId2" cstate="print"/>
          <a:stretch>
            <a:fillRect/>
          </a:stretch>
        </p:blipFill>
        <p:spPr>
          <a:xfrm>
            <a:off x="1091779" y="1988845"/>
            <a:ext cx="5784620" cy="4110097"/>
          </a:xfrm>
          <a:prstGeom prst="rect">
            <a:avLst/>
          </a:prstGeom>
        </p:spPr>
      </p:pic>
      <p:pic>
        <p:nvPicPr>
          <p:cNvPr id="5" name="object 5"/>
          <p:cNvPicPr/>
          <p:nvPr/>
        </p:nvPicPr>
        <p:blipFill>
          <a:blip r:embed="rId3" cstate="print"/>
          <a:stretch>
            <a:fillRect/>
          </a:stretch>
        </p:blipFill>
        <p:spPr>
          <a:xfrm>
            <a:off x="6948296" y="3068967"/>
            <a:ext cx="1003757" cy="596517"/>
          </a:xfrm>
          <a:prstGeom prst="rect">
            <a:avLst/>
          </a:prstGeom>
        </p:spPr>
      </p:pic>
      <p:sp>
        <p:nvSpPr>
          <p:cNvPr id="6" name="object 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7" name="object 7"/>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5</a:t>
            </a:fld>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09321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25" dirty="0"/>
              <a:t> </a:t>
            </a:r>
            <a:r>
              <a:rPr sz="3600" spc="-5" dirty="0"/>
              <a:t>is</a:t>
            </a:r>
            <a:r>
              <a:rPr sz="3600" spc="-20" dirty="0"/>
              <a:t> </a:t>
            </a:r>
            <a:r>
              <a:rPr sz="3600" dirty="0"/>
              <a:t>a</a:t>
            </a:r>
            <a:r>
              <a:rPr sz="3600" spc="-15" dirty="0"/>
              <a:t> </a:t>
            </a:r>
            <a:r>
              <a:rPr sz="3600" spc="-5" dirty="0"/>
              <a:t>Database?</a:t>
            </a:r>
            <a:endParaRPr sz="3600"/>
          </a:p>
        </p:txBody>
      </p:sp>
      <p:sp>
        <p:nvSpPr>
          <p:cNvPr id="3" name="object 3"/>
          <p:cNvSpPr txBox="1"/>
          <p:nvPr/>
        </p:nvSpPr>
        <p:spPr>
          <a:xfrm>
            <a:off x="993444" y="1461262"/>
            <a:ext cx="7461884" cy="1708785"/>
          </a:xfrm>
          <a:prstGeom prst="rect">
            <a:avLst/>
          </a:prstGeom>
        </p:spPr>
        <p:txBody>
          <a:bodyPr vert="horz" wrap="square" lIns="0" tIns="85725" rIns="0" bIns="0" rtlCol="0">
            <a:spAutoFit/>
          </a:bodyPr>
          <a:lstStyle/>
          <a:p>
            <a:pPr marL="299085" indent="-287020">
              <a:lnSpc>
                <a:spcPct val="100000"/>
              </a:lnSpc>
              <a:spcBef>
                <a:spcPts val="675"/>
              </a:spcBef>
              <a:buFont typeface="Arial MT"/>
              <a:buChar char="–"/>
              <a:tabLst>
                <a:tab pos="299720" algn="l"/>
              </a:tabLst>
            </a:pPr>
            <a:r>
              <a:rPr sz="2400" dirty="0">
                <a:latin typeface="Calibri"/>
                <a:cs typeface="Calibri"/>
              </a:rPr>
              <a:t>Primary</a:t>
            </a:r>
            <a:r>
              <a:rPr sz="2400" spc="-65" dirty="0">
                <a:latin typeface="Calibri"/>
                <a:cs typeface="Calibri"/>
              </a:rPr>
              <a:t> </a:t>
            </a:r>
            <a:r>
              <a:rPr sz="2400" spc="-20" dirty="0">
                <a:latin typeface="Calibri"/>
                <a:cs typeface="Calibri"/>
              </a:rPr>
              <a:t>Key</a:t>
            </a:r>
            <a:endParaRPr sz="2400">
              <a:latin typeface="Calibri"/>
              <a:cs typeface="Calibri"/>
            </a:endParaRPr>
          </a:p>
          <a:p>
            <a:pPr marL="697865" lvl="1" indent="-229235">
              <a:lnSpc>
                <a:spcPct val="100000"/>
              </a:lnSpc>
              <a:spcBef>
                <a:spcPts val="575"/>
              </a:spcBef>
              <a:buFont typeface="Arial MT"/>
              <a:buChar char="•"/>
              <a:tabLst>
                <a:tab pos="698500" algn="l"/>
              </a:tabLst>
            </a:pPr>
            <a:r>
              <a:rPr sz="2400" spc="-5" dirty="0">
                <a:latin typeface="Calibri"/>
                <a:cs typeface="Calibri"/>
              </a:rPr>
              <a:t>Field</a:t>
            </a:r>
            <a:r>
              <a:rPr sz="2400" spc="-30" dirty="0">
                <a:latin typeface="Calibri"/>
                <a:cs typeface="Calibri"/>
              </a:rPr>
              <a:t> </a:t>
            </a:r>
            <a:r>
              <a:rPr sz="2400" spc="-10" dirty="0">
                <a:latin typeface="Calibri"/>
                <a:cs typeface="Calibri"/>
              </a:rPr>
              <a:t>that</a:t>
            </a:r>
            <a:r>
              <a:rPr sz="2400" spc="-5" dirty="0">
                <a:latin typeface="Calibri"/>
                <a:cs typeface="Calibri"/>
              </a:rPr>
              <a:t> uniquely identifies</a:t>
            </a:r>
            <a:r>
              <a:rPr sz="2400" dirty="0">
                <a:latin typeface="Calibri"/>
                <a:cs typeface="Calibri"/>
              </a:rPr>
              <a:t> the</a:t>
            </a:r>
            <a:r>
              <a:rPr sz="2400" spc="-15" dirty="0">
                <a:latin typeface="Calibri"/>
                <a:cs typeface="Calibri"/>
              </a:rPr>
              <a:t> records</a:t>
            </a:r>
            <a:r>
              <a:rPr sz="2400" spc="-5" dirty="0">
                <a:latin typeface="Calibri"/>
                <a:cs typeface="Calibri"/>
              </a:rPr>
              <a:t> </a:t>
            </a:r>
            <a:r>
              <a:rPr sz="2400" dirty="0">
                <a:latin typeface="Calibri"/>
                <a:cs typeface="Calibri"/>
              </a:rPr>
              <a:t>in</a:t>
            </a:r>
            <a:r>
              <a:rPr sz="2400" spc="-20" dirty="0">
                <a:latin typeface="Calibri"/>
                <a:cs typeface="Calibri"/>
              </a:rPr>
              <a:t> </a:t>
            </a:r>
            <a:r>
              <a:rPr sz="2400" dirty="0">
                <a:latin typeface="Calibri"/>
                <a:cs typeface="Calibri"/>
              </a:rPr>
              <a:t>a</a:t>
            </a:r>
            <a:r>
              <a:rPr sz="2400" spc="-5" dirty="0">
                <a:latin typeface="Calibri"/>
                <a:cs typeface="Calibri"/>
              </a:rPr>
              <a:t> table</a:t>
            </a:r>
            <a:endParaRPr sz="2400">
              <a:latin typeface="Calibri"/>
              <a:cs typeface="Calibri"/>
            </a:endParaRPr>
          </a:p>
          <a:p>
            <a:pPr marL="697865" lvl="1" indent="-229235">
              <a:lnSpc>
                <a:spcPct val="100000"/>
              </a:lnSpc>
              <a:spcBef>
                <a:spcPts val="580"/>
              </a:spcBef>
              <a:buFont typeface="Arial MT"/>
              <a:buChar char="•"/>
              <a:tabLst>
                <a:tab pos="698500" algn="l"/>
              </a:tabLst>
            </a:pPr>
            <a:r>
              <a:rPr sz="2400" spc="-5" dirty="0">
                <a:latin typeface="Calibri"/>
                <a:cs typeface="Calibri"/>
              </a:rPr>
              <a:t>Field</a:t>
            </a:r>
            <a:r>
              <a:rPr sz="2400" spc="-30" dirty="0">
                <a:latin typeface="Calibri"/>
                <a:cs typeface="Calibri"/>
              </a:rPr>
              <a:t> </a:t>
            </a:r>
            <a:r>
              <a:rPr sz="2400" dirty="0">
                <a:latin typeface="Calibri"/>
                <a:cs typeface="Calibri"/>
              </a:rPr>
              <a:t>in a </a:t>
            </a:r>
            <a:r>
              <a:rPr sz="2400" spc="-10" dirty="0">
                <a:latin typeface="Calibri"/>
                <a:cs typeface="Calibri"/>
              </a:rPr>
              <a:t>table that</a:t>
            </a:r>
            <a:r>
              <a:rPr sz="2400" spc="-20" dirty="0">
                <a:latin typeface="Calibri"/>
                <a:cs typeface="Calibri"/>
              </a:rPr>
              <a:t> </a:t>
            </a:r>
            <a:r>
              <a:rPr sz="2400" dirty="0">
                <a:latin typeface="Calibri"/>
                <a:cs typeface="Calibri"/>
              </a:rPr>
              <a:t>is </a:t>
            </a:r>
            <a:r>
              <a:rPr sz="2400" spc="-5" dirty="0">
                <a:latin typeface="Calibri"/>
                <a:cs typeface="Calibri"/>
              </a:rPr>
              <a:t>used </a:t>
            </a:r>
            <a:r>
              <a:rPr sz="2400" spc="-15" dirty="0">
                <a:latin typeface="Calibri"/>
                <a:cs typeface="Calibri"/>
              </a:rPr>
              <a:t>to</a:t>
            </a:r>
            <a:r>
              <a:rPr sz="2400" spc="-10" dirty="0">
                <a:latin typeface="Calibri"/>
                <a:cs typeface="Calibri"/>
              </a:rPr>
              <a:t> </a:t>
            </a:r>
            <a:r>
              <a:rPr sz="2400" spc="-15" dirty="0">
                <a:latin typeface="Calibri"/>
                <a:cs typeface="Calibri"/>
              </a:rPr>
              <a:t>relate</a:t>
            </a:r>
            <a:r>
              <a:rPr sz="2400" spc="-10" dirty="0">
                <a:latin typeface="Calibri"/>
                <a:cs typeface="Calibri"/>
              </a:rPr>
              <a:t> that</a:t>
            </a:r>
            <a:r>
              <a:rPr sz="2400" spc="-20" dirty="0">
                <a:latin typeface="Calibri"/>
                <a:cs typeface="Calibri"/>
              </a:rPr>
              <a:t> </a:t>
            </a:r>
            <a:r>
              <a:rPr sz="2400" spc="-5" dirty="0">
                <a:latin typeface="Calibri"/>
                <a:cs typeface="Calibri"/>
              </a:rPr>
              <a:t>table</a:t>
            </a:r>
            <a:r>
              <a:rPr sz="2400" spc="-10" dirty="0">
                <a:latin typeface="Calibri"/>
                <a:cs typeface="Calibri"/>
              </a:rPr>
              <a:t> </a:t>
            </a:r>
            <a:r>
              <a:rPr sz="2400" spc="-15" dirty="0">
                <a:latin typeface="Calibri"/>
                <a:cs typeface="Calibri"/>
              </a:rPr>
              <a:t>to </a:t>
            </a:r>
            <a:r>
              <a:rPr sz="2400" spc="-5" dirty="0">
                <a:latin typeface="Calibri"/>
                <a:cs typeface="Calibri"/>
              </a:rPr>
              <a:t>other</a:t>
            </a:r>
            <a:endParaRPr sz="2400">
              <a:latin typeface="Calibri"/>
              <a:cs typeface="Calibri"/>
            </a:endParaRPr>
          </a:p>
          <a:p>
            <a:pPr marL="697865">
              <a:lnSpc>
                <a:spcPct val="100000"/>
              </a:lnSpc>
            </a:pPr>
            <a:r>
              <a:rPr sz="2400" spc="-5" dirty="0">
                <a:latin typeface="Calibri"/>
                <a:cs typeface="Calibri"/>
              </a:rPr>
              <a:t>tables</a:t>
            </a:r>
            <a:endParaRPr sz="2400">
              <a:latin typeface="Calibri"/>
              <a:cs typeface="Calibri"/>
            </a:endParaRPr>
          </a:p>
        </p:txBody>
      </p:sp>
      <p:pic>
        <p:nvPicPr>
          <p:cNvPr id="4" name="object 4"/>
          <p:cNvPicPr/>
          <p:nvPr/>
        </p:nvPicPr>
        <p:blipFill>
          <a:blip r:embed="rId2" cstate="print"/>
          <a:stretch>
            <a:fillRect/>
          </a:stretch>
        </p:blipFill>
        <p:spPr>
          <a:xfrm>
            <a:off x="1691639" y="3212973"/>
            <a:ext cx="4267200" cy="2514600"/>
          </a:xfrm>
          <a:prstGeom prst="rect">
            <a:avLst/>
          </a:prstGeom>
        </p:spPr>
      </p:pic>
      <p:pic>
        <p:nvPicPr>
          <p:cNvPr id="5" name="object 5"/>
          <p:cNvPicPr/>
          <p:nvPr/>
        </p:nvPicPr>
        <p:blipFill>
          <a:blip r:embed="rId3" cstate="print"/>
          <a:stretch>
            <a:fillRect/>
          </a:stretch>
        </p:blipFill>
        <p:spPr>
          <a:xfrm>
            <a:off x="6516243" y="3645027"/>
            <a:ext cx="1344781" cy="1247832"/>
          </a:xfrm>
          <a:prstGeom prst="rect">
            <a:avLst/>
          </a:prstGeom>
        </p:spPr>
      </p:pic>
      <p:sp>
        <p:nvSpPr>
          <p:cNvPr id="6" name="object 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7" name="object 7"/>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337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35" dirty="0"/>
              <a:t> </a:t>
            </a:r>
            <a:r>
              <a:rPr sz="3600" spc="-5" dirty="0"/>
              <a:t>Is</a:t>
            </a:r>
            <a:r>
              <a:rPr sz="3600" spc="-35" dirty="0"/>
              <a:t> </a:t>
            </a:r>
            <a:r>
              <a:rPr sz="3600" dirty="0"/>
              <a:t>a</a:t>
            </a:r>
            <a:r>
              <a:rPr sz="3600" spc="-20" dirty="0"/>
              <a:t> </a:t>
            </a:r>
            <a:r>
              <a:rPr sz="3600" spc="-5" dirty="0"/>
              <a:t>Database?</a:t>
            </a:r>
            <a:endParaRPr sz="3600"/>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7</a:t>
            </a:fld>
            <a:endParaRPr dirty="0"/>
          </a:p>
        </p:txBody>
      </p:sp>
      <p:sp>
        <p:nvSpPr>
          <p:cNvPr id="3" name="object 3"/>
          <p:cNvSpPr txBox="1"/>
          <p:nvPr/>
        </p:nvSpPr>
        <p:spPr>
          <a:xfrm>
            <a:off x="535940" y="1461262"/>
            <a:ext cx="7784465" cy="3464560"/>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spc="-5" dirty="0">
                <a:latin typeface="Calibri"/>
                <a:cs typeface="Calibri"/>
              </a:rPr>
              <a:t>Individuals</a:t>
            </a:r>
            <a:r>
              <a:rPr sz="2400" dirty="0">
                <a:latin typeface="Calibri"/>
                <a:cs typeface="Calibri"/>
              </a:rPr>
              <a:t> </a:t>
            </a:r>
            <a:r>
              <a:rPr sz="2400" spc="-20" dirty="0">
                <a:latin typeface="Calibri"/>
                <a:cs typeface="Calibri"/>
              </a:rPr>
              <a:t>Involved</a:t>
            </a:r>
            <a:r>
              <a:rPr sz="2400" spc="15" dirty="0">
                <a:latin typeface="Calibri"/>
                <a:cs typeface="Calibri"/>
              </a:rPr>
              <a:t> </a:t>
            </a:r>
            <a:r>
              <a:rPr sz="2400" dirty="0">
                <a:latin typeface="Calibri"/>
                <a:cs typeface="Calibri"/>
              </a:rPr>
              <a:t>with</a:t>
            </a:r>
            <a:r>
              <a:rPr sz="2400" spc="-10" dirty="0">
                <a:latin typeface="Calibri"/>
                <a:cs typeface="Calibri"/>
              </a:rPr>
              <a:t> </a:t>
            </a:r>
            <a:r>
              <a:rPr sz="2400" dirty="0">
                <a:latin typeface="Calibri"/>
                <a:cs typeface="Calibri"/>
              </a:rPr>
              <a:t>a </a:t>
            </a:r>
            <a:r>
              <a:rPr sz="2400" spc="-10" dirty="0">
                <a:latin typeface="Calibri"/>
                <a:cs typeface="Calibri"/>
              </a:rPr>
              <a:t>Database</a:t>
            </a:r>
            <a:r>
              <a:rPr sz="2400" spc="-5" dirty="0">
                <a:latin typeface="Calibri"/>
                <a:cs typeface="Calibri"/>
              </a:rPr>
              <a:t> Management</a:t>
            </a:r>
            <a:r>
              <a:rPr sz="2400" spc="-10" dirty="0">
                <a:latin typeface="Calibri"/>
                <a:cs typeface="Calibri"/>
              </a:rPr>
              <a:t> </a:t>
            </a:r>
            <a:r>
              <a:rPr sz="2400" spc="-20" dirty="0">
                <a:latin typeface="Calibri"/>
                <a:cs typeface="Calibri"/>
              </a:rPr>
              <a:t>System</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0" dirty="0">
                <a:latin typeface="Calibri"/>
                <a:cs typeface="Calibri"/>
              </a:rPr>
              <a:t>Database</a:t>
            </a:r>
            <a:r>
              <a:rPr sz="2400" spc="-45" dirty="0">
                <a:latin typeface="Calibri"/>
                <a:cs typeface="Calibri"/>
              </a:rPr>
              <a:t> </a:t>
            </a:r>
            <a:r>
              <a:rPr sz="2400" spc="-10" dirty="0">
                <a:latin typeface="Calibri"/>
                <a:cs typeface="Calibri"/>
              </a:rPr>
              <a:t>Designers</a:t>
            </a:r>
            <a:endParaRPr sz="2400">
              <a:latin typeface="Calibri"/>
              <a:cs typeface="Calibri"/>
            </a:endParaRPr>
          </a:p>
          <a:p>
            <a:pPr marL="1155700" lvl="2" indent="-229235">
              <a:lnSpc>
                <a:spcPct val="100000"/>
              </a:lnSpc>
              <a:spcBef>
                <a:spcPts val="580"/>
              </a:spcBef>
              <a:buFont typeface="Arial MT"/>
              <a:buChar char="•"/>
              <a:tabLst>
                <a:tab pos="1156335" algn="l"/>
              </a:tabLst>
            </a:pPr>
            <a:r>
              <a:rPr sz="2400" spc="-5" dirty="0">
                <a:latin typeface="Calibri"/>
                <a:cs typeface="Calibri"/>
              </a:rPr>
              <a:t>Design</a:t>
            </a:r>
            <a:r>
              <a:rPr sz="2400" spc="-40"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database</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0" dirty="0">
                <a:latin typeface="Calibri"/>
                <a:cs typeface="Calibri"/>
              </a:rPr>
              <a:t>Database</a:t>
            </a:r>
            <a:r>
              <a:rPr sz="2400" spc="-45" dirty="0">
                <a:latin typeface="Calibri"/>
                <a:cs typeface="Calibri"/>
              </a:rPr>
              <a:t> </a:t>
            </a:r>
            <a:r>
              <a:rPr sz="2400" spc="-10" dirty="0">
                <a:latin typeface="Calibri"/>
                <a:cs typeface="Calibri"/>
              </a:rPr>
              <a:t>Developers</a:t>
            </a:r>
            <a:endParaRPr sz="2400">
              <a:latin typeface="Calibri"/>
              <a:cs typeface="Calibri"/>
            </a:endParaRPr>
          </a:p>
          <a:p>
            <a:pPr marL="228600" marR="4135754" lvl="2" indent="-228600" algn="r">
              <a:lnSpc>
                <a:spcPct val="100000"/>
              </a:lnSpc>
              <a:spcBef>
                <a:spcPts val="575"/>
              </a:spcBef>
              <a:buFont typeface="Arial MT"/>
              <a:buChar char="•"/>
              <a:tabLst>
                <a:tab pos="228600" algn="l"/>
              </a:tabLst>
            </a:pPr>
            <a:r>
              <a:rPr sz="2400" spc="-15" dirty="0">
                <a:latin typeface="Calibri"/>
                <a:cs typeface="Calibri"/>
              </a:rPr>
              <a:t>Create</a:t>
            </a:r>
            <a:r>
              <a:rPr sz="2400" spc="-55" dirty="0">
                <a:latin typeface="Calibri"/>
                <a:cs typeface="Calibri"/>
              </a:rPr>
              <a:t> </a:t>
            </a:r>
            <a:r>
              <a:rPr sz="2400" dirty="0">
                <a:latin typeface="Calibri"/>
                <a:cs typeface="Calibri"/>
              </a:rPr>
              <a:t>the</a:t>
            </a:r>
            <a:r>
              <a:rPr sz="2400" spc="-40" dirty="0">
                <a:latin typeface="Calibri"/>
                <a:cs typeface="Calibri"/>
              </a:rPr>
              <a:t> </a:t>
            </a:r>
            <a:r>
              <a:rPr sz="2400" spc="-10" dirty="0">
                <a:latin typeface="Calibri"/>
                <a:cs typeface="Calibri"/>
              </a:rPr>
              <a:t>database</a:t>
            </a:r>
            <a:endParaRPr sz="2400">
              <a:latin typeface="Calibri"/>
              <a:cs typeface="Calibri"/>
            </a:endParaRPr>
          </a:p>
          <a:p>
            <a:pPr marL="756285" marR="4130040" lvl="1" indent="-756920" algn="r">
              <a:lnSpc>
                <a:spcPct val="100000"/>
              </a:lnSpc>
              <a:spcBef>
                <a:spcPts val="580"/>
              </a:spcBef>
              <a:buFont typeface="Arial MT"/>
              <a:buChar char="–"/>
              <a:tabLst>
                <a:tab pos="756920" algn="l"/>
              </a:tabLst>
            </a:pPr>
            <a:r>
              <a:rPr sz="2400" spc="-10" dirty="0">
                <a:latin typeface="Calibri"/>
                <a:cs typeface="Calibri"/>
              </a:rPr>
              <a:t>Database</a:t>
            </a:r>
            <a:r>
              <a:rPr sz="2400" spc="-55" dirty="0">
                <a:latin typeface="Calibri"/>
                <a:cs typeface="Calibri"/>
              </a:rPr>
              <a:t> </a:t>
            </a:r>
            <a:r>
              <a:rPr sz="2400" spc="-15" dirty="0">
                <a:latin typeface="Calibri"/>
                <a:cs typeface="Calibri"/>
              </a:rPr>
              <a:t>Programmers</a:t>
            </a:r>
            <a:endParaRPr sz="2400">
              <a:latin typeface="Calibri"/>
              <a:cs typeface="Calibri"/>
            </a:endParaRPr>
          </a:p>
          <a:p>
            <a:pPr marL="1155700" marR="5080" lvl="2" indent="-228600">
              <a:lnSpc>
                <a:spcPct val="100000"/>
              </a:lnSpc>
              <a:spcBef>
                <a:spcPts val="575"/>
              </a:spcBef>
              <a:buFont typeface="Arial MT"/>
              <a:buChar char="•"/>
              <a:tabLst>
                <a:tab pos="1156335" algn="l"/>
              </a:tabLst>
            </a:pPr>
            <a:r>
              <a:rPr sz="2400" spc="-20" dirty="0">
                <a:latin typeface="Calibri"/>
                <a:cs typeface="Calibri"/>
              </a:rPr>
              <a:t>Write </a:t>
            </a:r>
            <a:r>
              <a:rPr sz="2400" dirty="0">
                <a:latin typeface="Calibri"/>
                <a:cs typeface="Calibri"/>
              </a:rPr>
              <a:t>the </a:t>
            </a:r>
            <a:r>
              <a:rPr sz="2400" spc="-15" dirty="0">
                <a:latin typeface="Calibri"/>
                <a:cs typeface="Calibri"/>
              </a:rPr>
              <a:t>programs </a:t>
            </a:r>
            <a:r>
              <a:rPr sz="2400" spc="-5" dirty="0">
                <a:latin typeface="Calibri"/>
                <a:cs typeface="Calibri"/>
              </a:rPr>
              <a:t>needed </a:t>
            </a:r>
            <a:r>
              <a:rPr sz="2400" spc="-15" dirty="0">
                <a:latin typeface="Calibri"/>
                <a:cs typeface="Calibri"/>
              </a:rPr>
              <a:t>to </a:t>
            </a:r>
            <a:r>
              <a:rPr sz="2400" dirty="0">
                <a:latin typeface="Calibri"/>
                <a:cs typeface="Calibri"/>
              </a:rPr>
              <a:t>access the </a:t>
            </a:r>
            <a:r>
              <a:rPr sz="2400" spc="-10" dirty="0">
                <a:latin typeface="Calibri"/>
                <a:cs typeface="Calibri"/>
              </a:rPr>
              <a:t>database </a:t>
            </a:r>
            <a:r>
              <a:rPr sz="2400" spc="-5" dirty="0">
                <a:latin typeface="Calibri"/>
                <a:cs typeface="Calibri"/>
              </a:rPr>
              <a:t>or </a:t>
            </a:r>
            <a:r>
              <a:rPr sz="2400" spc="-530" dirty="0">
                <a:latin typeface="Calibri"/>
                <a:cs typeface="Calibri"/>
              </a:rPr>
              <a:t> </a:t>
            </a:r>
            <a:r>
              <a:rPr sz="2400" dirty="0">
                <a:latin typeface="Calibri"/>
                <a:cs typeface="Calibri"/>
              </a:rPr>
              <a:t>tie</a:t>
            </a:r>
            <a:r>
              <a:rPr sz="2400" spc="-30" dirty="0">
                <a:latin typeface="Calibri"/>
                <a:cs typeface="Calibri"/>
              </a:rPr>
              <a:t> </a:t>
            </a:r>
            <a:r>
              <a:rPr sz="2400" dirty="0">
                <a:latin typeface="Calibri"/>
                <a:cs typeface="Calibri"/>
              </a:rPr>
              <a:t>the </a:t>
            </a:r>
            <a:r>
              <a:rPr sz="2400" spc="-10" dirty="0">
                <a:latin typeface="Calibri"/>
                <a:cs typeface="Calibri"/>
              </a:rPr>
              <a:t>database </a:t>
            </a:r>
            <a:r>
              <a:rPr sz="2400" spc="-15" dirty="0">
                <a:latin typeface="Calibri"/>
                <a:cs typeface="Calibri"/>
              </a:rPr>
              <a:t>to</a:t>
            </a:r>
            <a:r>
              <a:rPr sz="2400" spc="-5" dirty="0">
                <a:latin typeface="Calibri"/>
                <a:cs typeface="Calibri"/>
              </a:rPr>
              <a:t> other </a:t>
            </a:r>
            <a:r>
              <a:rPr sz="2400" spc="-15" dirty="0">
                <a:latin typeface="Calibri"/>
                <a:cs typeface="Calibri"/>
              </a:rPr>
              <a:t>programs</a:t>
            </a:r>
            <a:endParaRPr sz="24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337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35" dirty="0"/>
              <a:t> </a:t>
            </a:r>
            <a:r>
              <a:rPr sz="3600" spc="-5" dirty="0"/>
              <a:t>Is</a:t>
            </a:r>
            <a:r>
              <a:rPr sz="3600" spc="-35" dirty="0"/>
              <a:t> </a:t>
            </a:r>
            <a:r>
              <a:rPr sz="3600" dirty="0"/>
              <a:t>a</a:t>
            </a:r>
            <a:r>
              <a:rPr sz="3600" spc="-20" dirty="0"/>
              <a:t> </a:t>
            </a:r>
            <a:r>
              <a:rPr sz="3600" spc="-5" dirty="0"/>
              <a:t>Database?</a:t>
            </a:r>
            <a:endParaRPr sz="3600"/>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8</a:t>
            </a:fld>
            <a:endParaRPr dirty="0"/>
          </a:p>
        </p:txBody>
      </p:sp>
      <p:sp>
        <p:nvSpPr>
          <p:cNvPr id="3" name="object 3"/>
          <p:cNvSpPr txBox="1"/>
          <p:nvPr/>
        </p:nvSpPr>
        <p:spPr>
          <a:xfrm>
            <a:off x="993444" y="1461262"/>
            <a:ext cx="7283450" cy="2513330"/>
          </a:xfrm>
          <a:prstGeom prst="rect">
            <a:avLst/>
          </a:prstGeom>
        </p:spPr>
        <p:txBody>
          <a:bodyPr vert="horz" wrap="square" lIns="0" tIns="85725" rIns="0" bIns="0" rtlCol="0">
            <a:spAutoFit/>
          </a:bodyPr>
          <a:lstStyle/>
          <a:p>
            <a:pPr marL="299085" indent="-287020">
              <a:lnSpc>
                <a:spcPct val="100000"/>
              </a:lnSpc>
              <a:spcBef>
                <a:spcPts val="675"/>
              </a:spcBef>
              <a:buFont typeface="Arial MT"/>
              <a:buChar char="–"/>
              <a:tabLst>
                <a:tab pos="299720" algn="l"/>
              </a:tabLst>
            </a:pPr>
            <a:r>
              <a:rPr sz="2400" spc="-10" dirty="0">
                <a:latin typeface="Calibri"/>
                <a:cs typeface="Calibri"/>
              </a:rPr>
              <a:t>Database</a:t>
            </a:r>
            <a:r>
              <a:rPr sz="2400" spc="-40" dirty="0">
                <a:latin typeface="Calibri"/>
                <a:cs typeface="Calibri"/>
              </a:rPr>
              <a:t> </a:t>
            </a:r>
            <a:r>
              <a:rPr sz="2400" spc="-15" dirty="0">
                <a:latin typeface="Calibri"/>
                <a:cs typeface="Calibri"/>
              </a:rPr>
              <a:t>Administrators</a:t>
            </a:r>
            <a:endParaRPr sz="2400">
              <a:latin typeface="Calibri"/>
              <a:cs typeface="Calibri"/>
            </a:endParaRPr>
          </a:p>
          <a:p>
            <a:pPr marL="697865" marR="372745" lvl="1" indent="-228600">
              <a:lnSpc>
                <a:spcPct val="100000"/>
              </a:lnSpc>
              <a:spcBef>
                <a:spcPts val="575"/>
              </a:spcBef>
              <a:buFont typeface="Arial MT"/>
              <a:buChar char="•"/>
              <a:tabLst>
                <a:tab pos="698500" algn="l"/>
              </a:tabLst>
            </a:pPr>
            <a:r>
              <a:rPr sz="2400" spc="-5" dirty="0">
                <a:latin typeface="Calibri"/>
                <a:cs typeface="Calibri"/>
              </a:rPr>
              <a:t>Responsible</a:t>
            </a:r>
            <a:r>
              <a:rPr sz="2400" spc="-35" dirty="0">
                <a:latin typeface="Calibri"/>
                <a:cs typeface="Calibri"/>
              </a:rPr>
              <a:t> </a:t>
            </a:r>
            <a:r>
              <a:rPr sz="2400" spc="-20" dirty="0">
                <a:latin typeface="Calibri"/>
                <a:cs typeface="Calibri"/>
              </a:rPr>
              <a:t>for</a:t>
            </a:r>
            <a:r>
              <a:rPr sz="2400" spc="-10" dirty="0">
                <a:latin typeface="Calibri"/>
                <a:cs typeface="Calibri"/>
              </a:rPr>
              <a:t> </a:t>
            </a:r>
            <a:r>
              <a:rPr sz="2400" dirty="0">
                <a:latin typeface="Calibri"/>
                <a:cs typeface="Calibri"/>
              </a:rPr>
              <a:t>managing</a:t>
            </a:r>
            <a:r>
              <a:rPr sz="2400" spc="-25" dirty="0">
                <a:latin typeface="Calibri"/>
                <a:cs typeface="Calibri"/>
              </a:rPr>
              <a:t> </a:t>
            </a:r>
            <a:r>
              <a:rPr sz="2400" dirty="0">
                <a:latin typeface="Calibri"/>
                <a:cs typeface="Calibri"/>
              </a:rPr>
              <a:t>the</a:t>
            </a:r>
            <a:r>
              <a:rPr sz="2400" spc="-10" dirty="0">
                <a:latin typeface="Calibri"/>
                <a:cs typeface="Calibri"/>
              </a:rPr>
              <a:t> databases</a:t>
            </a:r>
            <a:r>
              <a:rPr sz="2400" spc="-25" dirty="0">
                <a:latin typeface="Calibri"/>
                <a:cs typeface="Calibri"/>
              </a:rPr>
              <a:t> </a:t>
            </a:r>
            <a:r>
              <a:rPr sz="2400" dirty="0">
                <a:latin typeface="Calibri"/>
                <a:cs typeface="Calibri"/>
              </a:rPr>
              <a:t>within</a:t>
            </a:r>
            <a:r>
              <a:rPr sz="2400" spc="-20" dirty="0">
                <a:latin typeface="Calibri"/>
                <a:cs typeface="Calibri"/>
              </a:rPr>
              <a:t> </a:t>
            </a:r>
            <a:r>
              <a:rPr sz="2400" dirty="0">
                <a:latin typeface="Calibri"/>
                <a:cs typeface="Calibri"/>
              </a:rPr>
              <a:t>an </a:t>
            </a:r>
            <a:r>
              <a:rPr sz="2400" spc="-530" dirty="0">
                <a:latin typeface="Calibri"/>
                <a:cs typeface="Calibri"/>
              </a:rPr>
              <a:t> </a:t>
            </a:r>
            <a:r>
              <a:rPr sz="2400" spc="-15" dirty="0">
                <a:latin typeface="Calibri"/>
                <a:cs typeface="Calibri"/>
              </a:rPr>
              <a:t>organization</a:t>
            </a:r>
            <a:endParaRPr sz="2400">
              <a:latin typeface="Calibri"/>
              <a:cs typeface="Calibri"/>
            </a:endParaRPr>
          </a:p>
          <a:p>
            <a:pPr marL="299085" indent="-287020">
              <a:lnSpc>
                <a:spcPct val="100000"/>
              </a:lnSpc>
              <a:spcBef>
                <a:spcPts val="580"/>
              </a:spcBef>
              <a:buFont typeface="Arial MT"/>
              <a:buChar char="–"/>
              <a:tabLst>
                <a:tab pos="299720" algn="l"/>
              </a:tabLst>
            </a:pPr>
            <a:r>
              <a:rPr sz="2400" spc="-10" dirty="0">
                <a:latin typeface="Calibri"/>
                <a:cs typeface="Calibri"/>
              </a:rPr>
              <a:t>Users</a:t>
            </a:r>
            <a:endParaRPr sz="2400">
              <a:latin typeface="Calibri"/>
              <a:cs typeface="Calibri"/>
            </a:endParaRPr>
          </a:p>
          <a:p>
            <a:pPr marL="697865" marR="5080" lvl="1" indent="-228600">
              <a:lnSpc>
                <a:spcPct val="100000"/>
              </a:lnSpc>
              <a:spcBef>
                <a:spcPts val="575"/>
              </a:spcBef>
              <a:buFont typeface="Arial MT"/>
              <a:buChar char="•"/>
              <a:tabLst>
                <a:tab pos="698500" algn="l"/>
              </a:tabLst>
            </a:pPr>
            <a:r>
              <a:rPr sz="2400" spc="-5" dirty="0">
                <a:latin typeface="Calibri"/>
                <a:cs typeface="Calibri"/>
              </a:rPr>
              <a:t>Individuals</a:t>
            </a:r>
            <a:r>
              <a:rPr sz="2400" dirty="0">
                <a:latin typeface="Calibri"/>
                <a:cs typeface="Calibri"/>
              </a:rPr>
              <a:t> who</a:t>
            </a:r>
            <a:r>
              <a:rPr sz="2400" spc="-10" dirty="0">
                <a:latin typeface="Calibri"/>
                <a:cs typeface="Calibri"/>
              </a:rPr>
              <a:t> enter</a:t>
            </a:r>
            <a:r>
              <a:rPr sz="2400" spc="-5" dirty="0">
                <a:latin typeface="Calibri"/>
                <a:cs typeface="Calibri"/>
              </a:rPr>
              <a:t> </a:t>
            </a:r>
            <a:r>
              <a:rPr sz="2400" spc="-15" dirty="0">
                <a:latin typeface="Calibri"/>
                <a:cs typeface="Calibri"/>
              </a:rPr>
              <a:t>data, update</a:t>
            </a:r>
            <a:r>
              <a:rPr sz="2400" spc="5" dirty="0">
                <a:latin typeface="Calibri"/>
                <a:cs typeface="Calibri"/>
              </a:rPr>
              <a:t> </a:t>
            </a:r>
            <a:r>
              <a:rPr sz="2400" spc="-15" dirty="0">
                <a:latin typeface="Calibri"/>
                <a:cs typeface="Calibri"/>
              </a:rPr>
              <a:t>data, </a:t>
            </a:r>
            <a:r>
              <a:rPr sz="2400" dirty="0">
                <a:latin typeface="Calibri"/>
                <a:cs typeface="Calibri"/>
              </a:rPr>
              <a:t>and</a:t>
            </a:r>
            <a:r>
              <a:rPr sz="2400" spc="-5" dirty="0">
                <a:latin typeface="Calibri"/>
                <a:cs typeface="Calibri"/>
              </a:rPr>
              <a:t> </a:t>
            </a:r>
            <a:r>
              <a:rPr sz="2400" spc="-10" dirty="0">
                <a:latin typeface="Calibri"/>
                <a:cs typeface="Calibri"/>
              </a:rPr>
              <a:t>retrieve </a:t>
            </a:r>
            <a:r>
              <a:rPr sz="2400" spc="-525" dirty="0">
                <a:latin typeface="Calibri"/>
                <a:cs typeface="Calibri"/>
              </a:rPr>
              <a:t> </a:t>
            </a:r>
            <a:r>
              <a:rPr sz="2400" spc="-10" dirty="0">
                <a:latin typeface="Calibri"/>
                <a:cs typeface="Calibri"/>
              </a:rPr>
              <a:t>information</a:t>
            </a:r>
            <a:r>
              <a:rPr sz="2400" spc="-40" dirty="0">
                <a:latin typeface="Calibri"/>
                <a:cs typeface="Calibri"/>
              </a:rPr>
              <a:t> </a:t>
            </a:r>
            <a:r>
              <a:rPr sz="2400" spc="-15" dirty="0">
                <a:latin typeface="Calibri"/>
                <a:cs typeface="Calibri"/>
              </a:rPr>
              <a:t>from </a:t>
            </a:r>
            <a:r>
              <a:rPr sz="2400" dirty="0">
                <a:latin typeface="Calibri"/>
                <a:cs typeface="Calibri"/>
              </a:rPr>
              <a:t>the</a:t>
            </a:r>
            <a:r>
              <a:rPr sz="2400" spc="-15" dirty="0">
                <a:latin typeface="Calibri"/>
                <a:cs typeface="Calibri"/>
              </a:rPr>
              <a:t> </a:t>
            </a:r>
            <a:r>
              <a:rPr sz="2400" spc="-10" dirty="0">
                <a:latin typeface="Calibri"/>
                <a:cs typeface="Calibri"/>
              </a:rPr>
              <a:t>database</a:t>
            </a:r>
            <a:endParaRPr sz="24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337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35" dirty="0"/>
              <a:t> </a:t>
            </a:r>
            <a:r>
              <a:rPr sz="3600" spc="-5" dirty="0"/>
              <a:t>Is</a:t>
            </a:r>
            <a:r>
              <a:rPr sz="3600" spc="-35" dirty="0"/>
              <a:t> </a:t>
            </a:r>
            <a:r>
              <a:rPr sz="3600" dirty="0"/>
              <a:t>a</a:t>
            </a:r>
            <a:r>
              <a:rPr sz="3600" spc="-20" dirty="0"/>
              <a:t> </a:t>
            </a:r>
            <a:r>
              <a:rPr sz="3600" spc="-5" dirty="0"/>
              <a:t>Database?</a:t>
            </a:r>
            <a:endParaRPr sz="3600"/>
          </a:p>
        </p:txBody>
      </p:sp>
      <p:sp>
        <p:nvSpPr>
          <p:cNvPr id="3" name="object 3"/>
          <p:cNvSpPr txBox="1"/>
          <p:nvPr/>
        </p:nvSpPr>
        <p:spPr>
          <a:xfrm>
            <a:off x="535940" y="1534414"/>
            <a:ext cx="3718560" cy="391160"/>
          </a:xfrm>
          <a:prstGeom prst="rect">
            <a:avLst/>
          </a:prstGeom>
        </p:spPr>
        <p:txBody>
          <a:bodyPr vert="horz" wrap="square" lIns="0" tIns="12700" rIns="0" bIns="0" rtlCol="0">
            <a:spAutoFit/>
          </a:bodyPr>
          <a:lstStyle/>
          <a:p>
            <a:pPr marL="355600" indent="-343535">
              <a:lnSpc>
                <a:spcPct val="100000"/>
              </a:lnSpc>
              <a:spcBef>
                <a:spcPts val="100"/>
              </a:spcBef>
              <a:buFont typeface="Arial MT"/>
              <a:buChar char="•"/>
              <a:tabLst>
                <a:tab pos="355600" algn="l"/>
                <a:tab pos="356235" algn="l"/>
              </a:tabLst>
            </a:pPr>
            <a:r>
              <a:rPr sz="2400" spc="-5" dirty="0">
                <a:latin typeface="Calibri"/>
                <a:cs typeface="Calibri"/>
              </a:rPr>
              <a:t>The</a:t>
            </a:r>
            <a:r>
              <a:rPr sz="2400" spc="-25" dirty="0">
                <a:latin typeface="Calibri"/>
                <a:cs typeface="Calibri"/>
              </a:rPr>
              <a:t> </a:t>
            </a:r>
            <a:r>
              <a:rPr sz="2400" spc="-15" dirty="0">
                <a:latin typeface="Calibri"/>
                <a:cs typeface="Calibri"/>
              </a:rPr>
              <a:t>Evolution</a:t>
            </a:r>
            <a:r>
              <a:rPr sz="2400" spc="-10" dirty="0">
                <a:latin typeface="Calibri"/>
                <a:cs typeface="Calibri"/>
              </a:rPr>
              <a:t> </a:t>
            </a:r>
            <a:r>
              <a:rPr sz="2400" spc="-5" dirty="0">
                <a:latin typeface="Calibri"/>
                <a:cs typeface="Calibri"/>
              </a:rPr>
              <a:t>of</a:t>
            </a:r>
            <a:r>
              <a:rPr sz="2400" spc="-20" dirty="0">
                <a:latin typeface="Calibri"/>
                <a:cs typeface="Calibri"/>
              </a:rPr>
              <a:t> </a:t>
            </a:r>
            <a:r>
              <a:rPr sz="2400" spc="-10" dirty="0">
                <a:latin typeface="Calibri"/>
                <a:cs typeface="Calibri"/>
              </a:rPr>
              <a:t>Databases</a:t>
            </a:r>
            <a:endParaRPr sz="2400">
              <a:latin typeface="Calibri"/>
              <a:cs typeface="Calibri"/>
            </a:endParaRPr>
          </a:p>
        </p:txBody>
      </p:sp>
      <p:grpSp>
        <p:nvGrpSpPr>
          <p:cNvPr id="4" name="object 4"/>
          <p:cNvGrpSpPr/>
          <p:nvPr/>
        </p:nvGrpSpPr>
        <p:grpSpPr>
          <a:xfrm>
            <a:off x="611555" y="1988845"/>
            <a:ext cx="8253095" cy="3808729"/>
            <a:chOff x="611555" y="1988845"/>
            <a:chExt cx="8253095" cy="3808729"/>
          </a:xfrm>
        </p:grpSpPr>
        <p:pic>
          <p:nvPicPr>
            <p:cNvPr id="5" name="object 5"/>
            <p:cNvPicPr/>
            <p:nvPr/>
          </p:nvPicPr>
          <p:blipFill>
            <a:blip r:embed="rId2" cstate="print"/>
            <a:stretch>
              <a:fillRect/>
            </a:stretch>
          </p:blipFill>
          <p:spPr>
            <a:xfrm>
              <a:off x="611555" y="1988845"/>
              <a:ext cx="7303526" cy="3808453"/>
            </a:xfrm>
            <a:prstGeom prst="rect">
              <a:avLst/>
            </a:prstGeom>
          </p:spPr>
        </p:pic>
        <p:pic>
          <p:nvPicPr>
            <p:cNvPr id="6" name="object 6"/>
            <p:cNvPicPr/>
            <p:nvPr/>
          </p:nvPicPr>
          <p:blipFill>
            <a:blip r:embed="rId3" cstate="print"/>
            <a:stretch>
              <a:fillRect/>
            </a:stretch>
          </p:blipFill>
          <p:spPr>
            <a:xfrm>
              <a:off x="7812404" y="2348865"/>
              <a:ext cx="1051902" cy="1005839"/>
            </a:xfrm>
            <a:prstGeom prst="rect">
              <a:avLst/>
            </a:prstGeom>
          </p:spPr>
        </p:pic>
      </p:grpSp>
      <p:sp>
        <p:nvSpPr>
          <p:cNvPr id="7" name="object 7"/>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8" name="object 8"/>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103370" cy="574040"/>
          </a:xfrm>
          <a:prstGeom prst="rect">
            <a:avLst/>
          </a:prstGeom>
        </p:spPr>
        <p:txBody>
          <a:bodyPr vert="horz" wrap="square" lIns="0" tIns="12700" rIns="0" bIns="0" rtlCol="0">
            <a:spAutoFit/>
          </a:bodyPr>
          <a:lstStyle/>
          <a:p>
            <a:pPr marL="12700">
              <a:lnSpc>
                <a:spcPct val="100000"/>
              </a:lnSpc>
              <a:spcBef>
                <a:spcPts val="100"/>
              </a:spcBef>
            </a:pPr>
            <a:r>
              <a:rPr sz="3600" spc="-5" dirty="0"/>
              <a:t>What</a:t>
            </a:r>
            <a:r>
              <a:rPr sz="3600" spc="-35" dirty="0"/>
              <a:t> </a:t>
            </a:r>
            <a:r>
              <a:rPr sz="3600" spc="-5" dirty="0"/>
              <a:t>Is</a:t>
            </a:r>
            <a:r>
              <a:rPr sz="3600" spc="-35" dirty="0"/>
              <a:t> </a:t>
            </a:r>
            <a:r>
              <a:rPr sz="3600" dirty="0"/>
              <a:t>a</a:t>
            </a:r>
            <a:r>
              <a:rPr sz="3600" spc="-20" dirty="0"/>
              <a:t> </a:t>
            </a:r>
            <a:r>
              <a:rPr sz="3600" spc="-5" dirty="0"/>
              <a:t>Database?</a:t>
            </a:r>
            <a:endParaRPr sz="3600"/>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10</a:t>
            </a:fld>
            <a:endParaRPr dirty="0"/>
          </a:p>
        </p:txBody>
      </p:sp>
      <p:sp>
        <p:nvSpPr>
          <p:cNvPr id="3" name="object 3"/>
          <p:cNvSpPr txBox="1"/>
          <p:nvPr/>
        </p:nvSpPr>
        <p:spPr>
          <a:xfrm>
            <a:off x="535940" y="1461262"/>
            <a:ext cx="7064375" cy="3977004"/>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spc="-15" dirty="0">
                <a:latin typeface="Calibri"/>
                <a:cs typeface="Calibri"/>
              </a:rPr>
              <a:t>Advantages </a:t>
            </a:r>
            <a:r>
              <a:rPr sz="2400" dirty="0">
                <a:latin typeface="Calibri"/>
                <a:cs typeface="Calibri"/>
              </a:rPr>
              <a:t>and </a:t>
            </a:r>
            <a:r>
              <a:rPr sz="2400" spc="-15" dirty="0">
                <a:latin typeface="Calibri"/>
                <a:cs typeface="Calibri"/>
              </a:rPr>
              <a:t>Disadvantages</a:t>
            </a:r>
            <a:r>
              <a:rPr sz="2400" dirty="0">
                <a:latin typeface="Calibri"/>
                <a:cs typeface="Calibri"/>
              </a:rPr>
              <a:t> </a:t>
            </a:r>
            <a:r>
              <a:rPr sz="2400" spc="-5" dirty="0">
                <a:latin typeface="Calibri"/>
                <a:cs typeface="Calibri"/>
              </a:rPr>
              <a:t>of </a:t>
            </a:r>
            <a:r>
              <a:rPr sz="2400" dirty="0">
                <a:latin typeface="Calibri"/>
                <a:cs typeface="Calibri"/>
              </a:rPr>
              <a:t>the</a:t>
            </a:r>
            <a:r>
              <a:rPr sz="2400" spc="5" dirty="0">
                <a:latin typeface="Calibri"/>
                <a:cs typeface="Calibri"/>
              </a:rPr>
              <a:t> </a:t>
            </a:r>
            <a:r>
              <a:rPr sz="2400" spc="-5" dirty="0">
                <a:latin typeface="Calibri"/>
                <a:cs typeface="Calibri"/>
              </a:rPr>
              <a:t>DBMS</a:t>
            </a:r>
            <a:r>
              <a:rPr sz="2400" spc="-25" dirty="0">
                <a:latin typeface="Calibri"/>
                <a:cs typeface="Calibri"/>
              </a:rPr>
              <a:t> </a:t>
            </a:r>
            <a:r>
              <a:rPr sz="2400" spc="-10" dirty="0">
                <a:latin typeface="Calibri"/>
                <a:cs typeface="Calibri"/>
              </a:rPr>
              <a:t>Approach</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5" dirty="0">
                <a:latin typeface="Calibri"/>
                <a:cs typeface="Calibri"/>
              </a:rPr>
              <a:t>Advantages</a:t>
            </a:r>
            <a:endParaRPr sz="2400">
              <a:latin typeface="Calibri"/>
              <a:cs typeface="Calibri"/>
            </a:endParaRPr>
          </a:p>
          <a:p>
            <a:pPr marL="228600" marR="2889250" lvl="2" indent="-228600" algn="r">
              <a:lnSpc>
                <a:spcPct val="100000"/>
              </a:lnSpc>
              <a:spcBef>
                <a:spcPts val="580"/>
              </a:spcBef>
              <a:buFont typeface="Arial MT"/>
              <a:buChar char="•"/>
              <a:tabLst>
                <a:tab pos="228600" algn="l"/>
              </a:tabLst>
            </a:pPr>
            <a:r>
              <a:rPr sz="2400" spc="-10" dirty="0">
                <a:latin typeface="Calibri"/>
                <a:cs typeface="Calibri"/>
              </a:rPr>
              <a:t>Low</a:t>
            </a:r>
            <a:r>
              <a:rPr sz="2400" spc="-25" dirty="0">
                <a:latin typeface="Calibri"/>
                <a:cs typeface="Calibri"/>
              </a:rPr>
              <a:t> </a:t>
            </a:r>
            <a:r>
              <a:rPr sz="2400" spc="-10" dirty="0">
                <a:latin typeface="Calibri"/>
                <a:cs typeface="Calibri"/>
              </a:rPr>
              <a:t>level</a:t>
            </a:r>
            <a:r>
              <a:rPr sz="2400" spc="-5" dirty="0">
                <a:latin typeface="Calibri"/>
                <a:cs typeface="Calibri"/>
              </a:rPr>
              <a:t> of redundancy</a:t>
            </a:r>
            <a:endParaRPr sz="2400">
              <a:latin typeface="Calibri"/>
              <a:cs typeface="Calibri"/>
            </a:endParaRPr>
          </a:p>
          <a:p>
            <a:pPr marL="228600" marR="2861945" lvl="3" indent="-228600" algn="r">
              <a:lnSpc>
                <a:spcPct val="100000"/>
              </a:lnSpc>
              <a:spcBef>
                <a:spcPts val="575"/>
              </a:spcBef>
              <a:buFont typeface="Arial MT"/>
              <a:buChar char="–"/>
              <a:tabLst>
                <a:tab pos="228600" algn="l"/>
              </a:tabLst>
            </a:pPr>
            <a:r>
              <a:rPr sz="2400" spc="-20" dirty="0">
                <a:latin typeface="Calibri"/>
                <a:cs typeface="Calibri"/>
              </a:rPr>
              <a:t>Faster</a:t>
            </a:r>
            <a:r>
              <a:rPr sz="2400" spc="-50" dirty="0">
                <a:latin typeface="Calibri"/>
                <a:cs typeface="Calibri"/>
              </a:rPr>
              <a:t> </a:t>
            </a:r>
            <a:r>
              <a:rPr sz="2400" spc="-5" dirty="0">
                <a:latin typeface="Calibri"/>
                <a:cs typeface="Calibri"/>
              </a:rPr>
              <a:t>response</a:t>
            </a:r>
            <a:r>
              <a:rPr sz="2400" spc="-20" dirty="0">
                <a:latin typeface="Calibri"/>
                <a:cs typeface="Calibri"/>
              </a:rPr>
              <a:t> </a:t>
            </a:r>
            <a:r>
              <a:rPr sz="2400" dirty="0">
                <a:latin typeface="Calibri"/>
                <a:cs typeface="Calibri"/>
              </a:rPr>
              <a:t>time</a:t>
            </a:r>
            <a:endParaRPr sz="2400">
              <a:latin typeface="Calibri"/>
              <a:cs typeface="Calibri"/>
            </a:endParaRPr>
          </a:p>
          <a:p>
            <a:pPr marL="1612900" lvl="3" indent="-229235">
              <a:lnSpc>
                <a:spcPct val="100000"/>
              </a:lnSpc>
              <a:spcBef>
                <a:spcPts val="575"/>
              </a:spcBef>
              <a:buFont typeface="Arial MT"/>
              <a:buChar char="–"/>
              <a:tabLst>
                <a:tab pos="1613535" algn="l"/>
              </a:tabLst>
            </a:pPr>
            <a:r>
              <a:rPr sz="2400" spc="-10" dirty="0">
                <a:latin typeface="Calibri"/>
                <a:cs typeface="Calibri"/>
              </a:rPr>
              <a:t>Lower</a:t>
            </a:r>
            <a:r>
              <a:rPr sz="2400" spc="-30" dirty="0">
                <a:latin typeface="Calibri"/>
                <a:cs typeface="Calibri"/>
              </a:rPr>
              <a:t> </a:t>
            </a:r>
            <a:r>
              <a:rPr sz="2400" spc="-20" dirty="0">
                <a:latin typeface="Calibri"/>
                <a:cs typeface="Calibri"/>
              </a:rPr>
              <a:t>storage</a:t>
            </a:r>
            <a:r>
              <a:rPr sz="2400" spc="-15" dirty="0">
                <a:latin typeface="Calibri"/>
                <a:cs typeface="Calibri"/>
              </a:rPr>
              <a:t> </a:t>
            </a:r>
            <a:r>
              <a:rPr sz="2400" spc="-10" dirty="0">
                <a:latin typeface="Calibri"/>
                <a:cs typeface="Calibri"/>
              </a:rPr>
              <a:t>requirements</a:t>
            </a:r>
            <a:endParaRPr sz="2400">
              <a:latin typeface="Calibri"/>
              <a:cs typeface="Calibri"/>
            </a:endParaRPr>
          </a:p>
          <a:p>
            <a:pPr marL="1612900" lvl="3" indent="-229235">
              <a:lnSpc>
                <a:spcPct val="100000"/>
              </a:lnSpc>
              <a:spcBef>
                <a:spcPts val="580"/>
              </a:spcBef>
              <a:buFont typeface="Arial MT"/>
              <a:buChar char="–"/>
              <a:tabLst>
                <a:tab pos="1613535" algn="l"/>
              </a:tabLst>
            </a:pPr>
            <a:r>
              <a:rPr sz="2400" spc="-5" dirty="0">
                <a:latin typeface="Calibri"/>
                <a:cs typeface="Calibri"/>
              </a:rPr>
              <a:t>Easier</a:t>
            </a:r>
            <a:r>
              <a:rPr sz="2400" spc="-50" dirty="0">
                <a:latin typeface="Calibri"/>
                <a:cs typeface="Calibri"/>
              </a:rPr>
              <a:t> </a:t>
            </a:r>
            <a:r>
              <a:rPr sz="2400" spc="-15" dirty="0">
                <a:latin typeface="Calibri"/>
                <a:cs typeface="Calibri"/>
              </a:rPr>
              <a:t>to</a:t>
            </a:r>
            <a:r>
              <a:rPr sz="2400" spc="-40" dirty="0">
                <a:latin typeface="Calibri"/>
                <a:cs typeface="Calibri"/>
              </a:rPr>
              <a:t> </a:t>
            </a:r>
            <a:r>
              <a:rPr sz="2400" spc="-10" dirty="0">
                <a:latin typeface="Calibri"/>
                <a:cs typeface="Calibri"/>
              </a:rPr>
              <a:t>secure</a:t>
            </a:r>
            <a:endParaRPr sz="2400">
              <a:latin typeface="Calibri"/>
              <a:cs typeface="Calibri"/>
            </a:endParaRPr>
          </a:p>
          <a:p>
            <a:pPr marL="1612900" lvl="3" indent="-229235">
              <a:lnSpc>
                <a:spcPct val="100000"/>
              </a:lnSpc>
              <a:spcBef>
                <a:spcPts val="575"/>
              </a:spcBef>
              <a:buFont typeface="Arial MT"/>
              <a:buChar char="–"/>
              <a:tabLst>
                <a:tab pos="1613535" algn="l"/>
              </a:tabLst>
            </a:pPr>
            <a:r>
              <a:rPr sz="2400" spc="-5" dirty="0">
                <a:latin typeface="Calibri"/>
                <a:cs typeface="Calibri"/>
              </a:rPr>
              <a:t>Increased</a:t>
            </a:r>
            <a:r>
              <a:rPr sz="2400" spc="-35" dirty="0">
                <a:latin typeface="Calibri"/>
                <a:cs typeface="Calibri"/>
              </a:rPr>
              <a:t> </a:t>
            </a:r>
            <a:r>
              <a:rPr sz="2400" spc="-15" dirty="0">
                <a:latin typeface="Calibri"/>
                <a:cs typeface="Calibri"/>
              </a:rPr>
              <a:t>data</a:t>
            </a:r>
            <a:r>
              <a:rPr sz="2400" spc="-30" dirty="0">
                <a:latin typeface="Calibri"/>
                <a:cs typeface="Calibri"/>
              </a:rPr>
              <a:t> </a:t>
            </a:r>
            <a:r>
              <a:rPr sz="2400" spc="-10" dirty="0">
                <a:latin typeface="Calibri"/>
                <a:cs typeface="Calibri"/>
              </a:rPr>
              <a:t>accuracy</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5" dirty="0">
                <a:latin typeface="Calibri"/>
                <a:cs typeface="Calibri"/>
              </a:rPr>
              <a:t>Disadvantages</a:t>
            </a:r>
            <a:endParaRPr sz="2400">
              <a:latin typeface="Calibri"/>
              <a:cs typeface="Calibri"/>
            </a:endParaRPr>
          </a:p>
          <a:p>
            <a:pPr marL="1155700" lvl="2" indent="-229235">
              <a:lnSpc>
                <a:spcPct val="100000"/>
              </a:lnSpc>
              <a:spcBef>
                <a:spcPts val="580"/>
              </a:spcBef>
              <a:buFont typeface="Arial MT"/>
              <a:buChar char="•"/>
              <a:tabLst>
                <a:tab pos="1156335" algn="l"/>
              </a:tabLst>
            </a:pPr>
            <a:r>
              <a:rPr sz="2400" spc="-5" dirty="0">
                <a:latin typeface="Calibri"/>
                <a:cs typeface="Calibri"/>
              </a:rPr>
              <a:t>Increased</a:t>
            </a:r>
            <a:r>
              <a:rPr sz="2400" spc="-25" dirty="0">
                <a:latin typeface="Calibri"/>
                <a:cs typeface="Calibri"/>
              </a:rPr>
              <a:t> </a:t>
            </a:r>
            <a:r>
              <a:rPr sz="2400" spc="-5" dirty="0">
                <a:latin typeface="Calibri"/>
                <a:cs typeface="Calibri"/>
              </a:rPr>
              <a:t>vulnerability</a:t>
            </a:r>
            <a:r>
              <a:rPr sz="2400" spc="-15" dirty="0">
                <a:latin typeface="Calibri"/>
                <a:cs typeface="Calibri"/>
              </a:rPr>
              <a:t> </a:t>
            </a:r>
            <a:r>
              <a:rPr sz="2400" spc="-10" dirty="0">
                <a:latin typeface="Calibri"/>
                <a:cs typeface="Calibri"/>
              </a:rPr>
              <a:t>(backup</a:t>
            </a:r>
            <a:r>
              <a:rPr sz="2400" spc="-25" dirty="0">
                <a:latin typeface="Calibri"/>
                <a:cs typeface="Calibri"/>
              </a:rPr>
              <a:t> </a:t>
            </a:r>
            <a:r>
              <a:rPr sz="2400" dirty="0">
                <a:latin typeface="Calibri"/>
                <a:cs typeface="Calibri"/>
              </a:rPr>
              <a:t>is</a:t>
            </a:r>
            <a:r>
              <a:rPr sz="2400" spc="-5" dirty="0">
                <a:latin typeface="Calibri"/>
                <a:cs typeface="Calibri"/>
              </a:rPr>
              <a:t> essential)</a:t>
            </a:r>
            <a:endParaRPr sz="24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382651"/>
            <a:ext cx="4626610" cy="574040"/>
          </a:xfrm>
          <a:prstGeom prst="rect">
            <a:avLst/>
          </a:prstGeom>
        </p:spPr>
        <p:txBody>
          <a:bodyPr vert="horz" wrap="square" lIns="0" tIns="12700" rIns="0" bIns="0" rtlCol="0">
            <a:spAutoFit/>
          </a:bodyPr>
          <a:lstStyle/>
          <a:p>
            <a:pPr marL="12700">
              <a:lnSpc>
                <a:spcPct val="100000"/>
              </a:lnSpc>
              <a:spcBef>
                <a:spcPts val="100"/>
              </a:spcBef>
            </a:pPr>
            <a:r>
              <a:rPr sz="3600" spc="-5" dirty="0"/>
              <a:t>Inside</a:t>
            </a:r>
            <a:r>
              <a:rPr sz="3600" spc="-20" dirty="0"/>
              <a:t> </a:t>
            </a:r>
            <a:r>
              <a:rPr sz="3600" dirty="0"/>
              <a:t>the</a:t>
            </a:r>
            <a:r>
              <a:rPr sz="3600" spc="-15" dirty="0"/>
              <a:t> </a:t>
            </a:r>
            <a:r>
              <a:rPr sz="3600" spc="-5" dirty="0"/>
              <a:t>Industry</a:t>
            </a:r>
            <a:r>
              <a:rPr sz="3600" spc="-15" dirty="0"/>
              <a:t> </a:t>
            </a:r>
            <a:r>
              <a:rPr sz="3600" spc="-5" dirty="0"/>
              <a:t>Box</a:t>
            </a:r>
            <a:endParaRPr sz="3600"/>
          </a:p>
        </p:txBody>
      </p:sp>
      <p:sp>
        <p:nvSpPr>
          <p:cNvPr id="3" name="object 3"/>
          <p:cNvSpPr txBox="1"/>
          <p:nvPr/>
        </p:nvSpPr>
        <p:spPr>
          <a:xfrm>
            <a:off x="535940" y="1461262"/>
            <a:ext cx="3326765" cy="3098800"/>
          </a:xfrm>
          <a:prstGeom prst="rect">
            <a:avLst/>
          </a:prstGeom>
        </p:spPr>
        <p:txBody>
          <a:bodyPr vert="horz" wrap="square" lIns="0" tIns="85725" rIns="0" bIns="0" rtlCol="0">
            <a:spAutoFit/>
          </a:bodyPr>
          <a:lstStyle/>
          <a:p>
            <a:pPr marL="12700">
              <a:lnSpc>
                <a:spcPct val="100000"/>
              </a:lnSpc>
              <a:spcBef>
                <a:spcPts val="675"/>
              </a:spcBef>
            </a:pPr>
            <a:r>
              <a:rPr sz="2400" b="1" dirty="0">
                <a:latin typeface="Calibri"/>
                <a:cs typeface="Calibri"/>
              </a:rPr>
              <a:t>File</a:t>
            </a:r>
            <a:r>
              <a:rPr sz="2400" b="1" spc="-55" dirty="0">
                <a:latin typeface="Calibri"/>
                <a:cs typeface="Calibri"/>
              </a:rPr>
              <a:t> </a:t>
            </a:r>
            <a:r>
              <a:rPr sz="2400" b="1" spc="-10" dirty="0">
                <a:latin typeface="Calibri"/>
                <a:cs typeface="Calibri"/>
              </a:rPr>
              <a:t>Management</a:t>
            </a:r>
            <a:r>
              <a:rPr sz="2400" b="1" spc="-25" dirty="0">
                <a:latin typeface="Calibri"/>
                <a:cs typeface="Calibri"/>
              </a:rPr>
              <a:t> </a:t>
            </a:r>
            <a:r>
              <a:rPr sz="2400" b="1" spc="-15" dirty="0">
                <a:latin typeface="Calibri"/>
                <a:cs typeface="Calibri"/>
              </a:rPr>
              <a:t>Systems</a:t>
            </a:r>
            <a:endParaRPr sz="2400">
              <a:latin typeface="Calibri"/>
              <a:cs typeface="Calibri"/>
            </a:endParaRPr>
          </a:p>
          <a:p>
            <a:pPr marL="756285" marR="1093470" indent="-287020">
              <a:lnSpc>
                <a:spcPct val="100000"/>
              </a:lnSpc>
              <a:spcBef>
                <a:spcPts val="575"/>
              </a:spcBef>
            </a:pPr>
            <a:r>
              <a:rPr sz="2400" dirty="0">
                <a:latin typeface="Arial MT"/>
                <a:cs typeface="Arial MT"/>
              </a:rPr>
              <a:t>–</a:t>
            </a:r>
            <a:r>
              <a:rPr sz="2400" spc="5" dirty="0">
                <a:latin typeface="Arial MT"/>
                <a:cs typeface="Arial MT"/>
              </a:rPr>
              <a:t> </a:t>
            </a:r>
            <a:r>
              <a:rPr sz="2400" spc="-35" dirty="0">
                <a:latin typeface="Calibri"/>
                <a:cs typeface="Calibri"/>
              </a:rPr>
              <a:t>Tables </a:t>
            </a:r>
            <a:r>
              <a:rPr sz="2400" spc="-15" dirty="0">
                <a:latin typeface="Calibri"/>
                <a:cs typeface="Calibri"/>
              </a:rPr>
              <a:t>are </a:t>
            </a:r>
            <a:r>
              <a:rPr sz="2400" spc="-10" dirty="0">
                <a:latin typeface="Calibri"/>
                <a:cs typeface="Calibri"/>
              </a:rPr>
              <a:t> </a:t>
            </a:r>
            <a:r>
              <a:rPr sz="2400" spc="-5" dirty="0">
                <a:latin typeface="Calibri"/>
                <a:cs typeface="Calibri"/>
              </a:rPr>
              <a:t>not </a:t>
            </a:r>
            <a:r>
              <a:rPr sz="2400" spc="-15" dirty="0">
                <a:latin typeface="Calibri"/>
                <a:cs typeface="Calibri"/>
              </a:rPr>
              <a:t>related </a:t>
            </a:r>
            <a:r>
              <a:rPr sz="2400" spc="-10" dirty="0">
                <a:latin typeface="Calibri"/>
                <a:cs typeface="Calibri"/>
              </a:rPr>
              <a:t> </a:t>
            </a:r>
            <a:r>
              <a:rPr sz="2400" spc="-5" dirty="0">
                <a:latin typeface="Calibri"/>
                <a:cs typeface="Calibri"/>
              </a:rPr>
              <a:t>so </a:t>
            </a:r>
            <a:r>
              <a:rPr sz="2400" spc="-10" dirty="0">
                <a:latin typeface="Calibri"/>
                <a:cs typeface="Calibri"/>
              </a:rPr>
              <a:t>more </a:t>
            </a:r>
            <a:r>
              <a:rPr sz="2400" spc="-5" dirty="0">
                <a:latin typeface="Calibri"/>
                <a:cs typeface="Calibri"/>
              </a:rPr>
              <a:t> </a:t>
            </a:r>
            <a:r>
              <a:rPr sz="2400" dirty="0">
                <a:latin typeface="Calibri"/>
                <a:cs typeface="Calibri"/>
              </a:rPr>
              <a:t>time- </a:t>
            </a:r>
            <a:r>
              <a:rPr sz="2400" spc="5" dirty="0">
                <a:latin typeface="Calibri"/>
                <a:cs typeface="Calibri"/>
              </a:rPr>
              <a:t> </a:t>
            </a:r>
            <a:r>
              <a:rPr sz="2400" spc="-10" dirty="0">
                <a:latin typeface="Calibri"/>
                <a:cs typeface="Calibri"/>
              </a:rPr>
              <a:t>consuming </a:t>
            </a:r>
            <a:r>
              <a:rPr sz="2400" spc="-5" dirty="0">
                <a:latin typeface="Calibri"/>
                <a:cs typeface="Calibri"/>
              </a:rPr>
              <a:t> </a:t>
            </a:r>
            <a:r>
              <a:rPr sz="2400" dirty="0">
                <a:latin typeface="Calibri"/>
                <a:cs typeface="Calibri"/>
              </a:rPr>
              <a:t>and </a:t>
            </a:r>
            <a:r>
              <a:rPr sz="2400" spc="-10" dirty="0">
                <a:latin typeface="Calibri"/>
                <a:cs typeface="Calibri"/>
              </a:rPr>
              <a:t>more </a:t>
            </a:r>
            <a:r>
              <a:rPr sz="2400" spc="-5" dirty="0">
                <a:latin typeface="Calibri"/>
                <a:cs typeface="Calibri"/>
              </a:rPr>
              <a:t> </a:t>
            </a:r>
            <a:r>
              <a:rPr sz="2400" spc="-35" dirty="0">
                <a:latin typeface="Calibri"/>
                <a:cs typeface="Calibri"/>
              </a:rPr>
              <a:t>r</a:t>
            </a:r>
            <a:r>
              <a:rPr sz="2400" dirty="0">
                <a:latin typeface="Calibri"/>
                <a:cs typeface="Calibri"/>
              </a:rPr>
              <a:t>edund</a:t>
            </a:r>
            <a:r>
              <a:rPr sz="2400" spc="5" dirty="0">
                <a:latin typeface="Calibri"/>
                <a:cs typeface="Calibri"/>
              </a:rPr>
              <a:t>a</a:t>
            </a:r>
            <a:r>
              <a:rPr sz="2400" spc="-5" dirty="0">
                <a:latin typeface="Calibri"/>
                <a:cs typeface="Calibri"/>
              </a:rPr>
              <a:t>ncy</a:t>
            </a:r>
            <a:endParaRPr sz="2400">
              <a:latin typeface="Calibri"/>
              <a:cs typeface="Calibri"/>
            </a:endParaRPr>
          </a:p>
        </p:txBody>
      </p:sp>
      <p:pic>
        <p:nvPicPr>
          <p:cNvPr id="4" name="object 4"/>
          <p:cNvPicPr/>
          <p:nvPr/>
        </p:nvPicPr>
        <p:blipFill>
          <a:blip r:embed="rId2" cstate="print"/>
          <a:stretch>
            <a:fillRect/>
          </a:stretch>
        </p:blipFill>
        <p:spPr>
          <a:xfrm>
            <a:off x="2878582" y="1995385"/>
            <a:ext cx="6157849" cy="4313936"/>
          </a:xfrm>
          <a:prstGeom prst="rect">
            <a:avLst/>
          </a:prstGeom>
        </p:spPr>
      </p:pic>
      <p:sp>
        <p:nvSpPr>
          <p:cNvPr id="5" name="object 5"/>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6" name="object 6"/>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11</a:t>
            </a:fld>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125210"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25" dirty="0"/>
              <a:t> </a:t>
            </a:r>
            <a:r>
              <a:rPr spc="-5" dirty="0"/>
              <a:t>Concepts</a:t>
            </a:r>
            <a:r>
              <a:rPr spc="5" dirty="0"/>
              <a:t> </a:t>
            </a:r>
            <a:r>
              <a:rPr dirty="0"/>
              <a:t>and</a:t>
            </a:r>
            <a:r>
              <a:rPr spc="-20" dirty="0"/>
              <a:t> </a:t>
            </a:r>
            <a:r>
              <a:rPr spc="-5" dirty="0"/>
              <a:t>Characteristics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12</a:t>
            </a:fld>
            <a:endParaRPr dirty="0"/>
          </a:p>
        </p:txBody>
      </p:sp>
      <p:sp>
        <p:nvSpPr>
          <p:cNvPr id="3" name="object 3"/>
          <p:cNvSpPr txBox="1"/>
          <p:nvPr/>
        </p:nvSpPr>
        <p:spPr>
          <a:xfrm>
            <a:off x="535940" y="1461262"/>
            <a:ext cx="5332730" cy="3977004"/>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spc="-15" dirty="0">
                <a:latin typeface="Calibri"/>
                <a:cs typeface="Calibri"/>
              </a:rPr>
              <a:t>Data</a:t>
            </a:r>
            <a:r>
              <a:rPr sz="2400" spc="-65" dirty="0">
                <a:latin typeface="Calibri"/>
                <a:cs typeface="Calibri"/>
              </a:rPr>
              <a:t> </a:t>
            </a:r>
            <a:r>
              <a:rPr sz="2400" spc="-15" dirty="0">
                <a:latin typeface="Calibri"/>
                <a:cs typeface="Calibri"/>
              </a:rPr>
              <a:t>Hierarchy</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0" dirty="0">
                <a:latin typeface="Calibri"/>
                <a:cs typeface="Calibri"/>
              </a:rPr>
              <a:t>Fields/columns</a:t>
            </a:r>
            <a:endParaRPr sz="2400">
              <a:latin typeface="Calibri"/>
              <a:cs typeface="Calibri"/>
            </a:endParaRPr>
          </a:p>
          <a:p>
            <a:pPr marL="1155700" lvl="2" indent="-229235">
              <a:lnSpc>
                <a:spcPct val="100000"/>
              </a:lnSpc>
              <a:spcBef>
                <a:spcPts val="580"/>
              </a:spcBef>
              <a:buFont typeface="Arial MT"/>
              <a:buChar char="•"/>
              <a:tabLst>
                <a:tab pos="1156335" algn="l"/>
              </a:tabLst>
            </a:pPr>
            <a:r>
              <a:rPr sz="2400" spc="-5" dirty="0">
                <a:latin typeface="Calibri"/>
                <a:cs typeface="Calibri"/>
              </a:rPr>
              <a:t>Hold</a:t>
            </a:r>
            <a:r>
              <a:rPr sz="2400" spc="-30" dirty="0">
                <a:latin typeface="Calibri"/>
                <a:cs typeface="Calibri"/>
              </a:rPr>
              <a:t> </a:t>
            </a:r>
            <a:r>
              <a:rPr sz="2400" spc="-5" dirty="0">
                <a:latin typeface="Calibri"/>
                <a:cs typeface="Calibri"/>
              </a:rPr>
              <a:t>single</a:t>
            </a:r>
            <a:r>
              <a:rPr sz="2400" spc="-10" dirty="0">
                <a:latin typeface="Calibri"/>
                <a:cs typeface="Calibri"/>
              </a:rPr>
              <a:t> </a:t>
            </a:r>
            <a:r>
              <a:rPr sz="2400" spc="-5" dirty="0">
                <a:latin typeface="Calibri"/>
                <a:cs typeface="Calibri"/>
              </a:rPr>
              <a:t>pieces</a:t>
            </a:r>
            <a:r>
              <a:rPr sz="2400" spc="-25" dirty="0">
                <a:latin typeface="Calibri"/>
                <a:cs typeface="Calibri"/>
              </a:rPr>
              <a:t> </a:t>
            </a:r>
            <a:r>
              <a:rPr sz="2400" spc="-5" dirty="0">
                <a:latin typeface="Calibri"/>
                <a:cs typeface="Calibri"/>
              </a:rPr>
              <a:t>of</a:t>
            </a:r>
            <a:r>
              <a:rPr sz="2400" spc="-25" dirty="0">
                <a:latin typeface="Calibri"/>
                <a:cs typeface="Calibri"/>
              </a:rPr>
              <a:t> </a:t>
            </a:r>
            <a:r>
              <a:rPr sz="2400" spc="-15" dirty="0">
                <a:latin typeface="Calibri"/>
                <a:cs typeface="Calibri"/>
              </a:rPr>
              <a:t>data</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20" dirty="0">
                <a:latin typeface="Calibri"/>
                <a:cs typeface="Calibri"/>
              </a:rPr>
              <a:t>Records/rows</a:t>
            </a:r>
            <a:endParaRPr sz="2400">
              <a:latin typeface="Calibri"/>
              <a:cs typeface="Calibri"/>
            </a:endParaRPr>
          </a:p>
          <a:p>
            <a:pPr marL="1155700" lvl="2" indent="-229235">
              <a:lnSpc>
                <a:spcPct val="100000"/>
              </a:lnSpc>
              <a:spcBef>
                <a:spcPts val="575"/>
              </a:spcBef>
              <a:buFont typeface="Arial MT"/>
              <a:buChar char="•"/>
              <a:tabLst>
                <a:tab pos="1156335" algn="l"/>
              </a:tabLst>
            </a:pPr>
            <a:r>
              <a:rPr sz="2400" spc="-15" dirty="0">
                <a:latin typeface="Calibri"/>
                <a:cs typeface="Calibri"/>
              </a:rPr>
              <a:t>Groups</a:t>
            </a:r>
            <a:r>
              <a:rPr sz="2400" spc="-30" dirty="0">
                <a:latin typeface="Calibri"/>
                <a:cs typeface="Calibri"/>
              </a:rPr>
              <a:t> </a:t>
            </a:r>
            <a:r>
              <a:rPr sz="2400" spc="-5" dirty="0">
                <a:latin typeface="Calibri"/>
                <a:cs typeface="Calibri"/>
              </a:rPr>
              <a:t>of</a:t>
            </a:r>
            <a:r>
              <a:rPr sz="2400" spc="-15" dirty="0">
                <a:latin typeface="Calibri"/>
                <a:cs typeface="Calibri"/>
              </a:rPr>
              <a:t> related</a:t>
            </a:r>
            <a:r>
              <a:rPr sz="2400" spc="-20" dirty="0">
                <a:latin typeface="Calibri"/>
                <a:cs typeface="Calibri"/>
              </a:rPr>
              <a:t> </a:t>
            </a:r>
            <a:r>
              <a:rPr sz="2400" spc="-5" dirty="0">
                <a:latin typeface="Calibri"/>
                <a:cs typeface="Calibri"/>
              </a:rPr>
              <a:t>fields</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35" dirty="0">
                <a:latin typeface="Calibri"/>
                <a:cs typeface="Calibri"/>
              </a:rPr>
              <a:t>Tables</a:t>
            </a:r>
            <a:endParaRPr sz="2400">
              <a:latin typeface="Calibri"/>
              <a:cs typeface="Calibri"/>
            </a:endParaRPr>
          </a:p>
          <a:p>
            <a:pPr marL="1155700" lvl="2" indent="-229235">
              <a:lnSpc>
                <a:spcPct val="100000"/>
              </a:lnSpc>
              <a:spcBef>
                <a:spcPts val="575"/>
              </a:spcBef>
              <a:buFont typeface="Arial MT"/>
              <a:buChar char="•"/>
              <a:tabLst>
                <a:tab pos="1156335" algn="l"/>
              </a:tabLst>
            </a:pPr>
            <a:r>
              <a:rPr sz="2400" spc="-5" dirty="0">
                <a:latin typeface="Calibri"/>
                <a:cs typeface="Calibri"/>
              </a:rPr>
              <a:t>Collection</a:t>
            </a:r>
            <a:r>
              <a:rPr sz="2400" spc="-55" dirty="0">
                <a:latin typeface="Calibri"/>
                <a:cs typeface="Calibri"/>
              </a:rPr>
              <a:t> </a:t>
            </a:r>
            <a:r>
              <a:rPr sz="2400" spc="-5" dirty="0">
                <a:latin typeface="Calibri"/>
                <a:cs typeface="Calibri"/>
              </a:rPr>
              <a:t>of</a:t>
            </a:r>
            <a:r>
              <a:rPr sz="2400" spc="-15" dirty="0">
                <a:latin typeface="Calibri"/>
                <a:cs typeface="Calibri"/>
              </a:rPr>
              <a:t> related records</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0" dirty="0">
                <a:latin typeface="Calibri"/>
                <a:cs typeface="Calibri"/>
              </a:rPr>
              <a:t>Database</a:t>
            </a:r>
            <a:endParaRPr sz="2400">
              <a:latin typeface="Calibri"/>
              <a:cs typeface="Calibri"/>
            </a:endParaRPr>
          </a:p>
          <a:p>
            <a:pPr marL="1155700" lvl="2" indent="-229235">
              <a:lnSpc>
                <a:spcPct val="100000"/>
              </a:lnSpc>
              <a:spcBef>
                <a:spcPts val="580"/>
              </a:spcBef>
              <a:buFont typeface="Arial MT"/>
              <a:buChar char="•"/>
              <a:tabLst>
                <a:tab pos="1156335" algn="l"/>
              </a:tabLst>
            </a:pPr>
            <a:r>
              <a:rPr sz="2400" spc="-10" dirty="0">
                <a:latin typeface="Calibri"/>
                <a:cs typeface="Calibri"/>
              </a:rPr>
              <a:t>Contains</a:t>
            </a:r>
            <a:r>
              <a:rPr sz="2400" spc="-40" dirty="0">
                <a:latin typeface="Calibri"/>
                <a:cs typeface="Calibri"/>
              </a:rPr>
              <a:t> </a:t>
            </a:r>
            <a:r>
              <a:rPr sz="2400" dirty="0">
                <a:latin typeface="Calibri"/>
                <a:cs typeface="Calibri"/>
              </a:rPr>
              <a:t>a</a:t>
            </a:r>
            <a:r>
              <a:rPr sz="2400" spc="-25" dirty="0">
                <a:latin typeface="Calibri"/>
                <a:cs typeface="Calibri"/>
              </a:rPr>
              <a:t> </a:t>
            </a:r>
            <a:r>
              <a:rPr sz="2400" spc="-10" dirty="0">
                <a:latin typeface="Calibri"/>
                <a:cs typeface="Calibri"/>
              </a:rPr>
              <a:t>group</a:t>
            </a:r>
            <a:r>
              <a:rPr sz="2400" spc="-15" dirty="0">
                <a:latin typeface="Calibri"/>
                <a:cs typeface="Calibri"/>
              </a:rPr>
              <a:t> </a:t>
            </a:r>
            <a:r>
              <a:rPr sz="2400" spc="-10" dirty="0">
                <a:latin typeface="Calibri"/>
                <a:cs typeface="Calibri"/>
              </a:rPr>
              <a:t>of</a:t>
            </a:r>
            <a:r>
              <a:rPr sz="2400" dirty="0">
                <a:latin typeface="Calibri"/>
                <a:cs typeface="Calibri"/>
              </a:rPr>
              <a:t> </a:t>
            </a:r>
            <a:r>
              <a:rPr sz="2400" spc="-15" dirty="0">
                <a:latin typeface="Calibri"/>
                <a:cs typeface="Calibri"/>
              </a:rPr>
              <a:t>related</a:t>
            </a:r>
            <a:r>
              <a:rPr sz="2400" spc="-20" dirty="0">
                <a:latin typeface="Calibri"/>
                <a:cs typeface="Calibri"/>
              </a:rPr>
              <a:t> </a:t>
            </a:r>
            <a:r>
              <a:rPr sz="2400" spc="-5" dirty="0">
                <a:latin typeface="Calibri"/>
                <a:cs typeface="Calibri"/>
              </a:rPr>
              <a:t>tables</a:t>
            </a:r>
            <a:endParaRPr sz="24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125210"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25" dirty="0"/>
              <a:t> </a:t>
            </a:r>
            <a:r>
              <a:rPr spc="-5" dirty="0"/>
              <a:t>Concepts</a:t>
            </a:r>
            <a:r>
              <a:rPr spc="5" dirty="0"/>
              <a:t> </a:t>
            </a:r>
            <a:r>
              <a:rPr dirty="0"/>
              <a:t>and</a:t>
            </a:r>
            <a:r>
              <a:rPr spc="-20" dirty="0"/>
              <a:t> </a:t>
            </a:r>
            <a:r>
              <a:rPr spc="-5" dirty="0"/>
              <a:t>Characteristics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13</a:t>
            </a:fld>
            <a:endParaRPr dirty="0"/>
          </a:p>
        </p:txBody>
      </p:sp>
      <p:sp>
        <p:nvSpPr>
          <p:cNvPr id="3" name="object 3"/>
          <p:cNvSpPr txBox="1"/>
          <p:nvPr/>
        </p:nvSpPr>
        <p:spPr>
          <a:xfrm>
            <a:off x="535940" y="1461262"/>
            <a:ext cx="7984490" cy="4708525"/>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spc="-5" dirty="0">
                <a:latin typeface="Calibri"/>
                <a:cs typeface="Calibri"/>
              </a:rPr>
              <a:t>Entities</a:t>
            </a:r>
            <a:r>
              <a:rPr sz="2400" spc="-35" dirty="0">
                <a:latin typeface="Calibri"/>
                <a:cs typeface="Calibri"/>
              </a:rPr>
              <a:t> </a:t>
            </a:r>
            <a:r>
              <a:rPr sz="2400" dirty="0">
                <a:latin typeface="Calibri"/>
                <a:cs typeface="Calibri"/>
              </a:rPr>
              <a:t>and</a:t>
            </a:r>
            <a:r>
              <a:rPr sz="2400" spc="-10" dirty="0">
                <a:latin typeface="Calibri"/>
                <a:cs typeface="Calibri"/>
              </a:rPr>
              <a:t> </a:t>
            </a:r>
            <a:r>
              <a:rPr sz="2400" spc="-5" dirty="0">
                <a:latin typeface="Calibri"/>
                <a:cs typeface="Calibri"/>
              </a:rPr>
              <a:t>Entity</a:t>
            </a:r>
            <a:r>
              <a:rPr sz="2400" spc="-15" dirty="0">
                <a:latin typeface="Calibri"/>
                <a:cs typeface="Calibri"/>
              </a:rPr>
              <a:t> </a:t>
            </a:r>
            <a:r>
              <a:rPr sz="2400" spc="-10" dirty="0">
                <a:latin typeface="Calibri"/>
                <a:cs typeface="Calibri"/>
              </a:rPr>
              <a:t>Relationships</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5" dirty="0">
                <a:latin typeface="Calibri"/>
                <a:cs typeface="Calibri"/>
              </a:rPr>
              <a:t>Entity</a:t>
            </a:r>
            <a:endParaRPr sz="2400">
              <a:latin typeface="Calibri"/>
              <a:cs typeface="Calibri"/>
            </a:endParaRPr>
          </a:p>
          <a:p>
            <a:pPr marL="1155700" lvl="2" indent="-229235">
              <a:lnSpc>
                <a:spcPct val="100000"/>
              </a:lnSpc>
              <a:spcBef>
                <a:spcPts val="580"/>
              </a:spcBef>
              <a:buFont typeface="Arial MT"/>
              <a:buChar char="•"/>
              <a:tabLst>
                <a:tab pos="1156335" algn="l"/>
              </a:tabLst>
            </a:pPr>
            <a:r>
              <a:rPr sz="2400" dirty="0">
                <a:latin typeface="Calibri"/>
                <a:cs typeface="Calibri"/>
              </a:rPr>
              <a:t>A</a:t>
            </a:r>
            <a:r>
              <a:rPr sz="2400" spc="-30" dirty="0">
                <a:latin typeface="Calibri"/>
                <a:cs typeface="Calibri"/>
              </a:rPr>
              <a:t> </a:t>
            </a:r>
            <a:r>
              <a:rPr sz="2400" spc="-10" dirty="0">
                <a:latin typeface="Calibri"/>
                <a:cs typeface="Calibri"/>
              </a:rPr>
              <a:t>person,</a:t>
            </a:r>
            <a:r>
              <a:rPr sz="2400" spc="-5" dirty="0">
                <a:latin typeface="Calibri"/>
                <a:cs typeface="Calibri"/>
              </a:rPr>
              <a:t> object,</a:t>
            </a:r>
            <a:r>
              <a:rPr sz="2400" dirty="0">
                <a:latin typeface="Calibri"/>
                <a:cs typeface="Calibri"/>
              </a:rPr>
              <a:t> </a:t>
            </a:r>
            <a:r>
              <a:rPr sz="2400" spc="-10" dirty="0">
                <a:latin typeface="Calibri"/>
                <a:cs typeface="Calibri"/>
              </a:rPr>
              <a:t>or</a:t>
            </a:r>
            <a:r>
              <a:rPr sz="2400" spc="-15" dirty="0">
                <a:latin typeface="Calibri"/>
                <a:cs typeface="Calibri"/>
              </a:rPr>
              <a:t> event</a:t>
            </a:r>
            <a:r>
              <a:rPr sz="2400" spc="5" dirty="0">
                <a:latin typeface="Calibri"/>
                <a:cs typeface="Calibri"/>
              </a:rPr>
              <a:t> </a:t>
            </a:r>
            <a:r>
              <a:rPr sz="2400" spc="-5" dirty="0">
                <a:latin typeface="Calibri"/>
                <a:cs typeface="Calibri"/>
              </a:rPr>
              <a:t>of</a:t>
            </a:r>
            <a:r>
              <a:rPr sz="2400" spc="-20" dirty="0">
                <a:latin typeface="Calibri"/>
                <a:cs typeface="Calibri"/>
              </a:rPr>
              <a:t> </a:t>
            </a:r>
            <a:r>
              <a:rPr sz="2400" spc="-5" dirty="0">
                <a:latin typeface="Calibri"/>
                <a:cs typeface="Calibri"/>
              </a:rPr>
              <a:t>importance</a:t>
            </a:r>
            <a:r>
              <a:rPr sz="2400" spc="-25" dirty="0">
                <a:latin typeface="Calibri"/>
                <a:cs typeface="Calibri"/>
              </a:rPr>
              <a:t> </a:t>
            </a:r>
            <a:r>
              <a:rPr sz="2400" spc="-15" dirty="0">
                <a:latin typeface="Calibri"/>
                <a:cs typeface="Calibri"/>
              </a:rPr>
              <a:t>to </a:t>
            </a:r>
            <a:r>
              <a:rPr sz="2400" dirty="0">
                <a:latin typeface="Calibri"/>
                <a:cs typeface="Calibri"/>
              </a:rPr>
              <a:t>the</a:t>
            </a:r>
            <a:endParaRPr sz="2400">
              <a:latin typeface="Calibri"/>
              <a:cs typeface="Calibri"/>
            </a:endParaRPr>
          </a:p>
          <a:p>
            <a:pPr marL="1155700">
              <a:lnSpc>
                <a:spcPct val="100000"/>
              </a:lnSpc>
            </a:pPr>
            <a:r>
              <a:rPr sz="2400" spc="-15" dirty="0">
                <a:latin typeface="Calibri"/>
                <a:cs typeface="Calibri"/>
              </a:rPr>
              <a:t>organization</a:t>
            </a:r>
            <a:endParaRPr sz="2400">
              <a:latin typeface="Calibri"/>
              <a:cs typeface="Calibri"/>
            </a:endParaRPr>
          </a:p>
          <a:p>
            <a:pPr marL="1155700" marR="5080" lvl="2" indent="-228600">
              <a:lnSpc>
                <a:spcPct val="100000"/>
              </a:lnSpc>
              <a:spcBef>
                <a:spcPts val="575"/>
              </a:spcBef>
              <a:buFont typeface="Arial MT"/>
              <a:buChar char="•"/>
              <a:tabLst>
                <a:tab pos="1156335" algn="l"/>
              </a:tabLst>
            </a:pPr>
            <a:r>
              <a:rPr sz="2400" spc="-5" dirty="0">
                <a:latin typeface="Calibri"/>
                <a:cs typeface="Calibri"/>
              </a:rPr>
              <a:t>Entities</a:t>
            </a:r>
            <a:r>
              <a:rPr sz="2400" spc="-25" dirty="0">
                <a:latin typeface="Calibri"/>
                <a:cs typeface="Calibri"/>
              </a:rPr>
              <a:t> </a:t>
            </a:r>
            <a:r>
              <a:rPr sz="2400" spc="-10" dirty="0">
                <a:latin typeface="Calibri"/>
                <a:cs typeface="Calibri"/>
              </a:rPr>
              <a:t>that</a:t>
            </a:r>
            <a:r>
              <a:rPr sz="2400" spc="-15" dirty="0">
                <a:latin typeface="Calibri"/>
                <a:cs typeface="Calibri"/>
              </a:rPr>
              <a:t> </a:t>
            </a:r>
            <a:r>
              <a:rPr sz="2400" dirty="0">
                <a:latin typeface="Calibri"/>
                <a:cs typeface="Calibri"/>
              </a:rPr>
              <a:t>the </a:t>
            </a:r>
            <a:r>
              <a:rPr sz="2400" spc="-15" dirty="0">
                <a:latin typeface="Calibri"/>
                <a:cs typeface="Calibri"/>
              </a:rPr>
              <a:t>organization</a:t>
            </a:r>
            <a:r>
              <a:rPr sz="2400" dirty="0">
                <a:latin typeface="Calibri"/>
                <a:cs typeface="Calibri"/>
              </a:rPr>
              <a:t> </a:t>
            </a:r>
            <a:r>
              <a:rPr sz="2400" spc="-15" dirty="0">
                <a:latin typeface="Calibri"/>
                <a:cs typeface="Calibri"/>
              </a:rPr>
              <a:t>wants</a:t>
            </a:r>
            <a:r>
              <a:rPr sz="2400" spc="-20" dirty="0">
                <a:latin typeface="Calibri"/>
                <a:cs typeface="Calibri"/>
              </a:rPr>
              <a:t> </a:t>
            </a:r>
            <a:r>
              <a:rPr sz="2400" spc="-15" dirty="0">
                <a:latin typeface="Calibri"/>
                <a:cs typeface="Calibri"/>
              </a:rPr>
              <a:t>to</a:t>
            </a:r>
            <a:r>
              <a:rPr sz="2400" spc="-5" dirty="0">
                <a:latin typeface="Calibri"/>
                <a:cs typeface="Calibri"/>
              </a:rPr>
              <a:t> </a:t>
            </a:r>
            <a:r>
              <a:rPr sz="2400" spc="-25" dirty="0">
                <a:latin typeface="Calibri"/>
                <a:cs typeface="Calibri"/>
              </a:rPr>
              <a:t>store</a:t>
            </a:r>
            <a:r>
              <a:rPr sz="2400" spc="-10" dirty="0">
                <a:latin typeface="Calibri"/>
                <a:cs typeface="Calibri"/>
              </a:rPr>
              <a:t> </a:t>
            </a:r>
            <a:r>
              <a:rPr sz="2400" spc="-15" dirty="0">
                <a:latin typeface="Calibri"/>
                <a:cs typeface="Calibri"/>
              </a:rPr>
              <a:t>data </a:t>
            </a:r>
            <a:r>
              <a:rPr sz="2400" dirty="0">
                <a:latin typeface="Calibri"/>
                <a:cs typeface="Calibri"/>
              </a:rPr>
              <a:t>about </a:t>
            </a:r>
            <a:r>
              <a:rPr sz="2400" spc="-530" dirty="0">
                <a:latin typeface="Calibri"/>
                <a:cs typeface="Calibri"/>
              </a:rPr>
              <a:t> </a:t>
            </a:r>
            <a:r>
              <a:rPr sz="2400" spc="-5" dirty="0">
                <a:latin typeface="Calibri"/>
                <a:cs typeface="Calibri"/>
              </a:rPr>
              <a:t>typically</a:t>
            </a:r>
            <a:r>
              <a:rPr sz="2400" spc="-40" dirty="0">
                <a:latin typeface="Calibri"/>
                <a:cs typeface="Calibri"/>
              </a:rPr>
              <a:t> </a:t>
            </a:r>
            <a:r>
              <a:rPr sz="2400" spc="-10" dirty="0">
                <a:latin typeface="Calibri"/>
                <a:cs typeface="Calibri"/>
              </a:rPr>
              <a:t>becomes</a:t>
            </a:r>
            <a:r>
              <a:rPr sz="2400" spc="-25" dirty="0">
                <a:latin typeface="Calibri"/>
                <a:cs typeface="Calibri"/>
              </a:rPr>
              <a:t> </a:t>
            </a:r>
            <a:r>
              <a:rPr sz="2400" dirty="0">
                <a:latin typeface="Calibri"/>
                <a:cs typeface="Calibri"/>
              </a:rPr>
              <a:t>a </a:t>
            </a:r>
            <a:r>
              <a:rPr sz="2400" spc="-10" dirty="0">
                <a:latin typeface="Calibri"/>
                <a:cs typeface="Calibri"/>
              </a:rPr>
              <a:t>database</a:t>
            </a:r>
            <a:r>
              <a:rPr sz="2400" spc="-15" dirty="0">
                <a:latin typeface="Calibri"/>
                <a:cs typeface="Calibri"/>
              </a:rPr>
              <a:t> </a:t>
            </a:r>
            <a:r>
              <a:rPr sz="2400" spc="-5" dirty="0">
                <a:latin typeface="Calibri"/>
                <a:cs typeface="Calibri"/>
              </a:rPr>
              <a:t>table</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15" dirty="0">
                <a:latin typeface="Calibri"/>
                <a:cs typeface="Calibri"/>
              </a:rPr>
              <a:t>Attributes</a:t>
            </a:r>
            <a:endParaRPr sz="2400">
              <a:latin typeface="Calibri"/>
              <a:cs typeface="Calibri"/>
            </a:endParaRPr>
          </a:p>
          <a:p>
            <a:pPr marL="1155700" lvl="2" indent="-229235">
              <a:lnSpc>
                <a:spcPct val="100000"/>
              </a:lnSpc>
              <a:spcBef>
                <a:spcPts val="575"/>
              </a:spcBef>
              <a:buFont typeface="Arial MT"/>
              <a:buChar char="•"/>
              <a:tabLst>
                <a:tab pos="1156335" algn="l"/>
              </a:tabLst>
            </a:pPr>
            <a:r>
              <a:rPr sz="2400" spc="-10" dirty="0">
                <a:latin typeface="Calibri"/>
                <a:cs typeface="Calibri"/>
              </a:rPr>
              <a:t>Characteristics</a:t>
            </a:r>
            <a:r>
              <a:rPr sz="2400" spc="-70" dirty="0">
                <a:latin typeface="Calibri"/>
                <a:cs typeface="Calibri"/>
              </a:rPr>
              <a:t> </a:t>
            </a:r>
            <a:r>
              <a:rPr sz="2400" spc="-5" dirty="0">
                <a:latin typeface="Calibri"/>
                <a:cs typeface="Calibri"/>
              </a:rPr>
              <a:t>of</a:t>
            </a:r>
            <a:r>
              <a:rPr sz="2400" spc="-15" dirty="0">
                <a:latin typeface="Calibri"/>
                <a:cs typeface="Calibri"/>
              </a:rPr>
              <a:t> </a:t>
            </a:r>
            <a:r>
              <a:rPr sz="2400" dirty="0">
                <a:latin typeface="Calibri"/>
                <a:cs typeface="Calibri"/>
              </a:rPr>
              <a:t>an</a:t>
            </a:r>
            <a:r>
              <a:rPr sz="2400" spc="-20" dirty="0">
                <a:latin typeface="Calibri"/>
                <a:cs typeface="Calibri"/>
              </a:rPr>
              <a:t> </a:t>
            </a:r>
            <a:r>
              <a:rPr sz="2400" spc="-5" dirty="0">
                <a:latin typeface="Calibri"/>
                <a:cs typeface="Calibri"/>
              </a:rPr>
              <a:t>entity</a:t>
            </a:r>
            <a:endParaRPr sz="2400">
              <a:latin typeface="Calibri"/>
              <a:cs typeface="Calibri"/>
            </a:endParaRPr>
          </a:p>
          <a:p>
            <a:pPr marL="1155700" lvl="2" indent="-229235">
              <a:lnSpc>
                <a:spcPct val="100000"/>
              </a:lnSpc>
              <a:spcBef>
                <a:spcPts val="580"/>
              </a:spcBef>
              <a:buFont typeface="Arial MT"/>
              <a:buChar char="•"/>
              <a:tabLst>
                <a:tab pos="1156335" algn="l"/>
              </a:tabLst>
            </a:pPr>
            <a:r>
              <a:rPr sz="2400" spc="-15" dirty="0">
                <a:latin typeface="Calibri"/>
                <a:cs typeface="Calibri"/>
              </a:rPr>
              <a:t>Typically</a:t>
            </a:r>
            <a:r>
              <a:rPr sz="2400" spc="-25" dirty="0">
                <a:latin typeface="Calibri"/>
                <a:cs typeface="Calibri"/>
              </a:rPr>
              <a:t> </a:t>
            </a:r>
            <a:r>
              <a:rPr sz="2400" spc="-10" dirty="0">
                <a:latin typeface="Calibri"/>
                <a:cs typeface="Calibri"/>
              </a:rPr>
              <a:t>become</a:t>
            </a:r>
            <a:r>
              <a:rPr sz="2400" spc="-20" dirty="0">
                <a:latin typeface="Calibri"/>
                <a:cs typeface="Calibri"/>
              </a:rPr>
              <a:t> </a:t>
            </a:r>
            <a:r>
              <a:rPr sz="2400" spc="-5" dirty="0">
                <a:latin typeface="Calibri"/>
                <a:cs typeface="Calibri"/>
              </a:rPr>
              <a:t>fields</a:t>
            </a:r>
            <a:r>
              <a:rPr sz="2400" dirty="0">
                <a:latin typeface="Calibri"/>
                <a:cs typeface="Calibri"/>
              </a:rPr>
              <a:t> in the</a:t>
            </a:r>
            <a:r>
              <a:rPr sz="2400" spc="-10" dirty="0">
                <a:latin typeface="Calibri"/>
                <a:cs typeface="Calibri"/>
              </a:rPr>
              <a:t> </a:t>
            </a:r>
            <a:r>
              <a:rPr sz="2400" spc="-15" dirty="0">
                <a:latin typeface="Calibri"/>
                <a:cs typeface="Calibri"/>
              </a:rPr>
              <a:t>entity’s</a:t>
            </a:r>
            <a:r>
              <a:rPr sz="2400" spc="-20" dirty="0">
                <a:latin typeface="Calibri"/>
                <a:cs typeface="Calibri"/>
              </a:rPr>
              <a:t> </a:t>
            </a:r>
            <a:r>
              <a:rPr sz="2400" spc="-10" dirty="0">
                <a:latin typeface="Calibri"/>
                <a:cs typeface="Calibri"/>
              </a:rPr>
              <a:t>database</a:t>
            </a:r>
            <a:r>
              <a:rPr sz="2400" spc="-15" dirty="0">
                <a:latin typeface="Calibri"/>
                <a:cs typeface="Calibri"/>
              </a:rPr>
              <a:t> </a:t>
            </a:r>
            <a:r>
              <a:rPr sz="2400" spc="-5" dirty="0">
                <a:latin typeface="Calibri"/>
                <a:cs typeface="Calibri"/>
              </a:rPr>
              <a:t>table</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5" dirty="0">
                <a:latin typeface="Calibri"/>
                <a:cs typeface="Calibri"/>
              </a:rPr>
              <a:t>Relationship</a:t>
            </a:r>
            <a:endParaRPr sz="2400">
              <a:latin typeface="Calibri"/>
              <a:cs typeface="Calibri"/>
            </a:endParaRPr>
          </a:p>
          <a:p>
            <a:pPr marL="1155700" lvl="2" indent="-229235">
              <a:lnSpc>
                <a:spcPct val="100000"/>
              </a:lnSpc>
              <a:spcBef>
                <a:spcPts val="575"/>
              </a:spcBef>
              <a:buFont typeface="Arial MT"/>
              <a:buChar char="•"/>
              <a:tabLst>
                <a:tab pos="1156335" algn="l"/>
                <a:tab pos="4234180" algn="l"/>
              </a:tabLst>
            </a:pPr>
            <a:r>
              <a:rPr sz="2400" dirty="0">
                <a:latin typeface="Calibri"/>
                <a:cs typeface="Calibri"/>
              </a:rPr>
              <a:t>An</a:t>
            </a:r>
            <a:r>
              <a:rPr sz="2400" spc="-10" dirty="0">
                <a:latin typeface="Calibri"/>
                <a:cs typeface="Calibri"/>
              </a:rPr>
              <a:t> </a:t>
            </a:r>
            <a:r>
              <a:rPr sz="2400" spc="-5" dirty="0">
                <a:latin typeface="Calibri"/>
                <a:cs typeface="Calibri"/>
              </a:rPr>
              <a:t>association</a:t>
            </a:r>
            <a:r>
              <a:rPr sz="2400" spc="-15" dirty="0">
                <a:latin typeface="Calibri"/>
                <a:cs typeface="Calibri"/>
              </a:rPr>
              <a:t> </a:t>
            </a:r>
            <a:r>
              <a:rPr sz="2400" spc="-5" dirty="0">
                <a:latin typeface="Calibri"/>
                <a:cs typeface="Calibri"/>
              </a:rPr>
              <a:t>between	</a:t>
            </a:r>
            <a:r>
              <a:rPr sz="2400" spc="-10" dirty="0">
                <a:latin typeface="Calibri"/>
                <a:cs typeface="Calibri"/>
              </a:rPr>
              <a:t>two</a:t>
            </a:r>
            <a:r>
              <a:rPr sz="2400" spc="-20" dirty="0">
                <a:latin typeface="Calibri"/>
                <a:cs typeface="Calibri"/>
              </a:rPr>
              <a:t> </a:t>
            </a:r>
            <a:r>
              <a:rPr sz="2400" spc="-10" dirty="0">
                <a:latin typeface="Calibri"/>
                <a:cs typeface="Calibri"/>
              </a:rPr>
              <a:t>or</a:t>
            </a:r>
            <a:r>
              <a:rPr sz="2400" spc="-15" dirty="0">
                <a:latin typeface="Calibri"/>
                <a:cs typeface="Calibri"/>
              </a:rPr>
              <a:t> </a:t>
            </a:r>
            <a:r>
              <a:rPr sz="2400" spc="-10" dirty="0">
                <a:latin typeface="Calibri"/>
                <a:cs typeface="Calibri"/>
              </a:rPr>
              <a:t>more</a:t>
            </a:r>
            <a:r>
              <a:rPr sz="2400" spc="-25" dirty="0">
                <a:latin typeface="Calibri"/>
                <a:cs typeface="Calibri"/>
              </a:rPr>
              <a:t> </a:t>
            </a:r>
            <a:r>
              <a:rPr sz="2400" spc="-5" dirty="0">
                <a:latin typeface="Calibri"/>
                <a:cs typeface="Calibri"/>
              </a:rPr>
              <a:t>entities</a:t>
            </a:r>
            <a:endParaRPr sz="24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125210"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25" dirty="0"/>
              <a:t> </a:t>
            </a:r>
            <a:r>
              <a:rPr spc="-5" dirty="0"/>
              <a:t>Concepts</a:t>
            </a:r>
            <a:r>
              <a:rPr spc="5" dirty="0"/>
              <a:t> </a:t>
            </a:r>
            <a:r>
              <a:rPr dirty="0"/>
              <a:t>and</a:t>
            </a:r>
            <a:r>
              <a:rPr spc="-20" dirty="0"/>
              <a:t> </a:t>
            </a:r>
            <a:r>
              <a:rPr spc="-5" dirty="0"/>
              <a:t>Characteristics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14</a:t>
            </a:fld>
            <a:endParaRPr dirty="0"/>
          </a:p>
        </p:txBody>
      </p:sp>
      <p:sp>
        <p:nvSpPr>
          <p:cNvPr id="3" name="object 3"/>
          <p:cNvSpPr txBox="1"/>
          <p:nvPr/>
        </p:nvSpPr>
        <p:spPr>
          <a:xfrm>
            <a:off x="993444" y="1469796"/>
            <a:ext cx="7579995" cy="4552950"/>
          </a:xfrm>
          <a:prstGeom prst="rect">
            <a:avLst/>
          </a:prstGeom>
        </p:spPr>
        <p:txBody>
          <a:bodyPr vert="horz" wrap="square" lIns="0" tIns="46355" rIns="0" bIns="0" rtlCol="0">
            <a:spAutoFit/>
          </a:bodyPr>
          <a:lstStyle/>
          <a:p>
            <a:pPr marL="299085" indent="-287020" algn="just">
              <a:lnSpc>
                <a:spcPct val="100000"/>
              </a:lnSpc>
              <a:spcBef>
                <a:spcPts val="365"/>
              </a:spcBef>
              <a:buFont typeface="Arial MT"/>
              <a:buChar char="–"/>
              <a:tabLst>
                <a:tab pos="299720" algn="l"/>
              </a:tabLst>
            </a:pPr>
            <a:r>
              <a:rPr sz="2200" spc="-10" dirty="0">
                <a:latin typeface="Calibri"/>
                <a:cs typeface="Calibri"/>
              </a:rPr>
              <a:t>One </a:t>
            </a:r>
            <a:r>
              <a:rPr sz="2200" spc="-15" dirty="0">
                <a:latin typeface="Calibri"/>
                <a:cs typeface="Calibri"/>
              </a:rPr>
              <a:t>to</a:t>
            </a:r>
            <a:r>
              <a:rPr sz="2200" spc="5" dirty="0">
                <a:latin typeface="Calibri"/>
                <a:cs typeface="Calibri"/>
              </a:rPr>
              <a:t> </a:t>
            </a:r>
            <a:r>
              <a:rPr sz="2200" spc="-10" dirty="0">
                <a:latin typeface="Calibri"/>
                <a:cs typeface="Calibri"/>
              </a:rPr>
              <a:t>One</a:t>
            </a:r>
            <a:r>
              <a:rPr sz="2200" spc="10" dirty="0">
                <a:latin typeface="Calibri"/>
                <a:cs typeface="Calibri"/>
              </a:rPr>
              <a:t> </a:t>
            </a:r>
            <a:r>
              <a:rPr sz="2200" spc="-10" dirty="0">
                <a:latin typeface="Calibri"/>
                <a:cs typeface="Calibri"/>
              </a:rPr>
              <a:t>(1:1) Entity</a:t>
            </a:r>
            <a:r>
              <a:rPr sz="2200" spc="20" dirty="0">
                <a:latin typeface="Calibri"/>
                <a:cs typeface="Calibri"/>
              </a:rPr>
              <a:t> </a:t>
            </a:r>
            <a:r>
              <a:rPr sz="2200" spc="-10" dirty="0">
                <a:latin typeface="Calibri"/>
                <a:cs typeface="Calibri"/>
              </a:rPr>
              <a:t>Relationships</a:t>
            </a:r>
            <a:endParaRPr sz="2200">
              <a:latin typeface="Calibri"/>
              <a:cs typeface="Calibri"/>
            </a:endParaRPr>
          </a:p>
          <a:p>
            <a:pPr marL="697865" marR="169545" lvl="1" indent="-228600">
              <a:lnSpc>
                <a:spcPts val="2380"/>
              </a:lnSpc>
              <a:spcBef>
                <a:spcPts val="560"/>
              </a:spcBef>
              <a:buFont typeface="Arial MT"/>
              <a:buChar char="•"/>
              <a:tabLst>
                <a:tab pos="697865" algn="l"/>
                <a:tab pos="698500" algn="l"/>
              </a:tabLst>
            </a:pPr>
            <a:r>
              <a:rPr sz="2200" spc="-10" dirty="0">
                <a:latin typeface="Calibri"/>
                <a:cs typeface="Calibri"/>
              </a:rPr>
              <a:t>One</a:t>
            </a:r>
            <a:r>
              <a:rPr sz="2200" spc="-5" dirty="0">
                <a:latin typeface="Calibri"/>
                <a:cs typeface="Calibri"/>
              </a:rPr>
              <a:t> </a:t>
            </a:r>
            <a:r>
              <a:rPr sz="2200" spc="-10" dirty="0">
                <a:latin typeface="Calibri"/>
                <a:cs typeface="Calibri"/>
              </a:rPr>
              <a:t>entity</a:t>
            </a:r>
            <a:r>
              <a:rPr sz="2200" spc="25" dirty="0">
                <a:latin typeface="Calibri"/>
                <a:cs typeface="Calibri"/>
              </a:rPr>
              <a:t> </a:t>
            </a:r>
            <a:r>
              <a:rPr sz="2200" spc="-5" dirty="0">
                <a:latin typeface="Calibri"/>
                <a:cs typeface="Calibri"/>
              </a:rPr>
              <a:t>is</a:t>
            </a:r>
            <a:r>
              <a:rPr sz="2200" spc="10" dirty="0">
                <a:latin typeface="Calibri"/>
                <a:cs typeface="Calibri"/>
              </a:rPr>
              <a:t> </a:t>
            </a:r>
            <a:r>
              <a:rPr sz="2200" spc="-15" dirty="0">
                <a:latin typeface="Calibri"/>
                <a:cs typeface="Calibri"/>
              </a:rPr>
              <a:t>related</a:t>
            </a:r>
            <a:r>
              <a:rPr sz="2200" spc="5" dirty="0">
                <a:latin typeface="Calibri"/>
                <a:cs typeface="Calibri"/>
              </a:rPr>
              <a:t> </a:t>
            </a:r>
            <a:r>
              <a:rPr sz="2200" spc="-15" dirty="0">
                <a:latin typeface="Calibri"/>
                <a:cs typeface="Calibri"/>
              </a:rPr>
              <a:t>to</a:t>
            </a:r>
            <a:r>
              <a:rPr sz="2200" spc="10" dirty="0">
                <a:latin typeface="Calibri"/>
                <a:cs typeface="Calibri"/>
              </a:rPr>
              <a:t> </a:t>
            </a:r>
            <a:r>
              <a:rPr sz="2200" spc="-5" dirty="0">
                <a:latin typeface="Calibri"/>
                <a:cs typeface="Calibri"/>
              </a:rPr>
              <a:t>only</a:t>
            </a:r>
            <a:r>
              <a:rPr sz="2200" dirty="0">
                <a:latin typeface="Calibri"/>
                <a:cs typeface="Calibri"/>
              </a:rPr>
              <a:t> </a:t>
            </a:r>
            <a:r>
              <a:rPr sz="2200" spc="-10" dirty="0">
                <a:latin typeface="Calibri"/>
                <a:cs typeface="Calibri"/>
              </a:rPr>
              <a:t>one</a:t>
            </a:r>
            <a:r>
              <a:rPr sz="2200" spc="5" dirty="0">
                <a:latin typeface="Calibri"/>
                <a:cs typeface="Calibri"/>
              </a:rPr>
              <a:t> </a:t>
            </a:r>
            <a:r>
              <a:rPr sz="2200" spc="-5" dirty="0">
                <a:latin typeface="Calibri"/>
                <a:cs typeface="Calibri"/>
              </a:rPr>
              <a:t>other </a:t>
            </a:r>
            <a:r>
              <a:rPr sz="2200" spc="-10" dirty="0">
                <a:latin typeface="Calibri"/>
                <a:cs typeface="Calibri"/>
              </a:rPr>
              <a:t>entity</a:t>
            </a:r>
            <a:r>
              <a:rPr sz="2200" spc="35" dirty="0">
                <a:latin typeface="Calibri"/>
                <a:cs typeface="Calibri"/>
              </a:rPr>
              <a:t> </a:t>
            </a:r>
            <a:r>
              <a:rPr sz="2200" spc="-5" dirty="0">
                <a:latin typeface="Calibri"/>
                <a:cs typeface="Calibri"/>
              </a:rPr>
              <a:t>of</a:t>
            </a:r>
            <a:r>
              <a:rPr sz="2200" dirty="0">
                <a:latin typeface="Calibri"/>
                <a:cs typeface="Calibri"/>
              </a:rPr>
              <a:t> </a:t>
            </a:r>
            <a:r>
              <a:rPr sz="2200" spc="-5" dirty="0">
                <a:latin typeface="Calibri"/>
                <a:cs typeface="Calibri"/>
              </a:rPr>
              <a:t>a</a:t>
            </a:r>
            <a:r>
              <a:rPr sz="2200" spc="10" dirty="0">
                <a:latin typeface="Calibri"/>
                <a:cs typeface="Calibri"/>
              </a:rPr>
              <a:t> </a:t>
            </a:r>
            <a:r>
              <a:rPr sz="2200" spc="-10" dirty="0">
                <a:latin typeface="Calibri"/>
                <a:cs typeface="Calibri"/>
              </a:rPr>
              <a:t>particular </a:t>
            </a:r>
            <a:r>
              <a:rPr sz="2200" spc="-480" dirty="0">
                <a:latin typeface="Calibri"/>
                <a:cs typeface="Calibri"/>
              </a:rPr>
              <a:t> </a:t>
            </a:r>
            <a:r>
              <a:rPr sz="2200" spc="-5" dirty="0">
                <a:latin typeface="Calibri"/>
                <a:cs typeface="Calibri"/>
              </a:rPr>
              <a:t>type</a:t>
            </a:r>
            <a:endParaRPr sz="2200">
              <a:latin typeface="Calibri"/>
              <a:cs typeface="Calibri"/>
            </a:endParaRPr>
          </a:p>
          <a:p>
            <a:pPr marL="227965" marR="2912745" lvl="1" indent="-227965" algn="r">
              <a:lnSpc>
                <a:spcPct val="100000"/>
              </a:lnSpc>
              <a:spcBef>
                <a:spcPts val="225"/>
              </a:spcBef>
              <a:buFont typeface="Arial MT"/>
              <a:buChar char="•"/>
              <a:tabLst>
                <a:tab pos="227965" algn="l"/>
                <a:tab pos="698500" algn="l"/>
              </a:tabLst>
            </a:pPr>
            <a:r>
              <a:rPr sz="2200" spc="-5" dirty="0">
                <a:latin typeface="Calibri"/>
                <a:cs typeface="Calibri"/>
              </a:rPr>
              <a:t>Not</a:t>
            </a:r>
            <a:r>
              <a:rPr sz="2200" spc="10" dirty="0">
                <a:latin typeface="Calibri"/>
                <a:cs typeface="Calibri"/>
              </a:rPr>
              <a:t> </a:t>
            </a:r>
            <a:r>
              <a:rPr sz="2200" spc="-5" dirty="0">
                <a:latin typeface="Calibri"/>
                <a:cs typeface="Calibri"/>
              </a:rPr>
              <a:t>a</a:t>
            </a:r>
            <a:r>
              <a:rPr sz="2200" spc="5" dirty="0">
                <a:latin typeface="Calibri"/>
                <a:cs typeface="Calibri"/>
              </a:rPr>
              <a:t> </a:t>
            </a:r>
            <a:r>
              <a:rPr sz="2200" spc="-10" dirty="0">
                <a:latin typeface="Calibri"/>
                <a:cs typeface="Calibri"/>
              </a:rPr>
              <a:t>common</a:t>
            </a:r>
            <a:r>
              <a:rPr sz="2200" spc="20" dirty="0">
                <a:latin typeface="Calibri"/>
                <a:cs typeface="Calibri"/>
              </a:rPr>
              <a:t> </a:t>
            </a:r>
            <a:r>
              <a:rPr sz="2200" spc="-5" dirty="0">
                <a:latin typeface="Calibri"/>
                <a:cs typeface="Calibri"/>
              </a:rPr>
              <a:t>type</a:t>
            </a:r>
            <a:r>
              <a:rPr sz="2200" spc="20" dirty="0">
                <a:latin typeface="Calibri"/>
                <a:cs typeface="Calibri"/>
              </a:rPr>
              <a:t> </a:t>
            </a:r>
            <a:r>
              <a:rPr sz="2200" spc="-5" dirty="0">
                <a:latin typeface="Calibri"/>
                <a:cs typeface="Calibri"/>
              </a:rPr>
              <a:t>of</a:t>
            </a:r>
            <a:r>
              <a:rPr sz="2200" spc="10" dirty="0">
                <a:latin typeface="Calibri"/>
                <a:cs typeface="Calibri"/>
              </a:rPr>
              <a:t> </a:t>
            </a:r>
            <a:r>
              <a:rPr sz="2200" spc="-10" dirty="0">
                <a:latin typeface="Calibri"/>
                <a:cs typeface="Calibri"/>
              </a:rPr>
              <a:t>relationship</a:t>
            </a:r>
            <a:endParaRPr sz="2200">
              <a:latin typeface="Calibri"/>
              <a:cs typeface="Calibri"/>
            </a:endParaRPr>
          </a:p>
          <a:p>
            <a:pPr marL="286385" marR="2886075" indent="-286385" algn="r">
              <a:lnSpc>
                <a:spcPct val="100000"/>
              </a:lnSpc>
              <a:spcBef>
                <a:spcPts val="265"/>
              </a:spcBef>
              <a:buFont typeface="Arial MT"/>
              <a:buChar char="–"/>
              <a:tabLst>
                <a:tab pos="286385" algn="l"/>
                <a:tab pos="299720" algn="l"/>
              </a:tabLst>
            </a:pPr>
            <a:r>
              <a:rPr sz="2200" spc="-10" dirty="0">
                <a:latin typeface="Calibri"/>
                <a:cs typeface="Calibri"/>
              </a:rPr>
              <a:t>One</a:t>
            </a:r>
            <a:r>
              <a:rPr sz="2200" spc="-5" dirty="0">
                <a:latin typeface="Calibri"/>
                <a:cs typeface="Calibri"/>
              </a:rPr>
              <a:t> </a:t>
            </a:r>
            <a:r>
              <a:rPr sz="2200" spc="-15" dirty="0">
                <a:latin typeface="Calibri"/>
                <a:cs typeface="Calibri"/>
              </a:rPr>
              <a:t>to</a:t>
            </a:r>
            <a:r>
              <a:rPr sz="2200" spc="10" dirty="0">
                <a:latin typeface="Calibri"/>
                <a:cs typeface="Calibri"/>
              </a:rPr>
              <a:t> </a:t>
            </a:r>
            <a:r>
              <a:rPr sz="2200" spc="-15" dirty="0">
                <a:latin typeface="Calibri"/>
                <a:cs typeface="Calibri"/>
              </a:rPr>
              <a:t>Many</a:t>
            </a:r>
            <a:r>
              <a:rPr sz="2200" dirty="0">
                <a:latin typeface="Calibri"/>
                <a:cs typeface="Calibri"/>
              </a:rPr>
              <a:t> </a:t>
            </a:r>
            <a:r>
              <a:rPr sz="2200" spc="-10" dirty="0">
                <a:latin typeface="Calibri"/>
                <a:cs typeface="Calibri"/>
              </a:rPr>
              <a:t>(O:M)</a:t>
            </a:r>
            <a:r>
              <a:rPr sz="2200" spc="25" dirty="0">
                <a:latin typeface="Calibri"/>
                <a:cs typeface="Calibri"/>
              </a:rPr>
              <a:t> </a:t>
            </a:r>
            <a:r>
              <a:rPr sz="2200" spc="-10" dirty="0">
                <a:latin typeface="Calibri"/>
                <a:cs typeface="Calibri"/>
              </a:rPr>
              <a:t>Entity</a:t>
            </a:r>
            <a:r>
              <a:rPr sz="2200" spc="20" dirty="0">
                <a:latin typeface="Calibri"/>
                <a:cs typeface="Calibri"/>
              </a:rPr>
              <a:t> </a:t>
            </a:r>
            <a:r>
              <a:rPr sz="2200" spc="-10" dirty="0">
                <a:latin typeface="Calibri"/>
                <a:cs typeface="Calibri"/>
              </a:rPr>
              <a:t>Relationship</a:t>
            </a:r>
            <a:endParaRPr sz="2200">
              <a:latin typeface="Calibri"/>
              <a:cs typeface="Calibri"/>
            </a:endParaRPr>
          </a:p>
          <a:p>
            <a:pPr marL="227965" marR="2946400" lvl="1" indent="-227965" algn="r">
              <a:lnSpc>
                <a:spcPct val="100000"/>
              </a:lnSpc>
              <a:spcBef>
                <a:spcPts val="265"/>
              </a:spcBef>
              <a:buFont typeface="Arial MT"/>
              <a:buChar char="•"/>
              <a:tabLst>
                <a:tab pos="227965" algn="l"/>
                <a:tab pos="228600" algn="l"/>
              </a:tabLst>
            </a:pPr>
            <a:r>
              <a:rPr sz="2200" spc="-10" dirty="0">
                <a:latin typeface="Calibri"/>
                <a:cs typeface="Calibri"/>
              </a:rPr>
              <a:t>Most</a:t>
            </a:r>
            <a:r>
              <a:rPr sz="2200" dirty="0">
                <a:latin typeface="Calibri"/>
                <a:cs typeface="Calibri"/>
              </a:rPr>
              <a:t> </a:t>
            </a:r>
            <a:r>
              <a:rPr sz="2200" spc="-10" dirty="0">
                <a:latin typeface="Calibri"/>
                <a:cs typeface="Calibri"/>
              </a:rPr>
              <a:t>common</a:t>
            </a:r>
            <a:r>
              <a:rPr sz="2200" spc="40" dirty="0">
                <a:latin typeface="Calibri"/>
                <a:cs typeface="Calibri"/>
              </a:rPr>
              <a:t> </a:t>
            </a:r>
            <a:r>
              <a:rPr sz="2200" spc="-5" dirty="0">
                <a:latin typeface="Calibri"/>
                <a:cs typeface="Calibri"/>
              </a:rPr>
              <a:t>type</a:t>
            </a:r>
            <a:r>
              <a:rPr sz="2200" spc="20" dirty="0">
                <a:latin typeface="Calibri"/>
                <a:cs typeface="Calibri"/>
              </a:rPr>
              <a:t> </a:t>
            </a:r>
            <a:r>
              <a:rPr sz="2200" spc="-5" dirty="0">
                <a:latin typeface="Calibri"/>
                <a:cs typeface="Calibri"/>
              </a:rPr>
              <a:t>of</a:t>
            </a:r>
            <a:r>
              <a:rPr sz="2200" spc="10" dirty="0">
                <a:latin typeface="Calibri"/>
                <a:cs typeface="Calibri"/>
              </a:rPr>
              <a:t> </a:t>
            </a:r>
            <a:r>
              <a:rPr sz="2200" spc="-10" dirty="0">
                <a:latin typeface="Calibri"/>
                <a:cs typeface="Calibri"/>
              </a:rPr>
              <a:t>relationship</a:t>
            </a:r>
            <a:endParaRPr sz="2200">
              <a:latin typeface="Calibri"/>
              <a:cs typeface="Calibri"/>
            </a:endParaRPr>
          </a:p>
          <a:p>
            <a:pPr marL="697865" lvl="1" indent="-229235" algn="just">
              <a:lnSpc>
                <a:spcPct val="100000"/>
              </a:lnSpc>
              <a:spcBef>
                <a:spcPts val="265"/>
              </a:spcBef>
              <a:buFont typeface="Arial MT"/>
              <a:buChar char="•"/>
              <a:tabLst>
                <a:tab pos="698500" algn="l"/>
              </a:tabLst>
            </a:pPr>
            <a:r>
              <a:rPr sz="2200" spc="-5" dirty="0">
                <a:latin typeface="Calibri"/>
                <a:cs typeface="Calibri"/>
              </a:rPr>
              <a:t>One</a:t>
            </a:r>
            <a:r>
              <a:rPr sz="2200" spc="-10" dirty="0">
                <a:latin typeface="Calibri"/>
                <a:cs typeface="Calibri"/>
              </a:rPr>
              <a:t> entity</a:t>
            </a:r>
            <a:r>
              <a:rPr sz="2200" spc="15" dirty="0">
                <a:latin typeface="Calibri"/>
                <a:cs typeface="Calibri"/>
              </a:rPr>
              <a:t> </a:t>
            </a:r>
            <a:r>
              <a:rPr sz="2200" spc="-15" dirty="0">
                <a:latin typeface="Calibri"/>
                <a:cs typeface="Calibri"/>
              </a:rPr>
              <a:t>can</a:t>
            </a:r>
            <a:r>
              <a:rPr sz="2200" spc="5" dirty="0">
                <a:latin typeface="Calibri"/>
                <a:cs typeface="Calibri"/>
              </a:rPr>
              <a:t> </a:t>
            </a:r>
            <a:r>
              <a:rPr sz="2200" spc="-5" dirty="0">
                <a:latin typeface="Calibri"/>
                <a:cs typeface="Calibri"/>
              </a:rPr>
              <a:t>be</a:t>
            </a:r>
            <a:r>
              <a:rPr sz="2200" dirty="0">
                <a:latin typeface="Calibri"/>
                <a:cs typeface="Calibri"/>
              </a:rPr>
              <a:t> </a:t>
            </a:r>
            <a:r>
              <a:rPr sz="2200" spc="-15" dirty="0">
                <a:latin typeface="Calibri"/>
                <a:cs typeface="Calibri"/>
              </a:rPr>
              <a:t>related</a:t>
            </a:r>
            <a:r>
              <a:rPr sz="2200" dirty="0">
                <a:latin typeface="Calibri"/>
                <a:cs typeface="Calibri"/>
              </a:rPr>
              <a:t> </a:t>
            </a:r>
            <a:r>
              <a:rPr sz="2200" spc="-20" dirty="0">
                <a:latin typeface="Calibri"/>
                <a:cs typeface="Calibri"/>
              </a:rPr>
              <a:t>to</a:t>
            </a:r>
            <a:r>
              <a:rPr sz="2200" spc="5" dirty="0">
                <a:latin typeface="Calibri"/>
                <a:cs typeface="Calibri"/>
              </a:rPr>
              <a:t> </a:t>
            </a:r>
            <a:r>
              <a:rPr sz="2200" spc="-10" dirty="0">
                <a:latin typeface="Calibri"/>
                <a:cs typeface="Calibri"/>
              </a:rPr>
              <a:t>more</a:t>
            </a:r>
            <a:r>
              <a:rPr sz="2200" spc="5" dirty="0">
                <a:latin typeface="Calibri"/>
                <a:cs typeface="Calibri"/>
              </a:rPr>
              <a:t> </a:t>
            </a:r>
            <a:r>
              <a:rPr sz="2200" spc="-5" dirty="0">
                <a:latin typeface="Calibri"/>
                <a:cs typeface="Calibri"/>
              </a:rPr>
              <a:t>than one other</a:t>
            </a:r>
            <a:r>
              <a:rPr sz="2200" dirty="0">
                <a:latin typeface="Calibri"/>
                <a:cs typeface="Calibri"/>
              </a:rPr>
              <a:t> </a:t>
            </a:r>
            <a:r>
              <a:rPr sz="2200" spc="-10" dirty="0">
                <a:latin typeface="Calibri"/>
                <a:cs typeface="Calibri"/>
              </a:rPr>
              <a:t>entity</a:t>
            </a:r>
            <a:endParaRPr sz="2200">
              <a:latin typeface="Calibri"/>
              <a:cs typeface="Calibri"/>
            </a:endParaRPr>
          </a:p>
          <a:p>
            <a:pPr marL="1155065" marR="824865" indent="-228600" algn="just">
              <a:lnSpc>
                <a:spcPts val="2380"/>
              </a:lnSpc>
              <a:spcBef>
                <a:spcPts val="560"/>
              </a:spcBef>
            </a:pPr>
            <a:r>
              <a:rPr sz="2200" spc="-5" dirty="0">
                <a:latin typeface="Arial MT"/>
                <a:cs typeface="Arial MT"/>
              </a:rPr>
              <a:t>– </a:t>
            </a:r>
            <a:r>
              <a:rPr sz="2200" spc="-5" dirty="0">
                <a:latin typeface="Calibri"/>
                <a:cs typeface="Calibri"/>
              </a:rPr>
              <a:t>A </a:t>
            </a:r>
            <a:r>
              <a:rPr sz="2200" spc="-10" dirty="0">
                <a:latin typeface="Calibri"/>
                <a:cs typeface="Calibri"/>
              </a:rPr>
              <a:t>supplier </a:t>
            </a:r>
            <a:r>
              <a:rPr sz="2200" spc="-15" dirty="0">
                <a:latin typeface="Calibri"/>
                <a:cs typeface="Calibri"/>
              </a:rPr>
              <a:t>can </a:t>
            </a:r>
            <a:r>
              <a:rPr sz="2200" spc="-10" dirty="0">
                <a:latin typeface="Calibri"/>
                <a:cs typeface="Calibri"/>
              </a:rPr>
              <a:t>supply more </a:t>
            </a:r>
            <a:r>
              <a:rPr sz="2200" spc="-5" dirty="0">
                <a:latin typeface="Calibri"/>
                <a:cs typeface="Calibri"/>
              </a:rPr>
              <a:t>than one </a:t>
            </a:r>
            <a:r>
              <a:rPr sz="2200" spc="-15" dirty="0">
                <a:latin typeface="Calibri"/>
                <a:cs typeface="Calibri"/>
              </a:rPr>
              <a:t>product </a:t>
            </a:r>
            <a:r>
              <a:rPr sz="2200" spc="-20" dirty="0">
                <a:latin typeface="Calibri"/>
                <a:cs typeface="Calibri"/>
              </a:rPr>
              <a:t>to </a:t>
            </a:r>
            <a:r>
              <a:rPr sz="2200" spc="-5" dirty="0">
                <a:latin typeface="Calibri"/>
                <a:cs typeface="Calibri"/>
              </a:rPr>
              <a:t>a </a:t>
            </a:r>
            <a:r>
              <a:rPr sz="2200" spc="-484" dirty="0">
                <a:latin typeface="Calibri"/>
                <a:cs typeface="Calibri"/>
              </a:rPr>
              <a:t> </a:t>
            </a:r>
            <a:r>
              <a:rPr sz="2200" spc="-15" dirty="0">
                <a:latin typeface="Calibri"/>
                <a:cs typeface="Calibri"/>
              </a:rPr>
              <a:t>company</a:t>
            </a:r>
            <a:endParaRPr sz="2200">
              <a:latin typeface="Calibri"/>
              <a:cs typeface="Calibri"/>
            </a:endParaRPr>
          </a:p>
          <a:p>
            <a:pPr marL="299085" indent="-287020" algn="just">
              <a:lnSpc>
                <a:spcPct val="100000"/>
              </a:lnSpc>
              <a:spcBef>
                <a:spcPts val="225"/>
              </a:spcBef>
              <a:buFont typeface="Arial MT"/>
              <a:buChar char="–"/>
              <a:tabLst>
                <a:tab pos="299720" algn="l"/>
              </a:tabLst>
            </a:pPr>
            <a:r>
              <a:rPr sz="2200" spc="-15" dirty="0">
                <a:latin typeface="Calibri"/>
                <a:cs typeface="Calibri"/>
              </a:rPr>
              <a:t>Many</a:t>
            </a:r>
            <a:r>
              <a:rPr sz="2200" spc="-20" dirty="0">
                <a:latin typeface="Calibri"/>
                <a:cs typeface="Calibri"/>
              </a:rPr>
              <a:t> to</a:t>
            </a:r>
            <a:r>
              <a:rPr sz="2200" spc="5" dirty="0">
                <a:latin typeface="Calibri"/>
                <a:cs typeface="Calibri"/>
              </a:rPr>
              <a:t> </a:t>
            </a:r>
            <a:r>
              <a:rPr sz="2200" spc="-15" dirty="0">
                <a:latin typeface="Calibri"/>
                <a:cs typeface="Calibri"/>
              </a:rPr>
              <a:t>Many</a:t>
            </a:r>
            <a:r>
              <a:rPr sz="2200" dirty="0">
                <a:latin typeface="Calibri"/>
                <a:cs typeface="Calibri"/>
              </a:rPr>
              <a:t> </a:t>
            </a:r>
            <a:r>
              <a:rPr sz="2200" spc="-10" dirty="0">
                <a:latin typeface="Calibri"/>
                <a:cs typeface="Calibri"/>
              </a:rPr>
              <a:t>(M:M)</a:t>
            </a:r>
            <a:r>
              <a:rPr sz="2200" spc="-5" dirty="0">
                <a:latin typeface="Calibri"/>
                <a:cs typeface="Calibri"/>
              </a:rPr>
              <a:t> </a:t>
            </a:r>
            <a:r>
              <a:rPr sz="2200" spc="-10" dirty="0">
                <a:latin typeface="Calibri"/>
                <a:cs typeface="Calibri"/>
              </a:rPr>
              <a:t>Entity</a:t>
            </a:r>
            <a:r>
              <a:rPr sz="2200" spc="15" dirty="0">
                <a:latin typeface="Calibri"/>
                <a:cs typeface="Calibri"/>
              </a:rPr>
              <a:t> </a:t>
            </a:r>
            <a:r>
              <a:rPr sz="2200" spc="-10" dirty="0">
                <a:latin typeface="Calibri"/>
                <a:cs typeface="Calibri"/>
              </a:rPr>
              <a:t>Relationships</a:t>
            </a:r>
            <a:endParaRPr sz="2200">
              <a:latin typeface="Calibri"/>
              <a:cs typeface="Calibri"/>
            </a:endParaRPr>
          </a:p>
          <a:p>
            <a:pPr marL="697865" marR="5080" lvl="1" indent="-228600" algn="just">
              <a:lnSpc>
                <a:spcPts val="2380"/>
              </a:lnSpc>
              <a:spcBef>
                <a:spcPts val="560"/>
              </a:spcBef>
              <a:buFont typeface="Arial MT"/>
              <a:buChar char="•"/>
              <a:tabLst>
                <a:tab pos="698500" algn="l"/>
              </a:tabLst>
            </a:pPr>
            <a:r>
              <a:rPr sz="2200" spc="-10" dirty="0">
                <a:latin typeface="Calibri"/>
                <a:cs typeface="Calibri"/>
              </a:rPr>
              <a:t>One entity </a:t>
            </a:r>
            <a:r>
              <a:rPr sz="2200" spc="-15" dirty="0">
                <a:latin typeface="Calibri"/>
                <a:cs typeface="Calibri"/>
              </a:rPr>
              <a:t>can </a:t>
            </a:r>
            <a:r>
              <a:rPr sz="2200" spc="-5" dirty="0">
                <a:latin typeface="Calibri"/>
                <a:cs typeface="Calibri"/>
              </a:rPr>
              <a:t>be </a:t>
            </a:r>
            <a:r>
              <a:rPr sz="2200" spc="-15" dirty="0">
                <a:latin typeface="Calibri"/>
                <a:cs typeface="Calibri"/>
              </a:rPr>
              <a:t>related to </a:t>
            </a:r>
            <a:r>
              <a:rPr sz="2200" spc="-10" dirty="0">
                <a:latin typeface="Calibri"/>
                <a:cs typeface="Calibri"/>
              </a:rPr>
              <a:t>more </a:t>
            </a:r>
            <a:r>
              <a:rPr sz="2200" spc="-5" dirty="0">
                <a:latin typeface="Calibri"/>
                <a:cs typeface="Calibri"/>
              </a:rPr>
              <a:t>than one other </a:t>
            </a:r>
            <a:r>
              <a:rPr sz="2200" spc="-30" dirty="0">
                <a:latin typeface="Calibri"/>
                <a:cs typeface="Calibri"/>
              </a:rPr>
              <a:t>entity, </a:t>
            </a:r>
            <a:r>
              <a:rPr sz="2200" spc="-5" dirty="0">
                <a:latin typeface="Calibri"/>
                <a:cs typeface="Calibri"/>
              </a:rPr>
              <a:t>and </a:t>
            </a:r>
            <a:r>
              <a:rPr sz="2200" spc="-484" dirty="0">
                <a:latin typeface="Calibri"/>
                <a:cs typeface="Calibri"/>
              </a:rPr>
              <a:t> </a:t>
            </a:r>
            <a:r>
              <a:rPr sz="2200" spc="-5" dirty="0">
                <a:latin typeface="Calibri"/>
                <a:cs typeface="Calibri"/>
              </a:rPr>
              <a:t>those </a:t>
            </a:r>
            <a:r>
              <a:rPr sz="2200" spc="-10" dirty="0">
                <a:latin typeface="Calibri"/>
                <a:cs typeface="Calibri"/>
              </a:rPr>
              <a:t>entities </a:t>
            </a:r>
            <a:r>
              <a:rPr sz="2200" spc="-15" dirty="0">
                <a:latin typeface="Calibri"/>
                <a:cs typeface="Calibri"/>
              </a:rPr>
              <a:t>can </a:t>
            </a:r>
            <a:r>
              <a:rPr sz="2200" spc="-5" dirty="0">
                <a:latin typeface="Calibri"/>
                <a:cs typeface="Calibri"/>
              </a:rPr>
              <a:t>be </a:t>
            </a:r>
            <a:r>
              <a:rPr sz="2200" spc="-15" dirty="0">
                <a:latin typeface="Calibri"/>
                <a:cs typeface="Calibri"/>
              </a:rPr>
              <a:t>related to </a:t>
            </a:r>
            <a:r>
              <a:rPr sz="2200" spc="-5" dirty="0">
                <a:latin typeface="Calibri"/>
                <a:cs typeface="Calibri"/>
              </a:rPr>
              <a:t>multiple </a:t>
            </a:r>
            <a:r>
              <a:rPr sz="2200" spc="-10" dirty="0">
                <a:latin typeface="Calibri"/>
                <a:cs typeface="Calibri"/>
              </a:rPr>
              <a:t>entities </a:t>
            </a:r>
            <a:r>
              <a:rPr sz="2200" spc="-5" dirty="0">
                <a:latin typeface="Calibri"/>
                <a:cs typeface="Calibri"/>
              </a:rPr>
              <a:t>of the same </a:t>
            </a:r>
            <a:r>
              <a:rPr sz="2200" dirty="0">
                <a:latin typeface="Calibri"/>
                <a:cs typeface="Calibri"/>
              </a:rPr>
              <a:t> </a:t>
            </a:r>
            <a:r>
              <a:rPr sz="2200" spc="-5" dirty="0">
                <a:latin typeface="Calibri"/>
                <a:cs typeface="Calibri"/>
              </a:rPr>
              <a:t>type</a:t>
            </a:r>
            <a:r>
              <a:rPr sz="2200" spc="-10" dirty="0">
                <a:latin typeface="Calibri"/>
                <a:cs typeface="Calibri"/>
              </a:rPr>
              <a:t> </a:t>
            </a:r>
            <a:r>
              <a:rPr sz="2200" spc="-5" dirty="0">
                <a:latin typeface="Calibri"/>
                <a:cs typeface="Calibri"/>
              </a:rPr>
              <a:t>as the</a:t>
            </a:r>
            <a:r>
              <a:rPr sz="2200" spc="10" dirty="0">
                <a:latin typeface="Calibri"/>
                <a:cs typeface="Calibri"/>
              </a:rPr>
              <a:t> </a:t>
            </a:r>
            <a:r>
              <a:rPr sz="2200" spc="-5" dirty="0">
                <a:latin typeface="Calibri"/>
                <a:cs typeface="Calibri"/>
              </a:rPr>
              <a:t>original</a:t>
            </a:r>
            <a:r>
              <a:rPr sz="2200" spc="-20" dirty="0">
                <a:latin typeface="Calibri"/>
                <a:cs typeface="Calibri"/>
              </a:rPr>
              <a:t> </a:t>
            </a:r>
            <a:r>
              <a:rPr sz="2200" spc="-10" dirty="0">
                <a:latin typeface="Calibri"/>
                <a:cs typeface="Calibri"/>
              </a:rPr>
              <a:t>entity</a:t>
            </a:r>
            <a:endParaRPr sz="22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125210"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25" dirty="0"/>
              <a:t> </a:t>
            </a:r>
            <a:r>
              <a:rPr spc="-5" dirty="0"/>
              <a:t>Concepts</a:t>
            </a:r>
            <a:r>
              <a:rPr spc="5" dirty="0"/>
              <a:t> </a:t>
            </a:r>
            <a:r>
              <a:rPr dirty="0"/>
              <a:t>and</a:t>
            </a:r>
            <a:r>
              <a:rPr spc="-20" dirty="0"/>
              <a:t> </a:t>
            </a:r>
            <a:r>
              <a:rPr spc="-5" dirty="0"/>
              <a:t>Characteristics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15</a:t>
            </a:fld>
            <a:endParaRPr dirty="0"/>
          </a:p>
        </p:txBody>
      </p:sp>
      <p:sp>
        <p:nvSpPr>
          <p:cNvPr id="3" name="object 3"/>
          <p:cNvSpPr txBox="1"/>
          <p:nvPr/>
        </p:nvSpPr>
        <p:spPr>
          <a:xfrm>
            <a:off x="535940" y="1461262"/>
            <a:ext cx="7917815" cy="4232910"/>
          </a:xfrm>
          <a:prstGeom prst="rect">
            <a:avLst/>
          </a:prstGeom>
        </p:spPr>
        <p:txBody>
          <a:bodyPr vert="horz" wrap="square" lIns="0" tIns="48895" rIns="0" bIns="0" rtlCol="0">
            <a:spAutoFit/>
          </a:bodyPr>
          <a:lstStyle/>
          <a:p>
            <a:pPr marL="355600" indent="-343535">
              <a:lnSpc>
                <a:spcPct val="100000"/>
              </a:lnSpc>
              <a:spcBef>
                <a:spcPts val="385"/>
              </a:spcBef>
              <a:buFont typeface="Arial MT"/>
              <a:buChar char="•"/>
              <a:tabLst>
                <a:tab pos="355600" algn="l"/>
                <a:tab pos="356235" algn="l"/>
              </a:tabLst>
            </a:pPr>
            <a:r>
              <a:rPr sz="2400" spc="-15" dirty="0">
                <a:latin typeface="Calibri"/>
                <a:cs typeface="Calibri"/>
              </a:rPr>
              <a:t>Data</a:t>
            </a:r>
            <a:r>
              <a:rPr sz="2400" spc="-50" dirty="0">
                <a:latin typeface="Calibri"/>
                <a:cs typeface="Calibri"/>
              </a:rPr>
              <a:t> </a:t>
            </a:r>
            <a:r>
              <a:rPr sz="2400" spc="-10" dirty="0">
                <a:latin typeface="Calibri"/>
                <a:cs typeface="Calibri"/>
              </a:rPr>
              <a:t>Definition</a:t>
            </a:r>
            <a:endParaRPr sz="2400">
              <a:latin typeface="Calibri"/>
              <a:cs typeface="Calibri"/>
            </a:endParaRPr>
          </a:p>
          <a:p>
            <a:pPr marL="756285" marR="547370" lvl="1" indent="-287020">
              <a:lnSpc>
                <a:spcPts val="2600"/>
              </a:lnSpc>
              <a:spcBef>
                <a:spcPts val="610"/>
              </a:spcBef>
              <a:buFont typeface="Arial MT"/>
              <a:buChar char="–"/>
              <a:tabLst>
                <a:tab pos="756920" algn="l"/>
              </a:tabLst>
            </a:pPr>
            <a:r>
              <a:rPr sz="2400" spc="-5" dirty="0">
                <a:latin typeface="Calibri"/>
                <a:cs typeface="Calibri"/>
              </a:rPr>
              <a:t>The </a:t>
            </a:r>
            <a:r>
              <a:rPr sz="2400" spc="-10" dirty="0">
                <a:latin typeface="Calibri"/>
                <a:cs typeface="Calibri"/>
              </a:rPr>
              <a:t>process </a:t>
            </a:r>
            <a:r>
              <a:rPr sz="2400" spc="-5" dirty="0">
                <a:latin typeface="Calibri"/>
                <a:cs typeface="Calibri"/>
              </a:rPr>
              <a:t>of describing </a:t>
            </a:r>
            <a:r>
              <a:rPr sz="2400" dirty="0">
                <a:latin typeface="Calibri"/>
                <a:cs typeface="Calibri"/>
              </a:rPr>
              <a:t>the </a:t>
            </a:r>
            <a:r>
              <a:rPr sz="2400" spc="-10" dirty="0">
                <a:latin typeface="Calibri"/>
                <a:cs typeface="Calibri"/>
              </a:rPr>
              <a:t>properties </a:t>
            </a:r>
            <a:r>
              <a:rPr sz="2400" spc="-5" dirty="0">
                <a:latin typeface="Calibri"/>
                <a:cs typeface="Calibri"/>
              </a:rPr>
              <a:t>of </a:t>
            </a:r>
            <a:r>
              <a:rPr sz="2400" spc="-15" dirty="0">
                <a:latin typeface="Calibri"/>
                <a:cs typeface="Calibri"/>
              </a:rPr>
              <a:t>data to </a:t>
            </a:r>
            <a:r>
              <a:rPr sz="2400" spc="-5" dirty="0">
                <a:latin typeface="Calibri"/>
                <a:cs typeface="Calibri"/>
              </a:rPr>
              <a:t>be </a:t>
            </a:r>
            <a:r>
              <a:rPr sz="2400" spc="-530" dirty="0">
                <a:latin typeface="Calibri"/>
                <a:cs typeface="Calibri"/>
              </a:rPr>
              <a:t> </a:t>
            </a:r>
            <a:r>
              <a:rPr sz="2400" dirty="0">
                <a:latin typeface="Calibri"/>
                <a:cs typeface="Calibri"/>
              </a:rPr>
              <a:t>included</a:t>
            </a:r>
            <a:r>
              <a:rPr sz="2400" spc="-20" dirty="0">
                <a:latin typeface="Calibri"/>
                <a:cs typeface="Calibri"/>
              </a:rPr>
              <a:t> </a:t>
            </a:r>
            <a:r>
              <a:rPr sz="2400" dirty="0">
                <a:latin typeface="Calibri"/>
                <a:cs typeface="Calibri"/>
              </a:rPr>
              <a:t>in</a:t>
            </a:r>
            <a:r>
              <a:rPr sz="2400" spc="-15" dirty="0">
                <a:latin typeface="Calibri"/>
                <a:cs typeface="Calibri"/>
              </a:rPr>
              <a:t> </a:t>
            </a:r>
            <a:r>
              <a:rPr sz="2400" dirty="0">
                <a:latin typeface="Calibri"/>
                <a:cs typeface="Calibri"/>
              </a:rPr>
              <a:t>a </a:t>
            </a:r>
            <a:r>
              <a:rPr sz="2400" spc="-10" dirty="0">
                <a:latin typeface="Calibri"/>
                <a:cs typeface="Calibri"/>
              </a:rPr>
              <a:t>database</a:t>
            </a:r>
            <a:r>
              <a:rPr sz="2400" spc="-15" dirty="0">
                <a:latin typeface="Calibri"/>
                <a:cs typeface="Calibri"/>
              </a:rPr>
              <a:t> </a:t>
            </a:r>
            <a:r>
              <a:rPr sz="2400" spc="-5" dirty="0">
                <a:latin typeface="Calibri"/>
                <a:cs typeface="Calibri"/>
              </a:rPr>
              <a:t>table</a:t>
            </a:r>
            <a:endParaRPr sz="2400">
              <a:latin typeface="Calibri"/>
              <a:cs typeface="Calibri"/>
            </a:endParaRPr>
          </a:p>
          <a:p>
            <a:pPr marL="756285" lvl="1" indent="-287020">
              <a:lnSpc>
                <a:spcPct val="100000"/>
              </a:lnSpc>
              <a:spcBef>
                <a:spcPts val="240"/>
              </a:spcBef>
              <a:buFont typeface="Arial MT"/>
              <a:buChar char="–"/>
              <a:tabLst>
                <a:tab pos="756920" algn="l"/>
              </a:tabLst>
            </a:pPr>
            <a:r>
              <a:rPr sz="2400" spc="-5" dirty="0">
                <a:latin typeface="Calibri"/>
                <a:cs typeface="Calibri"/>
              </a:rPr>
              <a:t>During</a:t>
            </a:r>
            <a:r>
              <a:rPr sz="2400" spc="-35" dirty="0">
                <a:latin typeface="Calibri"/>
                <a:cs typeface="Calibri"/>
              </a:rPr>
              <a:t> </a:t>
            </a:r>
            <a:r>
              <a:rPr sz="2400" spc="-15" dirty="0">
                <a:latin typeface="Calibri"/>
                <a:cs typeface="Calibri"/>
              </a:rPr>
              <a:t>data</a:t>
            </a:r>
            <a:r>
              <a:rPr sz="2400" spc="-20" dirty="0">
                <a:latin typeface="Calibri"/>
                <a:cs typeface="Calibri"/>
              </a:rPr>
              <a:t> </a:t>
            </a:r>
            <a:r>
              <a:rPr sz="2400" spc="-10" dirty="0">
                <a:latin typeface="Calibri"/>
                <a:cs typeface="Calibri"/>
              </a:rPr>
              <a:t>definition,</a:t>
            </a:r>
            <a:r>
              <a:rPr sz="2400" spc="-5" dirty="0">
                <a:latin typeface="Calibri"/>
                <a:cs typeface="Calibri"/>
              </a:rPr>
              <a:t> </a:t>
            </a:r>
            <a:r>
              <a:rPr sz="2400" dirty="0">
                <a:latin typeface="Calibri"/>
                <a:cs typeface="Calibri"/>
              </a:rPr>
              <a:t>each</a:t>
            </a:r>
            <a:r>
              <a:rPr sz="2400" spc="-25" dirty="0">
                <a:latin typeface="Calibri"/>
                <a:cs typeface="Calibri"/>
              </a:rPr>
              <a:t> </a:t>
            </a:r>
            <a:r>
              <a:rPr sz="2400" spc="-5" dirty="0">
                <a:latin typeface="Calibri"/>
                <a:cs typeface="Calibri"/>
              </a:rPr>
              <a:t>field</a:t>
            </a:r>
            <a:r>
              <a:rPr sz="2400" spc="-10" dirty="0">
                <a:latin typeface="Calibri"/>
                <a:cs typeface="Calibri"/>
              </a:rPr>
              <a:t> </a:t>
            </a:r>
            <a:r>
              <a:rPr sz="2400" dirty="0">
                <a:latin typeface="Calibri"/>
                <a:cs typeface="Calibri"/>
              </a:rPr>
              <a:t>is </a:t>
            </a:r>
            <a:r>
              <a:rPr sz="2400" spc="-5" dirty="0">
                <a:latin typeface="Calibri"/>
                <a:cs typeface="Calibri"/>
              </a:rPr>
              <a:t>assigned:</a:t>
            </a:r>
            <a:endParaRPr sz="2400">
              <a:latin typeface="Calibri"/>
              <a:cs typeface="Calibri"/>
            </a:endParaRPr>
          </a:p>
          <a:p>
            <a:pPr marL="1155700" lvl="2" indent="-229235">
              <a:lnSpc>
                <a:spcPct val="100000"/>
              </a:lnSpc>
              <a:spcBef>
                <a:spcPts val="290"/>
              </a:spcBef>
              <a:buFont typeface="Arial MT"/>
              <a:buChar char="•"/>
              <a:tabLst>
                <a:tab pos="1156335" algn="l"/>
              </a:tabLst>
            </a:pPr>
            <a:r>
              <a:rPr sz="2400" dirty="0">
                <a:latin typeface="Calibri"/>
                <a:cs typeface="Calibri"/>
              </a:rPr>
              <a:t>Name</a:t>
            </a:r>
            <a:r>
              <a:rPr sz="2400" spc="-35" dirty="0">
                <a:latin typeface="Calibri"/>
                <a:cs typeface="Calibri"/>
              </a:rPr>
              <a:t> </a:t>
            </a:r>
            <a:r>
              <a:rPr sz="2400" spc="-10" dirty="0">
                <a:latin typeface="Calibri"/>
                <a:cs typeface="Calibri"/>
              </a:rPr>
              <a:t>(must</a:t>
            </a:r>
            <a:r>
              <a:rPr sz="2400" spc="-25" dirty="0">
                <a:latin typeface="Calibri"/>
                <a:cs typeface="Calibri"/>
              </a:rPr>
              <a:t> </a:t>
            </a:r>
            <a:r>
              <a:rPr sz="2400" spc="-5" dirty="0">
                <a:latin typeface="Calibri"/>
                <a:cs typeface="Calibri"/>
              </a:rPr>
              <a:t>be</a:t>
            </a:r>
            <a:r>
              <a:rPr sz="2400" spc="-15" dirty="0">
                <a:latin typeface="Calibri"/>
                <a:cs typeface="Calibri"/>
              </a:rPr>
              <a:t> </a:t>
            </a:r>
            <a:r>
              <a:rPr sz="2400" spc="-5" dirty="0">
                <a:latin typeface="Calibri"/>
                <a:cs typeface="Calibri"/>
              </a:rPr>
              <a:t>unique</a:t>
            </a:r>
            <a:r>
              <a:rPr sz="2400" spc="-10" dirty="0">
                <a:latin typeface="Calibri"/>
                <a:cs typeface="Calibri"/>
              </a:rPr>
              <a:t> </a:t>
            </a:r>
            <a:r>
              <a:rPr sz="2400" dirty="0">
                <a:latin typeface="Calibri"/>
                <a:cs typeface="Calibri"/>
              </a:rPr>
              <a:t>within</a:t>
            </a:r>
            <a:r>
              <a:rPr sz="2400" spc="-30" dirty="0">
                <a:latin typeface="Calibri"/>
                <a:cs typeface="Calibri"/>
              </a:rPr>
              <a:t> </a:t>
            </a:r>
            <a:r>
              <a:rPr sz="2400" dirty="0">
                <a:latin typeface="Calibri"/>
                <a:cs typeface="Calibri"/>
              </a:rPr>
              <a:t>the</a:t>
            </a:r>
            <a:r>
              <a:rPr sz="2400" spc="-10" dirty="0">
                <a:latin typeface="Calibri"/>
                <a:cs typeface="Calibri"/>
              </a:rPr>
              <a:t> </a:t>
            </a:r>
            <a:r>
              <a:rPr sz="2400" spc="-5" dirty="0">
                <a:latin typeface="Calibri"/>
                <a:cs typeface="Calibri"/>
              </a:rPr>
              <a:t>table)</a:t>
            </a:r>
            <a:endParaRPr sz="2400">
              <a:latin typeface="Calibri"/>
              <a:cs typeface="Calibri"/>
            </a:endParaRPr>
          </a:p>
          <a:p>
            <a:pPr marL="1155700" lvl="2" indent="-229235">
              <a:lnSpc>
                <a:spcPct val="100000"/>
              </a:lnSpc>
              <a:spcBef>
                <a:spcPts val="290"/>
              </a:spcBef>
              <a:buFont typeface="Arial MT"/>
              <a:buChar char="•"/>
              <a:tabLst>
                <a:tab pos="1156335" algn="l"/>
              </a:tabLst>
            </a:pPr>
            <a:r>
              <a:rPr sz="2400" spc="-15" dirty="0">
                <a:latin typeface="Calibri"/>
                <a:cs typeface="Calibri"/>
              </a:rPr>
              <a:t>Data</a:t>
            </a:r>
            <a:r>
              <a:rPr sz="2400" spc="-30" dirty="0">
                <a:latin typeface="Calibri"/>
                <a:cs typeface="Calibri"/>
              </a:rPr>
              <a:t> </a:t>
            </a:r>
            <a:r>
              <a:rPr sz="2400" dirty="0">
                <a:latin typeface="Calibri"/>
                <a:cs typeface="Calibri"/>
              </a:rPr>
              <a:t>type</a:t>
            </a:r>
            <a:r>
              <a:rPr sz="2400" spc="-10" dirty="0">
                <a:latin typeface="Calibri"/>
                <a:cs typeface="Calibri"/>
              </a:rPr>
              <a:t> </a:t>
            </a:r>
            <a:r>
              <a:rPr sz="2400" spc="-5" dirty="0">
                <a:latin typeface="Calibri"/>
                <a:cs typeface="Calibri"/>
              </a:rPr>
              <a:t>(such</a:t>
            </a:r>
            <a:r>
              <a:rPr sz="2400" spc="-20" dirty="0">
                <a:latin typeface="Calibri"/>
                <a:cs typeface="Calibri"/>
              </a:rPr>
              <a:t> </a:t>
            </a:r>
            <a:r>
              <a:rPr sz="2400" dirty="0">
                <a:latin typeface="Calibri"/>
                <a:cs typeface="Calibri"/>
              </a:rPr>
              <a:t>as</a:t>
            </a:r>
            <a:r>
              <a:rPr sz="2400" spc="-10" dirty="0">
                <a:latin typeface="Calibri"/>
                <a:cs typeface="Calibri"/>
              </a:rPr>
              <a:t> </a:t>
            </a:r>
            <a:r>
              <a:rPr sz="2400" spc="-50" dirty="0">
                <a:latin typeface="Calibri"/>
                <a:cs typeface="Calibri"/>
              </a:rPr>
              <a:t>Text,</a:t>
            </a:r>
            <a:r>
              <a:rPr sz="2400" spc="-15" dirty="0">
                <a:latin typeface="Calibri"/>
                <a:cs typeface="Calibri"/>
              </a:rPr>
              <a:t> </a:t>
            </a:r>
            <a:r>
              <a:rPr sz="2400" spc="-30" dirty="0">
                <a:latin typeface="Calibri"/>
                <a:cs typeface="Calibri"/>
              </a:rPr>
              <a:t>Number,</a:t>
            </a:r>
            <a:r>
              <a:rPr sz="2400" dirty="0">
                <a:latin typeface="Calibri"/>
                <a:cs typeface="Calibri"/>
              </a:rPr>
              <a:t> </a:t>
            </a:r>
            <a:r>
              <a:rPr sz="2400" spc="-25" dirty="0">
                <a:latin typeface="Calibri"/>
                <a:cs typeface="Calibri"/>
              </a:rPr>
              <a:t>Currency, </a:t>
            </a:r>
            <a:r>
              <a:rPr sz="2400" spc="-10" dirty="0">
                <a:latin typeface="Calibri"/>
                <a:cs typeface="Calibri"/>
              </a:rPr>
              <a:t>Date/Time)</a:t>
            </a:r>
            <a:endParaRPr sz="2400">
              <a:latin typeface="Calibri"/>
              <a:cs typeface="Calibri"/>
            </a:endParaRPr>
          </a:p>
          <a:p>
            <a:pPr marL="1155700" lvl="2" indent="-229235">
              <a:lnSpc>
                <a:spcPct val="100000"/>
              </a:lnSpc>
              <a:spcBef>
                <a:spcPts val="290"/>
              </a:spcBef>
              <a:buFont typeface="Arial MT"/>
              <a:buChar char="•"/>
              <a:tabLst>
                <a:tab pos="1156335" algn="l"/>
              </a:tabLst>
            </a:pPr>
            <a:r>
              <a:rPr sz="2400" spc="-5" dirty="0">
                <a:latin typeface="Calibri"/>
                <a:cs typeface="Calibri"/>
              </a:rPr>
              <a:t>Description</a:t>
            </a:r>
            <a:r>
              <a:rPr sz="2400" spc="-40" dirty="0">
                <a:latin typeface="Calibri"/>
                <a:cs typeface="Calibri"/>
              </a:rPr>
              <a:t> </a:t>
            </a:r>
            <a:r>
              <a:rPr sz="2400" spc="-5" dirty="0">
                <a:latin typeface="Calibri"/>
                <a:cs typeface="Calibri"/>
              </a:rPr>
              <a:t>(optional</a:t>
            </a:r>
            <a:r>
              <a:rPr sz="2400" spc="-25" dirty="0">
                <a:latin typeface="Calibri"/>
                <a:cs typeface="Calibri"/>
              </a:rPr>
              <a:t> </a:t>
            </a:r>
            <a:r>
              <a:rPr sz="2400" spc="-5" dirty="0">
                <a:latin typeface="Calibri"/>
                <a:cs typeface="Calibri"/>
              </a:rPr>
              <a:t>description</a:t>
            </a:r>
            <a:r>
              <a:rPr sz="2400" dirty="0">
                <a:latin typeface="Calibri"/>
                <a:cs typeface="Calibri"/>
              </a:rPr>
              <a:t> </a:t>
            </a:r>
            <a:r>
              <a:rPr sz="2400" spc="-10" dirty="0">
                <a:latin typeface="Calibri"/>
                <a:cs typeface="Calibri"/>
              </a:rPr>
              <a:t>of </a:t>
            </a:r>
            <a:r>
              <a:rPr sz="2400" dirty="0">
                <a:latin typeface="Calibri"/>
                <a:cs typeface="Calibri"/>
              </a:rPr>
              <a:t>the</a:t>
            </a:r>
            <a:r>
              <a:rPr sz="2400" spc="-5" dirty="0">
                <a:latin typeface="Calibri"/>
                <a:cs typeface="Calibri"/>
              </a:rPr>
              <a:t> field)</a:t>
            </a:r>
            <a:endParaRPr sz="2400">
              <a:latin typeface="Calibri"/>
              <a:cs typeface="Calibri"/>
            </a:endParaRPr>
          </a:p>
          <a:p>
            <a:pPr marL="1155700" marR="509905" lvl="2" indent="-228600">
              <a:lnSpc>
                <a:spcPts val="2590"/>
              </a:lnSpc>
              <a:spcBef>
                <a:spcPts val="615"/>
              </a:spcBef>
              <a:buFont typeface="Arial MT"/>
              <a:buChar char="•"/>
              <a:tabLst>
                <a:tab pos="1156335" algn="l"/>
              </a:tabLst>
            </a:pPr>
            <a:r>
              <a:rPr sz="2400" spc="-10" dirty="0">
                <a:latin typeface="Calibri"/>
                <a:cs typeface="Calibri"/>
              </a:rPr>
              <a:t>Properties </a:t>
            </a:r>
            <a:r>
              <a:rPr sz="2400" spc="-5" dirty="0">
                <a:latin typeface="Calibri"/>
                <a:cs typeface="Calibri"/>
              </a:rPr>
              <a:t>(field </a:t>
            </a:r>
            <a:r>
              <a:rPr sz="2400" spc="-15" dirty="0">
                <a:latin typeface="Calibri"/>
                <a:cs typeface="Calibri"/>
              </a:rPr>
              <a:t>size, format </a:t>
            </a:r>
            <a:r>
              <a:rPr sz="2400" spc="-5" dirty="0">
                <a:latin typeface="Calibri"/>
                <a:cs typeface="Calibri"/>
              </a:rPr>
              <a:t>of </a:t>
            </a:r>
            <a:r>
              <a:rPr sz="2400" dirty="0">
                <a:latin typeface="Calibri"/>
                <a:cs typeface="Calibri"/>
              </a:rPr>
              <a:t>the </a:t>
            </a:r>
            <a:r>
              <a:rPr sz="2400" spc="-5" dirty="0">
                <a:latin typeface="Calibri"/>
                <a:cs typeface="Calibri"/>
              </a:rPr>
              <a:t>field, allowable </a:t>
            </a:r>
            <a:r>
              <a:rPr sz="2400" spc="-530" dirty="0">
                <a:latin typeface="Calibri"/>
                <a:cs typeface="Calibri"/>
              </a:rPr>
              <a:t> </a:t>
            </a:r>
            <a:r>
              <a:rPr sz="2400" spc="-15" dirty="0">
                <a:latin typeface="Calibri"/>
                <a:cs typeface="Calibri"/>
              </a:rPr>
              <a:t>range, </a:t>
            </a:r>
            <a:r>
              <a:rPr sz="2400" dirty="0">
                <a:latin typeface="Calibri"/>
                <a:cs typeface="Calibri"/>
              </a:rPr>
              <a:t>if </a:t>
            </a:r>
            <a:r>
              <a:rPr sz="2400" spc="-5" dirty="0">
                <a:latin typeface="Calibri"/>
                <a:cs typeface="Calibri"/>
              </a:rPr>
              <a:t>field </a:t>
            </a:r>
            <a:r>
              <a:rPr sz="2400" dirty="0">
                <a:latin typeface="Calibri"/>
                <a:cs typeface="Calibri"/>
              </a:rPr>
              <a:t>is </a:t>
            </a:r>
            <a:r>
              <a:rPr sz="2400" spc="-10" dirty="0">
                <a:latin typeface="Calibri"/>
                <a:cs typeface="Calibri"/>
              </a:rPr>
              <a:t>required,</a:t>
            </a:r>
            <a:r>
              <a:rPr sz="2400" dirty="0">
                <a:latin typeface="Calibri"/>
                <a:cs typeface="Calibri"/>
              </a:rPr>
              <a:t> </a:t>
            </a:r>
            <a:r>
              <a:rPr sz="2400" spc="-10" dirty="0">
                <a:latin typeface="Calibri"/>
                <a:cs typeface="Calibri"/>
              </a:rPr>
              <a:t>etc.)</a:t>
            </a:r>
            <a:endParaRPr sz="2400">
              <a:latin typeface="Calibri"/>
              <a:cs typeface="Calibri"/>
            </a:endParaRPr>
          </a:p>
          <a:p>
            <a:pPr marL="756285" marR="812800" lvl="1" indent="-287020">
              <a:lnSpc>
                <a:spcPts val="2590"/>
              </a:lnSpc>
              <a:spcBef>
                <a:spcPts val="580"/>
              </a:spcBef>
              <a:buFont typeface="Arial MT"/>
              <a:buChar char="–"/>
              <a:tabLst>
                <a:tab pos="756920" algn="l"/>
              </a:tabLst>
            </a:pPr>
            <a:r>
              <a:rPr sz="2400" spc="-5" dirty="0">
                <a:latin typeface="Calibri"/>
                <a:cs typeface="Calibri"/>
              </a:rPr>
              <a:t>Finished </a:t>
            </a:r>
            <a:r>
              <a:rPr sz="2400" spc="-10" dirty="0">
                <a:latin typeface="Calibri"/>
                <a:cs typeface="Calibri"/>
              </a:rPr>
              <a:t>specifications </a:t>
            </a:r>
            <a:r>
              <a:rPr sz="2400" spc="-20" dirty="0">
                <a:latin typeface="Calibri"/>
                <a:cs typeface="Calibri"/>
              </a:rPr>
              <a:t>for </a:t>
            </a:r>
            <a:r>
              <a:rPr sz="2400" dirty="0">
                <a:latin typeface="Calibri"/>
                <a:cs typeface="Calibri"/>
              </a:rPr>
              <a:t>a </a:t>
            </a:r>
            <a:r>
              <a:rPr sz="2400" spc="-10" dirty="0">
                <a:latin typeface="Calibri"/>
                <a:cs typeface="Calibri"/>
              </a:rPr>
              <a:t>table become </a:t>
            </a:r>
            <a:r>
              <a:rPr sz="2400" dirty="0">
                <a:latin typeface="Calibri"/>
                <a:cs typeface="Calibri"/>
              </a:rPr>
              <a:t>the </a:t>
            </a:r>
            <a:r>
              <a:rPr sz="2400" spc="-5" dirty="0">
                <a:latin typeface="Calibri"/>
                <a:cs typeface="Calibri"/>
              </a:rPr>
              <a:t>table </a:t>
            </a:r>
            <a:r>
              <a:rPr sz="2400" spc="-530" dirty="0">
                <a:latin typeface="Calibri"/>
                <a:cs typeface="Calibri"/>
              </a:rPr>
              <a:t> </a:t>
            </a:r>
            <a:r>
              <a:rPr sz="2400" spc="-10" dirty="0">
                <a:latin typeface="Calibri"/>
                <a:cs typeface="Calibri"/>
              </a:rPr>
              <a:t>structure</a:t>
            </a:r>
            <a:endParaRPr sz="24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6189345"/>
            <a:chOff x="0" y="0"/>
            <a:chExt cx="9144000" cy="6189345"/>
          </a:xfrm>
        </p:grpSpPr>
        <p:pic>
          <p:nvPicPr>
            <p:cNvPr id="3" name="object 3"/>
            <p:cNvPicPr/>
            <p:nvPr/>
          </p:nvPicPr>
          <p:blipFill>
            <a:blip r:embed="rId2" cstate="print"/>
            <a:stretch>
              <a:fillRect/>
            </a:stretch>
          </p:blipFill>
          <p:spPr>
            <a:xfrm>
              <a:off x="827582" y="1484757"/>
              <a:ext cx="7618730" cy="3830100"/>
            </a:xfrm>
            <a:prstGeom prst="rect">
              <a:avLst/>
            </a:prstGeom>
          </p:spPr>
        </p:pic>
        <p:pic>
          <p:nvPicPr>
            <p:cNvPr id="4" name="object 4"/>
            <p:cNvPicPr/>
            <p:nvPr/>
          </p:nvPicPr>
          <p:blipFill>
            <a:blip r:embed="rId3" cstate="print"/>
            <a:stretch>
              <a:fillRect/>
            </a:stretch>
          </p:blipFill>
          <p:spPr>
            <a:xfrm>
              <a:off x="467537" y="4941163"/>
              <a:ext cx="1238250" cy="1247775"/>
            </a:xfrm>
            <a:prstGeom prst="rect">
              <a:avLst/>
            </a:prstGeom>
          </p:spPr>
        </p:pic>
      </p:grpSp>
      <p:sp>
        <p:nvSpPr>
          <p:cNvPr id="5" name="object 5"/>
          <p:cNvSpPr txBox="1">
            <a:spLocks noGrp="1"/>
          </p:cNvSpPr>
          <p:nvPr>
            <p:ph type="title"/>
          </p:nvPr>
        </p:nvSpPr>
        <p:spPr>
          <a:xfrm>
            <a:off x="1806701" y="414655"/>
            <a:ext cx="6125210"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25" dirty="0"/>
              <a:t> </a:t>
            </a:r>
            <a:r>
              <a:rPr spc="-5" dirty="0"/>
              <a:t>Concepts</a:t>
            </a:r>
            <a:r>
              <a:rPr spc="5" dirty="0"/>
              <a:t> </a:t>
            </a:r>
            <a:r>
              <a:rPr dirty="0"/>
              <a:t>and</a:t>
            </a:r>
            <a:r>
              <a:rPr spc="-20" dirty="0"/>
              <a:t> </a:t>
            </a:r>
            <a:r>
              <a:rPr spc="-5" dirty="0"/>
              <a:t>Characteristics</a:t>
            </a:r>
          </a:p>
        </p:txBody>
      </p:sp>
      <p:sp>
        <p:nvSpPr>
          <p:cNvPr id="6" name="object 6"/>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7" name="object 7"/>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125210"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25" dirty="0"/>
              <a:t> </a:t>
            </a:r>
            <a:r>
              <a:rPr spc="-5" dirty="0"/>
              <a:t>Concepts</a:t>
            </a:r>
            <a:r>
              <a:rPr spc="5" dirty="0"/>
              <a:t> </a:t>
            </a:r>
            <a:r>
              <a:rPr dirty="0"/>
              <a:t>and</a:t>
            </a:r>
            <a:r>
              <a:rPr spc="-20" dirty="0"/>
              <a:t> </a:t>
            </a:r>
            <a:r>
              <a:rPr spc="-5" dirty="0"/>
              <a:t>Characteristics</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17</a:t>
            </a:fld>
            <a:endParaRPr dirty="0"/>
          </a:p>
        </p:txBody>
      </p:sp>
      <p:sp>
        <p:nvSpPr>
          <p:cNvPr id="3" name="object 3"/>
          <p:cNvSpPr txBox="1"/>
          <p:nvPr/>
        </p:nvSpPr>
        <p:spPr>
          <a:xfrm>
            <a:off x="535940" y="1461262"/>
            <a:ext cx="7981315" cy="4635500"/>
          </a:xfrm>
          <a:prstGeom prst="rect">
            <a:avLst/>
          </a:prstGeom>
        </p:spPr>
        <p:txBody>
          <a:bodyPr vert="horz" wrap="square" lIns="0" tIns="48895" rIns="0" bIns="0" rtlCol="0">
            <a:spAutoFit/>
          </a:bodyPr>
          <a:lstStyle/>
          <a:p>
            <a:pPr marL="355600" indent="-343535">
              <a:lnSpc>
                <a:spcPct val="100000"/>
              </a:lnSpc>
              <a:spcBef>
                <a:spcPts val="385"/>
              </a:spcBef>
              <a:buFont typeface="Arial MT"/>
              <a:buChar char="•"/>
              <a:tabLst>
                <a:tab pos="355600" algn="l"/>
                <a:tab pos="356235" algn="l"/>
              </a:tabLst>
            </a:pPr>
            <a:r>
              <a:rPr sz="2400" spc="-5" dirty="0">
                <a:latin typeface="Calibri"/>
                <a:cs typeface="Calibri"/>
              </a:rPr>
              <a:t>The</a:t>
            </a:r>
            <a:r>
              <a:rPr sz="2400" spc="-30" dirty="0">
                <a:latin typeface="Calibri"/>
                <a:cs typeface="Calibri"/>
              </a:rPr>
              <a:t> </a:t>
            </a:r>
            <a:r>
              <a:rPr sz="2400" spc="-15" dirty="0">
                <a:latin typeface="Calibri"/>
                <a:cs typeface="Calibri"/>
              </a:rPr>
              <a:t>Data</a:t>
            </a:r>
            <a:r>
              <a:rPr sz="2400" spc="-30" dirty="0">
                <a:latin typeface="Calibri"/>
                <a:cs typeface="Calibri"/>
              </a:rPr>
              <a:t> </a:t>
            </a:r>
            <a:r>
              <a:rPr sz="2400" spc="-5" dirty="0">
                <a:latin typeface="Calibri"/>
                <a:cs typeface="Calibri"/>
              </a:rPr>
              <a:t>Dictionary</a:t>
            </a:r>
            <a:endParaRPr sz="2400">
              <a:latin typeface="Calibri"/>
              <a:cs typeface="Calibri"/>
            </a:endParaRPr>
          </a:p>
          <a:p>
            <a:pPr marL="756285" lvl="1" indent="-287020">
              <a:lnSpc>
                <a:spcPct val="100000"/>
              </a:lnSpc>
              <a:spcBef>
                <a:spcPts val="290"/>
              </a:spcBef>
              <a:buFont typeface="Arial MT"/>
              <a:buChar char="–"/>
              <a:tabLst>
                <a:tab pos="756920" algn="l"/>
              </a:tabLst>
            </a:pPr>
            <a:r>
              <a:rPr sz="2400" spc="-10" dirty="0">
                <a:latin typeface="Calibri"/>
                <a:cs typeface="Calibri"/>
              </a:rPr>
              <a:t>Contains</a:t>
            </a:r>
            <a:r>
              <a:rPr sz="2400" spc="-30" dirty="0">
                <a:latin typeface="Calibri"/>
                <a:cs typeface="Calibri"/>
              </a:rPr>
              <a:t> </a:t>
            </a:r>
            <a:r>
              <a:rPr sz="2400" dirty="0">
                <a:latin typeface="Calibri"/>
                <a:cs typeface="Calibri"/>
              </a:rPr>
              <a:t>all</a:t>
            </a:r>
            <a:r>
              <a:rPr sz="2400" spc="-15" dirty="0">
                <a:latin typeface="Calibri"/>
                <a:cs typeface="Calibri"/>
              </a:rPr>
              <a:t> data </a:t>
            </a:r>
            <a:r>
              <a:rPr sz="2400" spc="-10" dirty="0">
                <a:latin typeface="Calibri"/>
                <a:cs typeface="Calibri"/>
              </a:rPr>
              <a:t>definitions</a:t>
            </a:r>
            <a:r>
              <a:rPr sz="2400" spc="-5" dirty="0">
                <a:latin typeface="Calibri"/>
                <a:cs typeface="Calibri"/>
              </a:rPr>
              <a:t> </a:t>
            </a:r>
            <a:r>
              <a:rPr sz="2400" dirty="0">
                <a:latin typeface="Calibri"/>
                <a:cs typeface="Calibri"/>
              </a:rPr>
              <a:t>in a</a:t>
            </a:r>
            <a:r>
              <a:rPr sz="2400" spc="-15" dirty="0">
                <a:latin typeface="Calibri"/>
                <a:cs typeface="Calibri"/>
              </a:rPr>
              <a:t> </a:t>
            </a:r>
            <a:r>
              <a:rPr sz="2400" spc="-10" dirty="0">
                <a:latin typeface="Calibri"/>
                <a:cs typeface="Calibri"/>
              </a:rPr>
              <a:t>database,</a:t>
            </a:r>
            <a:r>
              <a:rPr sz="2400" spc="-15" dirty="0">
                <a:latin typeface="Calibri"/>
                <a:cs typeface="Calibri"/>
              </a:rPr>
              <a:t> </a:t>
            </a:r>
            <a:r>
              <a:rPr sz="2400" dirty="0">
                <a:latin typeface="Calibri"/>
                <a:cs typeface="Calibri"/>
              </a:rPr>
              <a:t>including:</a:t>
            </a:r>
            <a:endParaRPr sz="2400">
              <a:latin typeface="Calibri"/>
              <a:cs typeface="Calibri"/>
            </a:endParaRPr>
          </a:p>
          <a:p>
            <a:pPr marL="1155700" lvl="2" indent="-229235">
              <a:lnSpc>
                <a:spcPct val="100000"/>
              </a:lnSpc>
              <a:spcBef>
                <a:spcPts val="290"/>
              </a:spcBef>
              <a:buFont typeface="Arial MT"/>
              <a:buChar char="•"/>
              <a:tabLst>
                <a:tab pos="1156335" algn="l"/>
              </a:tabLst>
            </a:pPr>
            <a:r>
              <a:rPr sz="2400" spc="-40" dirty="0">
                <a:latin typeface="Calibri"/>
                <a:cs typeface="Calibri"/>
              </a:rPr>
              <a:t>Table</a:t>
            </a:r>
            <a:r>
              <a:rPr sz="2400" spc="-25" dirty="0">
                <a:latin typeface="Calibri"/>
                <a:cs typeface="Calibri"/>
              </a:rPr>
              <a:t> </a:t>
            </a:r>
            <a:r>
              <a:rPr sz="2400" spc="-10" dirty="0">
                <a:latin typeface="Calibri"/>
                <a:cs typeface="Calibri"/>
              </a:rPr>
              <a:t>structures</a:t>
            </a:r>
            <a:endParaRPr sz="2400">
              <a:latin typeface="Calibri"/>
              <a:cs typeface="Calibri"/>
            </a:endParaRPr>
          </a:p>
          <a:p>
            <a:pPr marL="1155700" lvl="2" indent="-229235">
              <a:lnSpc>
                <a:spcPct val="100000"/>
              </a:lnSpc>
              <a:spcBef>
                <a:spcPts val="290"/>
              </a:spcBef>
              <a:buFont typeface="Arial MT"/>
              <a:buChar char="•"/>
              <a:tabLst>
                <a:tab pos="1156335" algn="l"/>
              </a:tabLst>
            </a:pPr>
            <a:r>
              <a:rPr sz="2400" dirty="0">
                <a:latin typeface="Calibri"/>
                <a:cs typeface="Calibri"/>
              </a:rPr>
              <a:t>Security</a:t>
            </a:r>
            <a:r>
              <a:rPr sz="2400" spc="-45" dirty="0">
                <a:latin typeface="Calibri"/>
                <a:cs typeface="Calibri"/>
              </a:rPr>
              <a:t> </a:t>
            </a:r>
            <a:r>
              <a:rPr sz="2400" spc="-10" dirty="0">
                <a:latin typeface="Calibri"/>
                <a:cs typeface="Calibri"/>
              </a:rPr>
              <a:t>information</a:t>
            </a:r>
            <a:r>
              <a:rPr sz="2400" spc="-30" dirty="0">
                <a:latin typeface="Calibri"/>
                <a:cs typeface="Calibri"/>
              </a:rPr>
              <a:t> </a:t>
            </a:r>
            <a:r>
              <a:rPr sz="2400" spc="-15" dirty="0">
                <a:latin typeface="Calibri"/>
                <a:cs typeface="Calibri"/>
              </a:rPr>
              <a:t>(passwords,</a:t>
            </a:r>
            <a:r>
              <a:rPr sz="2400" spc="-10" dirty="0">
                <a:latin typeface="Calibri"/>
                <a:cs typeface="Calibri"/>
              </a:rPr>
              <a:t> etc.)</a:t>
            </a:r>
            <a:endParaRPr sz="2400">
              <a:latin typeface="Calibri"/>
              <a:cs typeface="Calibri"/>
            </a:endParaRPr>
          </a:p>
          <a:p>
            <a:pPr marL="1155700" lvl="2" indent="-229235">
              <a:lnSpc>
                <a:spcPct val="100000"/>
              </a:lnSpc>
              <a:spcBef>
                <a:spcPts val="285"/>
              </a:spcBef>
              <a:buFont typeface="Arial MT"/>
              <a:buChar char="•"/>
              <a:tabLst>
                <a:tab pos="1156335" algn="l"/>
              </a:tabLst>
            </a:pPr>
            <a:r>
              <a:rPr sz="2400" spc="-10" dirty="0">
                <a:latin typeface="Calibri"/>
                <a:cs typeface="Calibri"/>
              </a:rPr>
              <a:t>Relationships</a:t>
            </a:r>
            <a:r>
              <a:rPr sz="2400" spc="-35" dirty="0">
                <a:latin typeface="Calibri"/>
                <a:cs typeface="Calibri"/>
              </a:rPr>
              <a:t> </a:t>
            </a:r>
            <a:r>
              <a:rPr sz="2400" spc="-5" dirty="0">
                <a:latin typeface="Calibri"/>
                <a:cs typeface="Calibri"/>
              </a:rPr>
              <a:t>between </a:t>
            </a:r>
            <a:r>
              <a:rPr sz="2400" dirty="0">
                <a:latin typeface="Calibri"/>
                <a:cs typeface="Calibri"/>
              </a:rPr>
              <a:t>the</a:t>
            </a:r>
            <a:r>
              <a:rPr sz="2400" spc="-20" dirty="0">
                <a:latin typeface="Calibri"/>
                <a:cs typeface="Calibri"/>
              </a:rPr>
              <a:t> </a:t>
            </a:r>
            <a:r>
              <a:rPr sz="2400" spc="-5" dirty="0">
                <a:latin typeface="Calibri"/>
                <a:cs typeface="Calibri"/>
              </a:rPr>
              <a:t>tables</a:t>
            </a:r>
            <a:r>
              <a:rPr sz="2400" spc="-20" dirty="0">
                <a:latin typeface="Calibri"/>
                <a:cs typeface="Calibri"/>
              </a:rPr>
              <a:t> </a:t>
            </a:r>
            <a:r>
              <a:rPr sz="2400" dirty="0">
                <a:latin typeface="Calibri"/>
                <a:cs typeface="Calibri"/>
              </a:rPr>
              <a:t>in the</a:t>
            </a:r>
            <a:r>
              <a:rPr sz="2400" spc="-5" dirty="0">
                <a:latin typeface="Calibri"/>
                <a:cs typeface="Calibri"/>
              </a:rPr>
              <a:t> </a:t>
            </a:r>
            <a:r>
              <a:rPr sz="2400" spc="-10" dirty="0">
                <a:latin typeface="Calibri"/>
                <a:cs typeface="Calibri"/>
              </a:rPr>
              <a:t>database</a:t>
            </a:r>
            <a:endParaRPr sz="2400">
              <a:latin typeface="Calibri"/>
              <a:cs typeface="Calibri"/>
            </a:endParaRPr>
          </a:p>
          <a:p>
            <a:pPr marL="1155700" lvl="2" indent="-229235">
              <a:lnSpc>
                <a:spcPts val="2735"/>
              </a:lnSpc>
              <a:spcBef>
                <a:spcPts val="290"/>
              </a:spcBef>
              <a:buFont typeface="Arial MT"/>
              <a:buChar char="•"/>
              <a:tabLst>
                <a:tab pos="1156335" algn="l"/>
              </a:tabLst>
            </a:pPr>
            <a:r>
              <a:rPr sz="2400" dirty="0">
                <a:latin typeface="Calibri"/>
                <a:cs typeface="Calibri"/>
              </a:rPr>
              <a:t>Basic</a:t>
            </a:r>
            <a:r>
              <a:rPr sz="2400" spc="-45" dirty="0">
                <a:latin typeface="Calibri"/>
                <a:cs typeface="Calibri"/>
              </a:rPr>
              <a:t> </a:t>
            </a:r>
            <a:r>
              <a:rPr sz="2400" spc="-10" dirty="0">
                <a:latin typeface="Calibri"/>
                <a:cs typeface="Calibri"/>
              </a:rPr>
              <a:t>information</a:t>
            </a:r>
            <a:r>
              <a:rPr sz="2400" spc="-25" dirty="0">
                <a:latin typeface="Calibri"/>
                <a:cs typeface="Calibri"/>
              </a:rPr>
              <a:t> </a:t>
            </a:r>
            <a:r>
              <a:rPr sz="2400" spc="-5" dirty="0">
                <a:latin typeface="Calibri"/>
                <a:cs typeface="Calibri"/>
              </a:rPr>
              <a:t>about</a:t>
            </a:r>
            <a:r>
              <a:rPr sz="2400" dirty="0">
                <a:latin typeface="Calibri"/>
                <a:cs typeface="Calibri"/>
              </a:rPr>
              <a:t> each</a:t>
            </a:r>
            <a:r>
              <a:rPr sz="2400" spc="-5" dirty="0">
                <a:latin typeface="Calibri"/>
                <a:cs typeface="Calibri"/>
              </a:rPr>
              <a:t> table,</a:t>
            </a:r>
            <a:r>
              <a:rPr sz="2400" spc="-30" dirty="0">
                <a:latin typeface="Calibri"/>
                <a:cs typeface="Calibri"/>
              </a:rPr>
              <a:t> </a:t>
            </a:r>
            <a:r>
              <a:rPr sz="2400" spc="-5" dirty="0">
                <a:latin typeface="Calibri"/>
                <a:cs typeface="Calibri"/>
              </a:rPr>
              <a:t>such </a:t>
            </a:r>
            <a:r>
              <a:rPr sz="2400" dirty="0">
                <a:latin typeface="Calibri"/>
                <a:cs typeface="Calibri"/>
              </a:rPr>
              <a:t>as</a:t>
            </a:r>
            <a:r>
              <a:rPr sz="2400" spc="-15" dirty="0">
                <a:latin typeface="Calibri"/>
                <a:cs typeface="Calibri"/>
              </a:rPr>
              <a:t> </a:t>
            </a:r>
            <a:r>
              <a:rPr sz="2400" dirty="0">
                <a:latin typeface="Calibri"/>
                <a:cs typeface="Calibri"/>
              </a:rPr>
              <a:t>the </a:t>
            </a:r>
            <a:r>
              <a:rPr sz="2400" spc="-10" dirty="0">
                <a:latin typeface="Calibri"/>
                <a:cs typeface="Calibri"/>
              </a:rPr>
              <a:t>current</a:t>
            </a:r>
            <a:endParaRPr sz="2400">
              <a:latin typeface="Calibri"/>
              <a:cs typeface="Calibri"/>
            </a:endParaRPr>
          </a:p>
          <a:p>
            <a:pPr marL="1155700">
              <a:lnSpc>
                <a:spcPts val="2735"/>
              </a:lnSpc>
            </a:pPr>
            <a:r>
              <a:rPr sz="2400" spc="-5" dirty="0">
                <a:latin typeface="Calibri"/>
                <a:cs typeface="Calibri"/>
              </a:rPr>
              <a:t>number</a:t>
            </a:r>
            <a:r>
              <a:rPr sz="2400" spc="-35" dirty="0">
                <a:latin typeface="Calibri"/>
                <a:cs typeface="Calibri"/>
              </a:rPr>
              <a:t> </a:t>
            </a:r>
            <a:r>
              <a:rPr sz="2400" spc="-5" dirty="0">
                <a:latin typeface="Calibri"/>
                <a:cs typeface="Calibri"/>
              </a:rPr>
              <a:t>of</a:t>
            </a:r>
            <a:r>
              <a:rPr sz="2400" spc="-20" dirty="0">
                <a:latin typeface="Calibri"/>
                <a:cs typeface="Calibri"/>
              </a:rPr>
              <a:t> records</a:t>
            </a:r>
            <a:endParaRPr sz="2400">
              <a:latin typeface="Calibri"/>
              <a:cs typeface="Calibri"/>
            </a:endParaRPr>
          </a:p>
          <a:p>
            <a:pPr marL="756285" lvl="1" indent="-287020">
              <a:lnSpc>
                <a:spcPct val="100000"/>
              </a:lnSpc>
              <a:spcBef>
                <a:spcPts val="290"/>
              </a:spcBef>
              <a:buFont typeface="Arial MT"/>
              <a:buChar char="–"/>
              <a:tabLst>
                <a:tab pos="756920" algn="l"/>
              </a:tabLst>
            </a:pPr>
            <a:r>
              <a:rPr sz="2400" spc="-5" dirty="0">
                <a:latin typeface="Calibri"/>
                <a:cs typeface="Calibri"/>
              </a:rPr>
              <a:t>Does</a:t>
            </a:r>
            <a:r>
              <a:rPr sz="2400" spc="-25" dirty="0">
                <a:latin typeface="Calibri"/>
                <a:cs typeface="Calibri"/>
              </a:rPr>
              <a:t> </a:t>
            </a:r>
            <a:r>
              <a:rPr sz="2400" spc="-5" dirty="0">
                <a:latin typeface="Calibri"/>
                <a:cs typeface="Calibri"/>
              </a:rPr>
              <a:t>not</a:t>
            </a:r>
            <a:r>
              <a:rPr sz="2400" spc="-10" dirty="0">
                <a:latin typeface="Calibri"/>
                <a:cs typeface="Calibri"/>
              </a:rPr>
              <a:t> </a:t>
            </a:r>
            <a:r>
              <a:rPr sz="2400" spc="-15" dirty="0">
                <a:latin typeface="Calibri"/>
                <a:cs typeface="Calibri"/>
              </a:rPr>
              <a:t>contain</a:t>
            </a:r>
            <a:r>
              <a:rPr sz="2400" spc="-20" dirty="0">
                <a:latin typeface="Calibri"/>
                <a:cs typeface="Calibri"/>
              </a:rPr>
              <a:t> any</a:t>
            </a:r>
            <a:r>
              <a:rPr sz="2400" spc="-5" dirty="0">
                <a:latin typeface="Calibri"/>
                <a:cs typeface="Calibri"/>
              </a:rPr>
              <a:t> of</a:t>
            </a:r>
            <a:r>
              <a:rPr sz="2400" spc="-10" dirty="0">
                <a:latin typeface="Calibri"/>
                <a:cs typeface="Calibri"/>
              </a:rPr>
              <a:t> </a:t>
            </a:r>
            <a:r>
              <a:rPr sz="2400" dirty="0">
                <a:latin typeface="Calibri"/>
                <a:cs typeface="Calibri"/>
              </a:rPr>
              <a:t>the</a:t>
            </a:r>
            <a:r>
              <a:rPr sz="2400" spc="-5" dirty="0">
                <a:latin typeface="Calibri"/>
                <a:cs typeface="Calibri"/>
              </a:rPr>
              <a:t> </a:t>
            </a:r>
            <a:r>
              <a:rPr sz="2400" spc="-15" dirty="0">
                <a:latin typeface="Calibri"/>
                <a:cs typeface="Calibri"/>
              </a:rPr>
              <a:t>data</a:t>
            </a:r>
            <a:r>
              <a:rPr sz="2400" spc="-20" dirty="0">
                <a:latin typeface="Calibri"/>
                <a:cs typeface="Calibri"/>
              </a:rPr>
              <a:t> </a:t>
            </a:r>
            <a:r>
              <a:rPr sz="2400" dirty="0">
                <a:latin typeface="Calibri"/>
                <a:cs typeface="Calibri"/>
              </a:rPr>
              <a:t>in</a:t>
            </a:r>
            <a:r>
              <a:rPr sz="2400" spc="-5" dirty="0">
                <a:latin typeface="Calibri"/>
                <a:cs typeface="Calibri"/>
              </a:rPr>
              <a:t> </a:t>
            </a:r>
            <a:r>
              <a:rPr sz="2400" dirty="0">
                <a:latin typeface="Calibri"/>
                <a:cs typeface="Calibri"/>
              </a:rPr>
              <a:t>the</a:t>
            </a:r>
            <a:r>
              <a:rPr sz="2400" spc="-20" dirty="0">
                <a:latin typeface="Calibri"/>
                <a:cs typeface="Calibri"/>
              </a:rPr>
              <a:t> </a:t>
            </a:r>
            <a:r>
              <a:rPr sz="2400" spc="-5" dirty="0">
                <a:latin typeface="Calibri"/>
                <a:cs typeface="Calibri"/>
              </a:rPr>
              <a:t>tables</a:t>
            </a:r>
            <a:endParaRPr sz="2400">
              <a:latin typeface="Calibri"/>
              <a:cs typeface="Calibri"/>
            </a:endParaRPr>
          </a:p>
          <a:p>
            <a:pPr marL="756285" marR="413384" lvl="1" indent="-287020">
              <a:lnSpc>
                <a:spcPts val="2600"/>
              </a:lnSpc>
              <a:spcBef>
                <a:spcPts val="605"/>
              </a:spcBef>
              <a:buFont typeface="Arial MT"/>
              <a:buChar char="–"/>
              <a:tabLst>
                <a:tab pos="756920" algn="l"/>
              </a:tabLst>
            </a:pPr>
            <a:r>
              <a:rPr sz="2400" spc="-5" dirty="0">
                <a:latin typeface="Calibri"/>
                <a:cs typeface="Calibri"/>
              </a:rPr>
              <a:t>Does</a:t>
            </a:r>
            <a:r>
              <a:rPr sz="2400" spc="-30" dirty="0">
                <a:latin typeface="Calibri"/>
                <a:cs typeface="Calibri"/>
              </a:rPr>
              <a:t> </a:t>
            </a:r>
            <a:r>
              <a:rPr sz="2400" spc="-15" dirty="0">
                <a:latin typeface="Calibri"/>
                <a:cs typeface="Calibri"/>
              </a:rPr>
              <a:t>contain</a:t>
            </a:r>
            <a:r>
              <a:rPr sz="2400" spc="-20" dirty="0">
                <a:latin typeface="Calibri"/>
                <a:cs typeface="Calibri"/>
              </a:rPr>
              <a:t> </a:t>
            </a:r>
            <a:r>
              <a:rPr sz="2400" spc="-10" dirty="0">
                <a:latin typeface="Calibri"/>
                <a:cs typeface="Calibri"/>
              </a:rPr>
              <a:t>metadata,</a:t>
            </a:r>
            <a:r>
              <a:rPr sz="2400" spc="-30" dirty="0">
                <a:latin typeface="Calibri"/>
                <a:cs typeface="Calibri"/>
              </a:rPr>
              <a:t> </a:t>
            </a:r>
            <a:r>
              <a:rPr sz="2400" dirty="0">
                <a:latin typeface="Calibri"/>
                <a:cs typeface="Calibri"/>
              </a:rPr>
              <a:t>which</a:t>
            </a:r>
            <a:r>
              <a:rPr sz="2400" spc="-15" dirty="0">
                <a:latin typeface="Calibri"/>
                <a:cs typeface="Calibri"/>
              </a:rPr>
              <a:t> </a:t>
            </a:r>
            <a:r>
              <a:rPr sz="2400" dirty="0">
                <a:latin typeface="Calibri"/>
                <a:cs typeface="Calibri"/>
              </a:rPr>
              <a:t>is</a:t>
            </a:r>
            <a:r>
              <a:rPr sz="2400" spc="-20" dirty="0">
                <a:latin typeface="Calibri"/>
                <a:cs typeface="Calibri"/>
              </a:rPr>
              <a:t> </a:t>
            </a:r>
            <a:r>
              <a:rPr sz="2400" spc="-10" dirty="0">
                <a:latin typeface="Calibri"/>
                <a:cs typeface="Calibri"/>
              </a:rPr>
              <a:t>information</a:t>
            </a:r>
            <a:r>
              <a:rPr sz="2400" spc="-5" dirty="0">
                <a:latin typeface="Calibri"/>
                <a:cs typeface="Calibri"/>
              </a:rPr>
              <a:t> about</a:t>
            </a:r>
            <a:r>
              <a:rPr sz="2400" spc="-25" dirty="0">
                <a:latin typeface="Calibri"/>
                <a:cs typeface="Calibri"/>
              </a:rPr>
              <a:t> </a:t>
            </a:r>
            <a:r>
              <a:rPr sz="2400" dirty="0">
                <a:latin typeface="Calibri"/>
                <a:cs typeface="Calibri"/>
              </a:rPr>
              <a:t>the </a:t>
            </a:r>
            <a:r>
              <a:rPr sz="2400" spc="-530" dirty="0">
                <a:latin typeface="Calibri"/>
                <a:cs typeface="Calibri"/>
              </a:rPr>
              <a:t> </a:t>
            </a:r>
            <a:r>
              <a:rPr sz="2400" spc="-10" dirty="0">
                <a:latin typeface="Calibri"/>
                <a:cs typeface="Calibri"/>
              </a:rPr>
              <a:t>database</a:t>
            </a:r>
            <a:r>
              <a:rPr sz="2400" spc="-30" dirty="0">
                <a:latin typeface="Calibri"/>
                <a:cs typeface="Calibri"/>
              </a:rPr>
              <a:t> </a:t>
            </a:r>
            <a:r>
              <a:rPr sz="2400" spc="-5" dirty="0">
                <a:latin typeface="Calibri"/>
                <a:cs typeface="Calibri"/>
              </a:rPr>
              <a:t>tables</a:t>
            </a:r>
            <a:endParaRPr sz="2400">
              <a:latin typeface="Calibri"/>
              <a:cs typeface="Calibri"/>
            </a:endParaRPr>
          </a:p>
          <a:p>
            <a:pPr marL="756285" marR="377825" lvl="1" indent="-287020">
              <a:lnSpc>
                <a:spcPts val="2590"/>
              </a:lnSpc>
              <a:spcBef>
                <a:spcPts val="575"/>
              </a:spcBef>
              <a:buFont typeface="Arial MT"/>
              <a:buChar char="–"/>
              <a:tabLst>
                <a:tab pos="756920" algn="l"/>
              </a:tabLst>
            </a:pPr>
            <a:r>
              <a:rPr sz="2400" spc="-10" dirty="0">
                <a:latin typeface="Calibri"/>
                <a:cs typeface="Calibri"/>
              </a:rPr>
              <a:t>Ensures</a:t>
            </a:r>
            <a:r>
              <a:rPr sz="2400" dirty="0">
                <a:latin typeface="Calibri"/>
                <a:cs typeface="Calibri"/>
              </a:rPr>
              <a:t> </a:t>
            </a:r>
            <a:r>
              <a:rPr sz="2400" spc="-10" dirty="0">
                <a:latin typeface="Calibri"/>
                <a:cs typeface="Calibri"/>
              </a:rPr>
              <a:t>that</a:t>
            </a:r>
            <a:r>
              <a:rPr sz="2400" spc="-15" dirty="0">
                <a:latin typeface="Calibri"/>
                <a:cs typeface="Calibri"/>
              </a:rPr>
              <a:t> data </a:t>
            </a:r>
            <a:r>
              <a:rPr sz="2400" spc="-5" dirty="0">
                <a:latin typeface="Calibri"/>
                <a:cs typeface="Calibri"/>
              </a:rPr>
              <a:t>being </a:t>
            </a:r>
            <a:r>
              <a:rPr sz="2400" spc="-15" dirty="0">
                <a:latin typeface="Calibri"/>
                <a:cs typeface="Calibri"/>
              </a:rPr>
              <a:t>entered</a:t>
            </a:r>
            <a:r>
              <a:rPr sz="2400" dirty="0">
                <a:latin typeface="Calibri"/>
                <a:cs typeface="Calibri"/>
              </a:rPr>
              <a:t> </a:t>
            </a:r>
            <a:r>
              <a:rPr sz="2400" spc="-15" dirty="0">
                <a:latin typeface="Calibri"/>
                <a:cs typeface="Calibri"/>
              </a:rPr>
              <a:t>into</a:t>
            </a:r>
            <a:r>
              <a:rPr sz="2400" spc="-5" dirty="0">
                <a:latin typeface="Calibri"/>
                <a:cs typeface="Calibri"/>
              </a:rPr>
              <a:t> the</a:t>
            </a:r>
            <a:r>
              <a:rPr sz="2400" spc="-15" dirty="0">
                <a:latin typeface="Calibri"/>
                <a:cs typeface="Calibri"/>
              </a:rPr>
              <a:t> </a:t>
            </a:r>
            <a:r>
              <a:rPr sz="2400" spc="-10" dirty="0">
                <a:latin typeface="Calibri"/>
                <a:cs typeface="Calibri"/>
              </a:rPr>
              <a:t>database </a:t>
            </a:r>
            <a:r>
              <a:rPr sz="2400" spc="-5" dirty="0">
                <a:latin typeface="Calibri"/>
                <a:cs typeface="Calibri"/>
              </a:rPr>
              <a:t>does </a:t>
            </a:r>
            <a:r>
              <a:rPr sz="2400" spc="-525" dirty="0">
                <a:latin typeface="Calibri"/>
                <a:cs typeface="Calibri"/>
              </a:rPr>
              <a:t> </a:t>
            </a:r>
            <a:r>
              <a:rPr sz="2400" spc="-5" dirty="0">
                <a:latin typeface="Calibri"/>
                <a:cs typeface="Calibri"/>
              </a:rPr>
              <a:t>not</a:t>
            </a:r>
            <a:r>
              <a:rPr sz="2400" spc="-30" dirty="0">
                <a:latin typeface="Calibri"/>
                <a:cs typeface="Calibri"/>
              </a:rPr>
              <a:t> </a:t>
            </a:r>
            <a:r>
              <a:rPr sz="2400" spc="-10" dirty="0">
                <a:latin typeface="Calibri"/>
                <a:cs typeface="Calibri"/>
              </a:rPr>
              <a:t>violate</a:t>
            </a:r>
            <a:r>
              <a:rPr sz="2400" dirty="0">
                <a:latin typeface="Calibri"/>
                <a:cs typeface="Calibri"/>
              </a:rPr>
              <a:t> </a:t>
            </a:r>
            <a:r>
              <a:rPr sz="2400" spc="-15" dirty="0">
                <a:latin typeface="Calibri"/>
                <a:cs typeface="Calibri"/>
              </a:rPr>
              <a:t>any</a:t>
            </a:r>
            <a:r>
              <a:rPr sz="2400" spc="-10" dirty="0">
                <a:latin typeface="Calibri"/>
                <a:cs typeface="Calibri"/>
              </a:rPr>
              <a:t> </a:t>
            </a:r>
            <a:r>
              <a:rPr sz="2400" spc="-5" dirty="0">
                <a:latin typeface="Calibri"/>
                <a:cs typeface="Calibri"/>
              </a:rPr>
              <a:t>specified criteria</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335395"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30" dirty="0"/>
              <a:t> </a:t>
            </a:r>
            <a:r>
              <a:rPr spc="-5" dirty="0"/>
              <a:t>Integrity, Security,</a:t>
            </a:r>
            <a:r>
              <a:rPr spc="-25" dirty="0"/>
              <a:t> </a:t>
            </a:r>
            <a:r>
              <a:rPr dirty="0"/>
              <a:t>and</a:t>
            </a:r>
            <a:r>
              <a:rPr spc="-10" dirty="0"/>
              <a:t> </a:t>
            </a:r>
            <a:r>
              <a:rPr spc="-5" dirty="0"/>
              <a:t>Privacy</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18</a:t>
            </a:fld>
            <a:endParaRPr dirty="0"/>
          </a:p>
        </p:txBody>
      </p:sp>
      <p:sp>
        <p:nvSpPr>
          <p:cNvPr id="3" name="object 3"/>
          <p:cNvSpPr txBox="1"/>
          <p:nvPr/>
        </p:nvSpPr>
        <p:spPr>
          <a:xfrm>
            <a:off x="535940" y="1461262"/>
            <a:ext cx="8051165" cy="4561840"/>
          </a:xfrm>
          <a:prstGeom prst="rect">
            <a:avLst/>
          </a:prstGeom>
        </p:spPr>
        <p:txBody>
          <a:bodyPr vert="horz" wrap="square" lIns="0" tIns="48895" rIns="0" bIns="0" rtlCol="0">
            <a:spAutoFit/>
          </a:bodyPr>
          <a:lstStyle/>
          <a:p>
            <a:pPr marL="355600" indent="-343535">
              <a:lnSpc>
                <a:spcPct val="100000"/>
              </a:lnSpc>
              <a:spcBef>
                <a:spcPts val="385"/>
              </a:spcBef>
              <a:buFont typeface="Arial MT"/>
              <a:buChar char="•"/>
              <a:tabLst>
                <a:tab pos="355600" algn="l"/>
                <a:tab pos="356235" algn="l"/>
              </a:tabLst>
            </a:pPr>
            <a:r>
              <a:rPr sz="2400" spc="-15" dirty="0">
                <a:latin typeface="Calibri"/>
                <a:cs typeface="Calibri"/>
              </a:rPr>
              <a:t>Data</a:t>
            </a:r>
            <a:r>
              <a:rPr sz="2400" spc="-50" dirty="0">
                <a:latin typeface="Calibri"/>
                <a:cs typeface="Calibri"/>
              </a:rPr>
              <a:t> </a:t>
            </a:r>
            <a:r>
              <a:rPr sz="2400" spc="-10" dirty="0">
                <a:latin typeface="Calibri"/>
                <a:cs typeface="Calibri"/>
              </a:rPr>
              <a:t>Integrity</a:t>
            </a:r>
            <a:endParaRPr sz="2400">
              <a:latin typeface="Calibri"/>
              <a:cs typeface="Calibri"/>
            </a:endParaRPr>
          </a:p>
          <a:p>
            <a:pPr marL="756285" lvl="1" indent="-287020">
              <a:lnSpc>
                <a:spcPct val="100000"/>
              </a:lnSpc>
              <a:spcBef>
                <a:spcPts val="290"/>
              </a:spcBef>
              <a:buFont typeface="Arial MT"/>
              <a:buChar char="–"/>
              <a:tabLst>
                <a:tab pos="756920" algn="l"/>
              </a:tabLst>
            </a:pPr>
            <a:r>
              <a:rPr sz="2400" spc="-5" dirty="0">
                <a:latin typeface="Calibri"/>
                <a:cs typeface="Calibri"/>
              </a:rPr>
              <a:t>Accuracy</a:t>
            </a:r>
            <a:r>
              <a:rPr sz="2400" spc="-75" dirty="0">
                <a:latin typeface="Calibri"/>
                <a:cs typeface="Calibri"/>
              </a:rPr>
              <a:t> </a:t>
            </a:r>
            <a:r>
              <a:rPr sz="2400" spc="-5" dirty="0">
                <a:latin typeface="Calibri"/>
                <a:cs typeface="Calibri"/>
              </a:rPr>
              <a:t>of</a:t>
            </a:r>
            <a:r>
              <a:rPr sz="2400" spc="-30" dirty="0">
                <a:latin typeface="Calibri"/>
                <a:cs typeface="Calibri"/>
              </a:rPr>
              <a:t> </a:t>
            </a:r>
            <a:r>
              <a:rPr sz="2400" spc="-15" dirty="0">
                <a:latin typeface="Calibri"/>
                <a:cs typeface="Calibri"/>
              </a:rPr>
              <a:t>Data</a:t>
            </a:r>
            <a:endParaRPr sz="2400">
              <a:latin typeface="Calibri"/>
              <a:cs typeface="Calibri"/>
            </a:endParaRPr>
          </a:p>
          <a:p>
            <a:pPr marL="1155700" lvl="2" indent="-229235">
              <a:lnSpc>
                <a:spcPts val="2735"/>
              </a:lnSpc>
              <a:spcBef>
                <a:spcPts val="290"/>
              </a:spcBef>
              <a:buFont typeface="Arial MT"/>
              <a:buChar char="•"/>
              <a:tabLst>
                <a:tab pos="1156335" algn="l"/>
              </a:tabLst>
            </a:pPr>
            <a:r>
              <a:rPr sz="2400" dirty="0">
                <a:latin typeface="Calibri"/>
                <a:cs typeface="Calibri"/>
              </a:rPr>
              <a:t>Quality</a:t>
            </a:r>
            <a:r>
              <a:rPr sz="2400" spc="-40" dirty="0">
                <a:latin typeface="Calibri"/>
                <a:cs typeface="Calibri"/>
              </a:rPr>
              <a:t> </a:t>
            </a:r>
            <a:r>
              <a:rPr sz="2400" spc="-5" dirty="0">
                <a:latin typeface="Calibri"/>
                <a:cs typeface="Calibri"/>
              </a:rPr>
              <a:t>of </a:t>
            </a:r>
            <a:r>
              <a:rPr sz="2400" spc="-15" dirty="0">
                <a:latin typeface="Calibri"/>
                <a:cs typeface="Calibri"/>
              </a:rPr>
              <a:t>data entered</a:t>
            </a:r>
            <a:r>
              <a:rPr sz="2400" spc="-5" dirty="0">
                <a:latin typeface="Calibri"/>
                <a:cs typeface="Calibri"/>
              </a:rPr>
              <a:t> determines</a:t>
            </a:r>
            <a:r>
              <a:rPr sz="2400" spc="-35" dirty="0">
                <a:latin typeface="Calibri"/>
                <a:cs typeface="Calibri"/>
              </a:rPr>
              <a:t> </a:t>
            </a:r>
            <a:r>
              <a:rPr sz="2400" dirty="0">
                <a:latin typeface="Calibri"/>
                <a:cs typeface="Calibri"/>
              </a:rPr>
              <a:t>the </a:t>
            </a:r>
            <a:r>
              <a:rPr sz="2400" spc="-5" dirty="0">
                <a:latin typeface="Calibri"/>
                <a:cs typeface="Calibri"/>
              </a:rPr>
              <a:t>quality</a:t>
            </a:r>
            <a:r>
              <a:rPr sz="2400" spc="-20" dirty="0">
                <a:latin typeface="Calibri"/>
                <a:cs typeface="Calibri"/>
              </a:rPr>
              <a:t> </a:t>
            </a:r>
            <a:r>
              <a:rPr sz="2400" spc="-5" dirty="0">
                <a:latin typeface="Calibri"/>
                <a:cs typeface="Calibri"/>
              </a:rPr>
              <a:t>of</a:t>
            </a:r>
            <a:endParaRPr sz="2400">
              <a:latin typeface="Calibri"/>
              <a:cs typeface="Calibri"/>
            </a:endParaRPr>
          </a:p>
          <a:p>
            <a:pPr marL="1155700">
              <a:lnSpc>
                <a:spcPts val="2735"/>
              </a:lnSpc>
            </a:pPr>
            <a:r>
              <a:rPr sz="2400" spc="-15" dirty="0">
                <a:latin typeface="Calibri"/>
                <a:cs typeface="Calibri"/>
              </a:rPr>
              <a:t>generated</a:t>
            </a:r>
            <a:r>
              <a:rPr sz="2400" spc="-55" dirty="0">
                <a:latin typeface="Calibri"/>
                <a:cs typeface="Calibri"/>
              </a:rPr>
              <a:t> </a:t>
            </a:r>
            <a:r>
              <a:rPr sz="2400" spc="-10" dirty="0">
                <a:latin typeface="Calibri"/>
                <a:cs typeface="Calibri"/>
              </a:rPr>
              <a:t>information</a:t>
            </a:r>
            <a:endParaRPr sz="2400">
              <a:latin typeface="Calibri"/>
              <a:cs typeface="Calibri"/>
            </a:endParaRPr>
          </a:p>
          <a:p>
            <a:pPr marL="756285" lvl="1" indent="-287020">
              <a:lnSpc>
                <a:spcPct val="100000"/>
              </a:lnSpc>
              <a:spcBef>
                <a:spcPts val="290"/>
              </a:spcBef>
              <a:buFont typeface="Arial MT"/>
              <a:buChar char="–"/>
              <a:tabLst>
                <a:tab pos="756920" algn="l"/>
              </a:tabLst>
            </a:pPr>
            <a:r>
              <a:rPr sz="2400" spc="-15" dirty="0">
                <a:latin typeface="Calibri"/>
                <a:cs typeface="Calibri"/>
              </a:rPr>
              <a:t>Data</a:t>
            </a:r>
            <a:r>
              <a:rPr sz="2400" spc="-50" dirty="0">
                <a:latin typeface="Calibri"/>
                <a:cs typeface="Calibri"/>
              </a:rPr>
              <a:t> </a:t>
            </a:r>
            <a:r>
              <a:rPr sz="2400" spc="-20" dirty="0">
                <a:latin typeface="Calibri"/>
                <a:cs typeface="Calibri"/>
              </a:rPr>
              <a:t>Validation</a:t>
            </a:r>
            <a:endParaRPr sz="2400">
              <a:latin typeface="Calibri"/>
              <a:cs typeface="Calibri"/>
            </a:endParaRPr>
          </a:p>
          <a:p>
            <a:pPr marL="1155700" marR="25400" lvl="2" indent="-228600">
              <a:lnSpc>
                <a:spcPts val="2590"/>
              </a:lnSpc>
              <a:spcBef>
                <a:spcPts val="615"/>
              </a:spcBef>
              <a:buFont typeface="Arial MT"/>
              <a:buChar char="•"/>
              <a:tabLst>
                <a:tab pos="1156335" algn="l"/>
              </a:tabLst>
            </a:pPr>
            <a:r>
              <a:rPr sz="2400" spc="-10" dirty="0">
                <a:latin typeface="Calibri"/>
                <a:cs typeface="Calibri"/>
              </a:rPr>
              <a:t>Process</a:t>
            </a:r>
            <a:r>
              <a:rPr sz="2400" spc="-30" dirty="0">
                <a:latin typeface="Calibri"/>
                <a:cs typeface="Calibri"/>
              </a:rPr>
              <a:t> </a:t>
            </a:r>
            <a:r>
              <a:rPr sz="2400" spc="-5" dirty="0">
                <a:latin typeface="Calibri"/>
                <a:cs typeface="Calibri"/>
              </a:rPr>
              <a:t>of ensuring </a:t>
            </a:r>
            <a:r>
              <a:rPr sz="2400" spc="-10" dirty="0">
                <a:latin typeface="Calibri"/>
                <a:cs typeface="Calibri"/>
              </a:rPr>
              <a:t>that</a:t>
            </a:r>
            <a:r>
              <a:rPr sz="2400" spc="-15" dirty="0">
                <a:latin typeface="Calibri"/>
                <a:cs typeface="Calibri"/>
              </a:rPr>
              <a:t> data</a:t>
            </a:r>
            <a:r>
              <a:rPr sz="2400" spc="-10" dirty="0">
                <a:latin typeface="Calibri"/>
                <a:cs typeface="Calibri"/>
              </a:rPr>
              <a:t> </a:t>
            </a:r>
            <a:r>
              <a:rPr sz="2400" spc="-15" dirty="0">
                <a:latin typeface="Calibri"/>
                <a:cs typeface="Calibri"/>
              </a:rPr>
              <a:t>entered</a:t>
            </a:r>
            <a:r>
              <a:rPr sz="2400" dirty="0">
                <a:latin typeface="Calibri"/>
                <a:cs typeface="Calibri"/>
              </a:rPr>
              <a:t> </a:t>
            </a:r>
            <a:r>
              <a:rPr sz="2400" spc="-15" dirty="0">
                <a:latin typeface="Calibri"/>
                <a:cs typeface="Calibri"/>
              </a:rPr>
              <a:t>into</a:t>
            </a:r>
            <a:r>
              <a:rPr sz="2400" spc="-5" dirty="0">
                <a:latin typeface="Calibri"/>
                <a:cs typeface="Calibri"/>
              </a:rPr>
              <a:t> the </a:t>
            </a:r>
            <a:r>
              <a:rPr sz="2400" spc="-10" dirty="0">
                <a:latin typeface="Calibri"/>
                <a:cs typeface="Calibri"/>
              </a:rPr>
              <a:t>database </a:t>
            </a:r>
            <a:r>
              <a:rPr sz="2400" spc="-525" dirty="0">
                <a:latin typeface="Calibri"/>
                <a:cs typeface="Calibri"/>
              </a:rPr>
              <a:t> </a:t>
            </a:r>
            <a:r>
              <a:rPr sz="2400" dirty="0">
                <a:latin typeface="Calibri"/>
                <a:cs typeface="Calibri"/>
              </a:rPr>
              <a:t>is</a:t>
            </a:r>
            <a:r>
              <a:rPr sz="2400" spc="-20" dirty="0">
                <a:latin typeface="Calibri"/>
                <a:cs typeface="Calibri"/>
              </a:rPr>
              <a:t> </a:t>
            </a:r>
            <a:r>
              <a:rPr sz="2400" spc="-10" dirty="0">
                <a:latin typeface="Calibri"/>
                <a:cs typeface="Calibri"/>
              </a:rPr>
              <a:t>valid</a:t>
            </a:r>
            <a:endParaRPr sz="2400">
              <a:latin typeface="Calibri"/>
              <a:cs typeface="Calibri"/>
            </a:endParaRPr>
          </a:p>
          <a:p>
            <a:pPr marL="1155700" lvl="2" indent="-229235">
              <a:lnSpc>
                <a:spcPct val="100000"/>
              </a:lnSpc>
              <a:spcBef>
                <a:spcPts val="254"/>
              </a:spcBef>
              <a:buFont typeface="Arial MT"/>
              <a:buChar char="•"/>
              <a:tabLst>
                <a:tab pos="1156335" algn="l"/>
              </a:tabLst>
            </a:pPr>
            <a:r>
              <a:rPr sz="2400" spc="-20" dirty="0">
                <a:latin typeface="Calibri"/>
                <a:cs typeface="Calibri"/>
              </a:rPr>
              <a:t>Record</a:t>
            </a:r>
            <a:r>
              <a:rPr sz="2400" spc="-40" dirty="0">
                <a:latin typeface="Calibri"/>
                <a:cs typeface="Calibri"/>
              </a:rPr>
              <a:t> </a:t>
            </a:r>
            <a:r>
              <a:rPr sz="2400" spc="-10" dirty="0">
                <a:latin typeface="Calibri"/>
                <a:cs typeface="Calibri"/>
              </a:rPr>
              <a:t>validation </a:t>
            </a:r>
            <a:r>
              <a:rPr sz="2400" dirty="0">
                <a:latin typeface="Calibri"/>
                <a:cs typeface="Calibri"/>
              </a:rPr>
              <a:t>rules</a:t>
            </a:r>
            <a:endParaRPr sz="2400">
              <a:latin typeface="Calibri"/>
              <a:cs typeface="Calibri"/>
            </a:endParaRPr>
          </a:p>
          <a:p>
            <a:pPr marL="1612900" marR="651510" indent="-228600">
              <a:lnSpc>
                <a:spcPts val="2590"/>
              </a:lnSpc>
              <a:spcBef>
                <a:spcPts val="615"/>
              </a:spcBef>
            </a:pPr>
            <a:r>
              <a:rPr sz="2400" dirty="0">
                <a:latin typeface="Arial MT"/>
                <a:cs typeface="Arial MT"/>
              </a:rPr>
              <a:t>–</a:t>
            </a:r>
            <a:r>
              <a:rPr sz="2400" spc="-204" dirty="0">
                <a:latin typeface="Arial MT"/>
                <a:cs typeface="Arial MT"/>
              </a:rPr>
              <a:t> </a:t>
            </a:r>
            <a:r>
              <a:rPr sz="2400" spc="-5" dirty="0">
                <a:latin typeface="Calibri"/>
                <a:cs typeface="Calibri"/>
              </a:rPr>
              <a:t>Ch</a:t>
            </a:r>
            <a:r>
              <a:rPr sz="2400" spc="5" dirty="0">
                <a:latin typeface="Calibri"/>
                <a:cs typeface="Calibri"/>
              </a:rPr>
              <a:t>e</a:t>
            </a:r>
            <a:r>
              <a:rPr sz="2400" dirty="0">
                <a:latin typeface="Calibri"/>
                <a:cs typeface="Calibri"/>
              </a:rPr>
              <a:t>c</a:t>
            </a:r>
            <a:r>
              <a:rPr sz="2400" spc="-20" dirty="0">
                <a:latin typeface="Calibri"/>
                <a:cs typeface="Calibri"/>
              </a:rPr>
              <a:t>k</a:t>
            </a:r>
            <a:r>
              <a:rPr sz="2400" dirty="0">
                <a:latin typeface="Calibri"/>
                <a:cs typeface="Calibri"/>
              </a:rPr>
              <a:t>s</a:t>
            </a:r>
            <a:r>
              <a:rPr sz="2400" spc="-45" dirty="0">
                <a:latin typeface="Calibri"/>
                <a:cs typeface="Calibri"/>
              </a:rPr>
              <a:t> </a:t>
            </a:r>
            <a:r>
              <a:rPr sz="2400" dirty="0">
                <a:latin typeface="Calibri"/>
                <a:cs typeface="Calibri"/>
              </a:rPr>
              <a:t>all</a:t>
            </a:r>
            <a:r>
              <a:rPr sz="2400" spc="-5" dirty="0">
                <a:latin typeface="Calibri"/>
                <a:cs typeface="Calibri"/>
              </a:rPr>
              <a:t> field</a:t>
            </a:r>
            <a:r>
              <a:rPr sz="2400" dirty="0">
                <a:latin typeface="Calibri"/>
                <a:cs typeface="Calibri"/>
              </a:rPr>
              <a:t>s</a:t>
            </a:r>
            <a:r>
              <a:rPr sz="2400" spc="-5" dirty="0">
                <a:latin typeface="Calibri"/>
                <a:cs typeface="Calibri"/>
              </a:rPr>
              <a:t> b</a:t>
            </a:r>
            <a:r>
              <a:rPr sz="2400" spc="-25" dirty="0">
                <a:latin typeface="Calibri"/>
                <a:cs typeface="Calibri"/>
              </a:rPr>
              <a:t>e</a:t>
            </a:r>
            <a:r>
              <a:rPr sz="2400" spc="-50" dirty="0">
                <a:latin typeface="Calibri"/>
                <a:cs typeface="Calibri"/>
              </a:rPr>
              <a:t>f</a:t>
            </a:r>
            <a:r>
              <a:rPr sz="2400" spc="-5" dirty="0">
                <a:latin typeface="Calibri"/>
                <a:cs typeface="Calibri"/>
              </a:rPr>
              <a:t>o</a:t>
            </a:r>
            <a:r>
              <a:rPr sz="2400" spc="-40" dirty="0">
                <a:latin typeface="Calibri"/>
                <a:cs typeface="Calibri"/>
              </a:rPr>
              <a:t>r</a:t>
            </a:r>
            <a:r>
              <a:rPr sz="2400" dirty="0">
                <a:latin typeface="Calibri"/>
                <a:cs typeface="Calibri"/>
              </a:rPr>
              <a:t>e</a:t>
            </a:r>
            <a:r>
              <a:rPr sz="2400" spc="10" dirty="0">
                <a:latin typeface="Calibri"/>
                <a:cs typeface="Calibri"/>
              </a:rPr>
              <a:t> </a:t>
            </a:r>
            <a:r>
              <a:rPr sz="2400" dirty="0">
                <a:latin typeface="Calibri"/>
                <a:cs typeface="Calibri"/>
              </a:rPr>
              <a:t>ch</a:t>
            </a:r>
            <a:r>
              <a:rPr sz="2400" spc="5" dirty="0">
                <a:latin typeface="Calibri"/>
                <a:cs typeface="Calibri"/>
              </a:rPr>
              <a:t>a</a:t>
            </a:r>
            <a:r>
              <a:rPr sz="2400" spc="-5" dirty="0">
                <a:latin typeface="Calibri"/>
                <a:cs typeface="Calibri"/>
              </a:rPr>
              <a:t>n</a:t>
            </a:r>
            <a:r>
              <a:rPr sz="2400" spc="-30" dirty="0">
                <a:latin typeface="Calibri"/>
                <a:cs typeface="Calibri"/>
              </a:rPr>
              <a:t>g</a:t>
            </a:r>
            <a:r>
              <a:rPr sz="2400" dirty="0">
                <a:latin typeface="Calibri"/>
                <a:cs typeface="Calibri"/>
              </a:rPr>
              <a:t>es </a:t>
            </a:r>
            <a:r>
              <a:rPr sz="2400" spc="-25" dirty="0">
                <a:latin typeface="Calibri"/>
                <a:cs typeface="Calibri"/>
              </a:rPr>
              <a:t>t</a:t>
            </a:r>
            <a:r>
              <a:rPr sz="2400" dirty="0">
                <a:latin typeface="Calibri"/>
                <a:cs typeface="Calibri"/>
              </a:rPr>
              <a:t>o</a:t>
            </a:r>
            <a:r>
              <a:rPr sz="2400" spc="-25" dirty="0">
                <a:latin typeface="Calibri"/>
                <a:cs typeface="Calibri"/>
              </a:rPr>
              <a:t> </a:t>
            </a:r>
            <a:r>
              <a:rPr sz="2400" dirty="0">
                <a:latin typeface="Calibri"/>
                <a:cs typeface="Calibri"/>
              </a:rPr>
              <a:t>a</a:t>
            </a:r>
            <a:r>
              <a:rPr sz="2400" spc="-5" dirty="0">
                <a:latin typeface="Calibri"/>
                <a:cs typeface="Calibri"/>
              </a:rPr>
              <a:t> </a:t>
            </a:r>
            <a:r>
              <a:rPr sz="2400" spc="-35" dirty="0">
                <a:latin typeface="Calibri"/>
                <a:cs typeface="Calibri"/>
              </a:rPr>
              <a:t>r</a:t>
            </a:r>
            <a:r>
              <a:rPr sz="2400" dirty="0">
                <a:latin typeface="Calibri"/>
                <a:cs typeface="Calibri"/>
              </a:rPr>
              <a:t>e</a:t>
            </a:r>
            <a:r>
              <a:rPr sz="2400" spc="-15" dirty="0">
                <a:latin typeface="Calibri"/>
                <a:cs typeface="Calibri"/>
              </a:rPr>
              <a:t>c</a:t>
            </a:r>
            <a:r>
              <a:rPr sz="2400" spc="-5" dirty="0">
                <a:latin typeface="Calibri"/>
                <a:cs typeface="Calibri"/>
              </a:rPr>
              <a:t>o</a:t>
            </a:r>
            <a:r>
              <a:rPr sz="2400" spc="-40" dirty="0">
                <a:latin typeface="Calibri"/>
                <a:cs typeface="Calibri"/>
              </a:rPr>
              <a:t>r</a:t>
            </a:r>
            <a:r>
              <a:rPr sz="2400" dirty="0">
                <a:latin typeface="Calibri"/>
                <a:cs typeface="Calibri"/>
              </a:rPr>
              <a:t>d</a:t>
            </a:r>
            <a:r>
              <a:rPr sz="2400" spc="-5" dirty="0">
                <a:latin typeface="Calibri"/>
                <a:cs typeface="Calibri"/>
              </a:rPr>
              <a:t> </a:t>
            </a:r>
            <a:r>
              <a:rPr sz="2400" dirty="0">
                <a:latin typeface="Calibri"/>
                <a:cs typeface="Calibri"/>
              </a:rPr>
              <a:t>a</a:t>
            </a:r>
            <a:r>
              <a:rPr sz="2400" spc="-35" dirty="0">
                <a:latin typeface="Calibri"/>
                <a:cs typeface="Calibri"/>
              </a:rPr>
              <a:t>r</a:t>
            </a:r>
            <a:r>
              <a:rPr sz="2400" dirty="0">
                <a:latin typeface="Calibri"/>
                <a:cs typeface="Calibri"/>
              </a:rPr>
              <a:t>e  </a:t>
            </a:r>
            <a:r>
              <a:rPr sz="2400" spc="-15" dirty="0">
                <a:latin typeface="Calibri"/>
                <a:cs typeface="Calibri"/>
              </a:rPr>
              <a:t>saved</a:t>
            </a:r>
            <a:endParaRPr sz="2400">
              <a:latin typeface="Calibri"/>
              <a:cs typeface="Calibri"/>
            </a:endParaRPr>
          </a:p>
          <a:p>
            <a:pPr marL="1155700" marR="5080" lvl="2" indent="-228600">
              <a:lnSpc>
                <a:spcPts val="2590"/>
              </a:lnSpc>
              <a:spcBef>
                <a:spcPts val="580"/>
              </a:spcBef>
              <a:buFont typeface="Arial MT"/>
              <a:buChar char="•"/>
              <a:tabLst>
                <a:tab pos="1156335" algn="l"/>
              </a:tabLst>
            </a:pPr>
            <a:r>
              <a:rPr sz="2400" spc="-5" dirty="0">
                <a:latin typeface="Calibri"/>
                <a:cs typeface="Calibri"/>
              </a:rPr>
              <a:t>Can be </a:t>
            </a:r>
            <a:r>
              <a:rPr sz="2400" spc="-15" dirty="0">
                <a:latin typeface="Calibri"/>
                <a:cs typeface="Calibri"/>
              </a:rPr>
              <a:t>enforced </a:t>
            </a:r>
            <a:r>
              <a:rPr sz="2400" spc="-5" dirty="0">
                <a:latin typeface="Calibri"/>
                <a:cs typeface="Calibri"/>
              </a:rPr>
              <a:t>on </a:t>
            </a:r>
            <a:r>
              <a:rPr sz="2400" dirty="0">
                <a:latin typeface="Calibri"/>
                <a:cs typeface="Calibri"/>
              </a:rPr>
              <a:t>a </a:t>
            </a:r>
            <a:r>
              <a:rPr sz="2400" spc="-5" dirty="0">
                <a:latin typeface="Calibri"/>
                <a:cs typeface="Calibri"/>
              </a:rPr>
              <a:t>per transaction basis so the </a:t>
            </a:r>
            <a:r>
              <a:rPr sz="2400" spc="-10" dirty="0">
                <a:latin typeface="Calibri"/>
                <a:cs typeface="Calibri"/>
              </a:rPr>
              <a:t>entire </a:t>
            </a:r>
            <a:r>
              <a:rPr sz="2400" spc="-530" dirty="0">
                <a:latin typeface="Calibri"/>
                <a:cs typeface="Calibri"/>
              </a:rPr>
              <a:t> </a:t>
            </a:r>
            <a:r>
              <a:rPr sz="2400" spc="-5" dirty="0">
                <a:latin typeface="Calibri"/>
                <a:cs typeface="Calibri"/>
              </a:rPr>
              <a:t>transaction</a:t>
            </a:r>
            <a:r>
              <a:rPr sz="2400" spc="-50" dirty="0">
                <a:latin typeface="Calibri"/>
                <a:cs typeface="Calibri"/>
              </a:rPr>
              <a:t> </a:t>
            </a:r>
            <a:r>
              <a:rPr sz="2400" dirty="0">
                <a:latin typeface="Calibri"/>
                <a:cs typeface="Calibri"/>
              </a:rPr>
              <a:t>will</a:t>
            </a:r>
            <a:r>
              <a:rPr sz="2400" spc="-15" dirty="0">
                <a:latin typeface="Calibri"/>
                <a:cs typeface="Calibri"/>
              </a:rPr>
              <a:t> fail</a:t>
            </a:r>
            <a:r>
              <a:rPr sz="2400" spc="-5" dirty="0">
                <a:latin typeface="Calibri"/>
                <a:cs typeface="Calibri"/>
              </a:rPr>
              <a:t> </a:t>
            </a:r>
            <a:r>
              <a:rPr sz="2400" dirty="0">
                <a:latin typeface="Calibri"/>
                <a:cs typeface="Calibri"/>
              </a:rPr>
              <a:t>if</a:t>
            </a:r>
            <a:r>
              <a:rPr sz="2400" spc="-5" dirty="0">
                <a:latin typeface="Calibri"/>
                <a:cs typeface="Calibri"/>
              </a:rPr>
              <a:t> one</a:t>
            </a:r>
            <a:r>
              <a:rPr sz="2400" spc="5" dirty="0">
                <a:latin typeface="Calibri"/>
                <a:cs typeface="Calibri"/>
              </a:rPr>
              <a:t> </a:t>
            </a:r>
            <a:r>
              <a:rPr sz="2400" spc="-5" dirty="0">
                <a:latin typeface="Calibri"/>
                <a:cs typeface="Calibri"/>
              </a:rPr>
              <a:t>part</a:t>
            </a:r>
            <a:r>
              <a:rPr sz="2400" spc="-15" dirty="0">
                <a:latin typeface="Calibri"/>
                <a:cs typeface="Calibri"/>
              </a:rPr>
              <a:t> </a:t>
            </a:r>
            <a:r>
              <a:rPr sz="2400" dirty="0">
                <a:latin typeface="Calibri"/>
                <a:cs typeface="Calibri"/>
              </a:rPr>
              <a:t>is</a:t>
            </a:r>
            <a:r>
              <a:rPr sz="2400" spc="-5" dirty="0">
                <a:latin typeface="Calibri"/>
                <a:cs typeface="Calibri"/>
              </a:rPr>
              <a:t> </a:t>
            </a:r>
            <a:r>
              <a:rPr sz="2400" spc="-15" dirty="0">
                <a:latin typeface="Calibri"/>
                <a:cs typeface="Calibri"/>
              </a:rPr>
              <a:t>invalid</a:t>
            </a:r>
            <a:endParaRPr sz="24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335395"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30" dirty="0"/>
              <a:t> </a:t>
            </a:r>
            <a:r>
              <a:rPr spc="-5" dirty="0"/>
              <a:t>Integrity, Security,</a:t>
            </a:r>
            <a:r>
              <a:rPr spc="-25" dirty="0"/>
              <a:t> </a:t>
            </a:r>
            <a:r>
              <a:rPr dirty="0"/>
              <a:t>and</a:t>
            </a:r>
            <a:r>
              <a:rPr spc="-10" dirty="0"/>
              <a:t> </a:t>
            </a:r>
            <a:r>
              <a:rPr spc="-5" dirty="0"/>
              <a:t>Privacy</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19</a:t>
            </a:fld>
            <a:endParaRPr dirty="0"/>
          </a:p>
        </p:txBody>
      </p:sp>
      <p:sp>
        <p:nvSpPr>
          <p:cNvPr id="3" name="object 3"/>
          <p:cNvSpPr txBox="1"/>
          <p:nvPr/>
        </p:nvSpPr>
        <p:spPr>
          <a:xfrm>
            <a:off x="535940" y="1461262"/>
            <a:ext cx="7897495" cy="4196080"/>
          </a:xfrm>
          <a:prstGeom prst="rect">
            <a:avLst/>
          </a:prstGeom>
        </p:spPr>
        <p:txBody>
          <a:bodyPr vert="horz" wrap="square" lIns="0" tIns="85725" rIns="0" bIns="0" rtlCol="0">
            <a:spAutoFit/>
          </a:bodyPr>
          <a:lstStyle/>
          <a:p>
            <a:pPr marL="355600" indent="-343535">
              <a:lnSpc>
                <a:spcPct val="100000"/>
              </a:lnSpc>
              <a:spcBef>
                <a:spcPts val="675"/>
              </a:spcBef>
              <a:buFont typeface="Arial MT"/>
              <a:buChar char="•"/>
              <a:tabLst>
                <a:tab pos="355600" algn="l"/>
                <a:tab pos="356235" algn="l"/>
              </a:tabLst>
            </a:pPr>
            <a:r>
              <a:rPr sz="2400" spc="-15" dirty="0">
                <a:latin typeface="Calibri"/>
                <a:cs typeface="Calibri"/>
              </a:rPr>
              <a:t>Data</a:t>
            </a:r>
            <a:r>
              <a:rPr sz="2400" spc="-65" dirty="0">
                <a:latin typeface="Calibri"/>
                <a:cs typeface="Calibri"/>
              </a:rPr>
              <a:t> </a:t>
            </a:r>
            <a:r>
              <a:rPr sz="2400" dirty="0">
                <a:latin typeface="Calibri"/>
                <a:cs typeface="Calibri"/>
              </a:rPr>
              <a:t>Security</a:t>
            </a:r>
            <a:endParaRPr sz="2400">
              <a:latin typeface="Calibri"/>
              <a:cs typeface="Calibri"/>
            </a:endParaRPr>
          </a:p>
          <a:p>
            <a:pPr marL="756285" lvl="1" indent="-287020">
              <a:lnSpc>
                <a:spcPct val="100000"/>
              </a:lnSpc>
              <a:spcBef>
                <a:spcPts val="575"/>
              </a:spcBef>
              <a:buFont typeface="Arial MT"/>
              <a:buChar char="–"/>
              <a:tabLst>
                <a:tab pos="756920" algn="l"/>
              </a:tabLst>
            </a:pPr>
            <a:r>
              <a:rPr sz="2400" spc="-10" dirty="0">
                <a:latin typeface="Calibri"/>
                <a:cs typeface="Calibri"/>
              </a:rPr>
              <a:t>Protects</a:t>
            </a:r>
            <a:r>
              <a:rPr sz="2400" spc="-55" dirty="0">
                <a:latin typeface="Calibri"/>
                <a:cs typeface="Calibri"/>
              </a:rPr>
              <a:t> </a:t>
            </a:r>
            <a:r>
              <a:rPr sz="2400" spc="-15" dirty="0">
                <a:latin typeface="Calibri"/>
                <a:cs typeface="Calibri"/>
              </a:rPr>
              <a:t>data</a:t>
            </a:r>
            <a:r>
              <a:rPr sz="2400" spc="-20" dirty="0">
                <a:latin typeface="Calibri"/>
                <a:cs typeface="Calibri"/>
              </a:rPr>
              <a:t> </a:t>
            </a:r>
            <a:r>
              <a:rPr sz="2400" spc="-15" dirty="0">
                <a:latin typeface="Calibri"/>
                <a:cs typeface="Calibri"/>
              </a:rPr>
              <a:t>against</a:t>
            </a:r>
            <a:r>
              <a:rPr sz="2400" spc="-20" dirty="0">
                <a:latin typeface="Calibri"/>
                <a:cs typeface="Calibri"/>
              </a:rPr>
              <a:t> </a:t>
            </a:r>
            <a:r>
              <a:rPr sz="2400" spc="-5" dirty="0">
                <a:latin typeface="Calibri"/>
                <a:cs typeface="Calibri"/>
              </a:rPr>
              <a:t>destruction</a:t>
            </a:r>
            <a:r>
              <a:rPr sz="2400" spc="-25" dirty="0">
                <a:latin typeface="Calibri"/>
                <a:cs typeface="Calibri"/>
              </a:rPr>
              <a:t> </a:t>
            </a:r>
            <a:r>
              <a:rPr sz="2400" dirty="0">
                <a:latin typeface="Calibri"/>
                <a:cs typeface="Calibri"/>
              </a:rPr>
              <a:t>and</a:t>
            </a:r>
            <a:r>
              <a:rPr sz="2400" spc="-10" dirty="0">
                <a:latin typeface="Calibri"/>
                <a:cs typeface="Calibri"/>
              </a:rPr>
              <a:t> </a:t>
            </a:r>
            <a:r>
              <a:rPr sz="2400" dirty="0">
                <a:latin typeface="Calibri"/>
                <a:cs typeface="Calibri"/>
              </a:rPr>
              <a:t>misuse</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10" dirty="0">
                <a:latin typeface="Calibri"/>
                <a:cs typeface="Calibri"/>
              </a:rPr>
              <a:t>Protects</a:t>
            </a:r>
            <a:r>
              <a:rPr sz="2400" spc="-45" dirty="0">
                <a:latin typeface="Calibri"/>
                <a:cs typeface="Calibri"/>
              </a:rPr>
              <a:t> </a:t>
            </a:r>
            <a:r>
              <a:rPr sz="2400" spc="-15" dirty="0">
                <a:latin typeface="Calibri"/>
                <a:cs typeface="Calibri"/>
              </a:rPr>
              <a:t>against</a:t>
            </a:r>
            <a:r>
              <a:rPr sz="2400" spc="-10" dirty="0">
                <a:latin typeface="Calibri"/>
                <a:cs typeface="Calibri"/>
              </a:rPr>
              <a:t> unauthorized</a:t>
            </a:r>
            <a:r>
              <a:rPr sz="2400" spc="5" dirty="0">
                <a:latin typeface="Calibri"/>
                <a:cs typeface="Calibri"/>
              </a:rPr>
              <a:t> </a:t>
            </a:r>
            <a:r>
              <a:rPr sz="2400" dirty="0">
                <a:latin typeface="Calibri"/>
                <a:cs typeface="Calibri"/>
              </a:rPr>
              <a:t>access</a:t>
            </a:r>
            <a:r>
              <a:rPr sz="2400" spc="-10" dirty="0">
                <a:latin typeface="Calibri"/>
                <a:cs typeface="Calibri"/>
              </a:rPr>
              <a:t> </a:t>
            </a:r>
            <a:r>
              <a:rPr sz="2400" spc="-15" dirty="0">
                <a:latin typeface="Calibri"/>
                <a:cs typeface="Calibri"/>
              </a:rPr>
              <a:t>to</a:t>
            </a:r>
            <a:r>
              <a:rPr sz="2400" spc="-10" dirty="0">
                <a:latin typeface="Calibri"/>
                <a:cs typeface="Calibri"/>
              </a:rPr>
              <a:t> </a:t>
            </a:r>
            <a:r>
              <a:rPr sz="2400" dirty="0">
                <a:latin typeface="Calibri"/>
                <a:cs typeface="Calibri"/>
              </a:rPr>
              <a:t>and</a:t>
            </a:r>
            <a:r>
              <a:rPr sz="2400" spc="5" dirty="0">
                <a:latin typeface="Calibri"/>
                <a:cs typeface="Calibri"/>
              </a:rPr>
              <a:t> </a:t>
            </a:r>
            <a:r>
              <a:rPr sz="2400" spc="-10" dirty="0">
                <a:latin typeface="Calibri"/>
                <a:cs typeface="Calibri"/>
              </a:rPr>
              <a:t>unauthorized</a:t>
            </a:r>
            <a:endParaRPr sz="2400">
              <a:latin typeface="Calibri"/>
              <a:cs typeface="Calibri"/>
            </a:endParaRPr>
          </a:p>
          <a:p>
            <a:pPr marL="756285">
              <a:lnSpc>
                <a:spcPct val="100000"/>
              </a:lnSpc>
            </a:pPr>
            <a:r>
              <a:rPr sz="2400" spc="-5" dirty="0">
                <a:latin typeface="Calibri"/>
                <a:cs typeface="Calibri"/>
              </a:rPr>
              <a:t>use</a:t>
            </a:r>
            <a:r>
              <a:rPr sz="2400" spc="-30" dirty="0">
                <a:latin typeface="Calibri"/>
                <a:cs typeface="Calibri"/>
              </a:rPr>
              <a:t> </a:t>
            </a:r>
            <a:r>
              <a:rPr sz="2400" spc="-5" dirty="0">
                <a:latin typeface="Calibri"/>
                <a:cs typeface="Calibri"/>
              </a:rPr>
              <a:t>of</a:t>
            </a:r>
            <a:r>
              <a:rPr sz="2400" spc="-20" dirty="0">
                <a:latin typeface="Calibri"/>
                <a:cs typeface="Calibri"/>
              </a:rPr>
              <a:t> </a:t>
            </a:r>
            <a:r>
              <a:rPr sz="2400" dirty="0">
                <a:latin typeface="Calibri"/>
                <a:cs typeface="Calibri"/>
              </a:rPr>
              <a:t>a</a:t>
            </a:r>
            <a:r>
              <a:rPr sz="2400" spc="-25" dirty="0">
                <a:latin typeface="Calibri"/>
                <a:cs typeface="Calibri"/>
              </a:rPr>
              <a:t> </a:t>
            </a:r>
            <a:r>
              <a:rPr sz="2400" spc="-10" dirty="0">
                <a:latin typeface="Calibri"/>
                <a:cs typeface="Calibri"/>
              </a:rPr>
              <a:t>database</a:t>
            </a:r>
            <a:endParaRPr sz="2400">
              <a:latin typeface="Calibri"/>
              <a:cs typeface="Calibri"/>
            </a:endParaRPr>
          </a:p>
          <a:p>
            <a:pPr marL="756285" marR="471805" lvl="1" indent="-287020">
              <a:lnSpc>
                <a:spcPct val="100000"/>
              </a:lnSpc>
              <a:spcBef>
                <a:spcPts val="575"/>
              </a:spcBef>
              <a:buFont typeface="Arial MT"/>
              <a:buChar char="–"/>
              <a:tabLst>
                <a:tab pos="756920" algn="l"/>
              </a:tabLst>
            </a:pPr>
            <a:r>
              <a:rPr sz="2400" spc="-10" dirty="0">
                <a:latin typeface="Calibri"/>
                <a:cs typeface="Calibri"/>
              </a:rPr>
              <a:t>Database</a:t>
            </a:r>
            <a:r>
              <a:rPr sz="2400" spc="-30" dirty="0">
                <a:latin typeface="Calibri"/>
                <a:cs typeface="Calibri"/>
              </a:rPr>
              <a:t> </a:t>
            </a:r>
            <a:r>
              <a:rPr sz="2400" dirty="0">
                <a:latin typeface="Calibri"/>
                <a:cs typeface="Calibri"/>
              </a:rPr>
              <a:t>activity</a:t>
            </a:r>
            <a:r>
              <a:rPr sz="2400" spc="-35" dirty="0">
                <a:latin typeface="Calibri"/>
                <a:cs typeface="Calibri"/>
              </a:rPr>
              <a:t> </a:t>
            </a:r>
            <a:r>
              <a:rPr sz="2400" spc="-5" dirty="0">
                <a:latin typeface="Calibri"/>
                <a:cs typeface="Calibri"/>
              </a:rPr>
              <a:t>monitoring</a:t>
            </a:r>
            <a:r>
              <a:rPr sz="2400" spc="-30" dirty="0">
                <a:latin typeface="Calibri"/>
                <a:cs typeface="Calibri"/>
              </a:rPr>
              <a:t> </a:t>
            </a:r>
            <a:r>
              <a:rPr sz="2400" spc="-15" dirty="0">
                <a:latin typeface="Calibri"/>
                <a:cs typeface="Calibri"/>
              </a:rPr>
              <a:t>programs</a:t>
            </a:r>
            <a:r>
              <a:rPr sz="2400" spc="-20" dirty="0">
                <a:latin typeface="Calibri"/>
                <a:cs typeface="Calibri"/>
              </a:rPr>
              <a:t> </a:t>
            </a:r>
            <a:r>
              <a:rPr sz="2400" spc="-10" dirty="0">
                <a:latin typeface="Calibri"/>
                <a:cs typeface="Calibri"/>
              </a:rPr>
              <a:t>can</a:t>
            </a:r>
            <a:r>
              <a:rPr sz="2400" spc="-20" dirty="0">
                <a:latin typeface="Calibri"/>
                <a:cs typeface="Calibri"/>
              </a:rPr>
              <a:t> </a:t>
            </a:r>
            <a:r>
              <a:rPr sz="2400" spc="-5" dirty="0">
                <a:latin typeface="Calibri"/>
                <a:cs typeface="Calibri"/>
              </a:rPr>
              <a:t>be used</a:t>
            </a:r>
            <a:r>
              <a:rPr sz="2400" dirty="0">
                <a:latin typeface="Calibri"/>
                <a:cs typeface="Calibri"/>
              </a:rPr>
              <a:t> </a:t>
            </a:r>
            <a:r>
              <a:rPr sz="2400" spc="-15" dirty="0">
                <a:latin typeface="Calibri"/>
                <a:cs typeface="Calibri"/>
              </a:rPr>
              <a:t>to </a:t>
            </a:r>
            <a:r>
              <a:rPr sz="2400" spc="-530" dirty="0">
                <a:latin typeface="Calibri"/>
                <a:cs typeface="Calibri"/>
              </a:rPr>
              <a:t> </a:t>
            </a:r>
            <a:r>
              <a:rPr sz="2400" spc="-10" dirty="0">
                <a:latin typeface="Calibri"/>
                <a:cs typeface="Calibri"/>
              </a:rPr>
              <a:t>detect</a:t>
            </a:r>
            <a:r>
              <a:rPr sz="2400" spc="-50" dirty="0">
                <a:latin typeface="Calibri"/>
                <a:cs typeface="Calibri"/>
              </a:rPr>
              <a:t> </a:t>
            </a:r>
            <a:r>
              <a:rPr sz="2400" spc="-5" dirty="0">
                <a:latin typeface="Calibri"/>
                <a:cs typeface="Calibri"/>
              </a:rPr>
              <a:t>possible</a:t>
            </a:r>
            <a:r>
              <a:rPr sz="2400" spc="5" dirty="0">
                <a:latin typeface="Calibri"/>
                <a:cs typeface="Calibri"/>
              </a:rPr>
              <a:t> </a:t>
            </a:r>
            <a:r>
              <a:rPr sz="2400" spc="-5" dirty="0">
                <a:latin typeface="Calibri"/>
                <a:cs typeface="Calibri"/>
              </a:rPr>
              <a:t>intrusions</a:t>
            </a:r>
            <a:r>
              <a:rPr sz="2400" spc="-10" dirty="0">
                <a:latin typeface="Calibri"/>
                <a:cs typeface="Calibri"/>
              </a:rPr>
              <a:t> </a:t>
            </a:r>
            <a:r>
              <a:rPr sz="2400" dirty="0">
                <a:latin typeface="Calibri"/>
                <a:cs typeface="Calibri"/>
              </a:rPr>
              <a:t>and </a:t>
            </a:r>
            <a:r>
              <a:rPr sz="2400" spc="-10" dirty="0">
                <a:latin typeface="Calibri"/>
                <a:cs typeface="Calibri"/>
              </a:rPr>
              <a:t>risks</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15" dirty="0">
                <a:latin typeface="Calibri"/>
                <a:cs typeface="Calibri"/>
              </a:rPr>
              <a:t>Prevents</a:t>
            </a:r>
            <a:r>
              <a:rPr sz="2400" spc="-20" dirty="0">
                <a:latin typeface="Calibri"/>
                <a:cs typeface="Calibri"/>
              </a:rPr>
              <a:t> </a:t>
            </a:r>
            <a:r>
              <a:rPr sz="2400" spc="-15" dirty="0">
                <a:latin typeface="Calibri"/>
                <a:cs typeface="Calibri"/>
              </a:rPr>
              <a:t>data</a:t>
            </a:r>
            <a:r>
              <a:rPr sz="2400" spc="-35" dirty="0">
                <a:latin typeface="Calibri"/>
                <a:cs typeface="Calibri"/>
              </a:rPr>
              <a:t> </a:t>
            </a:r>
            <a:r>
              <a:rPr sz="2400" spc="-5" dirty="0">
                <a:latin typeface="Calibri"/>
                <a:cs typeface="Calibri"/>
              </a:rPr>
              <a:t>loss</a:t>
            </a:r>
            <a:endParaRPr sz="2400">
              <a:latin typeface="Calibri"/>
              <a:cs typeface="Calibri"/>
            </a:endParaRPr>
          </a:p>
          <a:p>
            <a:pPr marL="756285" marR="925194" lvl="1" indent="-287020">
              <a:lnSpc>
                <a:spcPct val="100000"/>
              </a:lnSpc>
              <a:spcBef>
                <a:spcPts val="575"/>
              </a:spcBef>
              <a:buFont typeface="Arial MT"/>
              <a:buChar char="–"/>
              <a:tabLst>
                <a:tab pos="756920" algn="l"/>
              </a:tabLst>
            </a:pPr>
            <a:r>
              <a:rPr sz="2400" spc="-5" dirty="0">
                <a:latin typeface="Calibri"/>
                <a:cs typeface="Calibri"/>
              </a:rPr>
              <a:t>Should </a:t>
            </a:r>
            <a:r>
              <a:rPr sz="2400" dirty="0">
                <a:latin typeface="Calibri"/>
                <a:cs typeface="Calibri"/>
              </a:rPr>
              <a:t>include </a:t>
            </a:r>
            <a:r>
              <a:rPr sz="2400" spc="-5" dirty="0">
                <a:latin typeface="Calibri"/>
                <a:cs typeface="Calibri"/>
              </a:rPr>
              <a:t>strict </a:t>
            </a:r>
            <a:r>
              <a:rPr sz="2400" spc="-10" dirty="0">
                <a:latin typeface="Calibri"/>
                <a:cs typeface="Calibri"/>
              </a:rPr>
              <a:t>backup </a:t>
            </a:r>
            <a:r>
              <a:rPr sz="2400" dirty="0">
                <a:latin typeface="Calibri"/>
                <a:cs typeface="Calibri"/>
              </a:rPr>
              <a:t>and </a:t>
            </a:r>
            <a:r>
              <a:rPr sz="2400" spc="-10" dirty="0">
                <a:latin typeface="Calibri"/>
                <a:cs typeface="Calibri"/>
              </a:rPr>
              <a:t>disaster-recovery </a:t>
            </a:r>
            <a:r>
              <a:rPr sz="2400" spc="-530" dirty="0">
                <a:latin typeface="Calibri"/>
                <a:cs typeface="Calibri"/>
              </a:rPr>
              <a:t> </a:t>
            </a:r>
            <a:r>
              <a:rPr sz="2400" spc="-10" dirty="0">
                <a:latin typeface="Calibri"/>
                <a:cs typeface="Calibri"/>
              </a:rPr>
              <a:t>procedures</a:t>
            </a:r>
            <a:r>
              <a:rPr sz="2400" spc="-20" dirty="0">
                <a:latin typeface="Calibri"/>
                <a:cs typeface="Calibri"/>
              </a:rPr>
              <a:t> </a:t>
            </a:r>
            <a:r>
              <a:rPr sz="2400" spc="-10" dirty="0">
                <a:latin typeface="Calibri"/>
                <a:cs typeface="Calibri"/>
              </a:rPr>
              <a:t>(disaster-recovery </a:t>
            </a:r>
            <a:r>
              <a:rPr sz="2400" spc="-5" dirty="0">
                <a:latin typeface="Calibri"/>
                <a:cs typeface="Calibri"/>
              </a:rPr>
              <a:t>plan)</a:t>
            </a:r>
            <a:endParaRPr sz="2400">
              <a:latin typeface="Calibri"/>
              <a:cs typeface="Calibri"/>
            </a:endParaRPr>
          </a:p>
          <a:p>
            <a:pPr marL="756285" lvl="1" indent="-287020">
              <a:lnSpc>
                <a:spcPct val="100000"/>
              </a:lnSpc>
              <a:spcBef>
                <a:spcPts val="580"/>
              </a:spcBef>
              <a:buFont typeface="Arial MT"/>
              <a:buChar char="–"/>
              <a:tabLst>
                <a:tab pos="756920" algn="l"/>
              </a:tabLst>
            </a:pPr>
            <a:r>
              <a:rPr sz="2400" spc="-5" dirty="0">
                <a:latin typeface="Calibri"/>
                <a:cs typeface="Calibri"/>
              </a:rPr>
              <a:t>Should</a:t>
            </a:r>
            <a:r>
              <a:rPr sz="2400" spc="-25" dirty="0">
                <a:latin typeface="Calibri"/>
                <a:cs typeface="Calibri"/>
              </a:rPr>
              <a:t> </a:t>
            </a:r>
            <a:r>
              <a:rPr sz="2400" spc="-5" dirty="0">
                <a:latin typeface="Calibri"/>
                <a:cs typeface="Calibri"/>
              </a:rPr>
              <a:t>be used</a:t>
            </a:r>
            <a:r>
              <a:rPr sz="2400" spc="-10" dirty="0">
                <a:latin typeface="Calibri"/>
                <a:cs typeface="Calibri"/>
              </a:rPr>
              <a:t> </a:t>
            </a:r>
            <a:r>
              <a:rPr sz="2400" dirty="0">
                <a:latin typeface="Calibri"/>
                <a:cs typeface="Calibri"/>
              </a:rPr>
              <a:t>with </a:t>
            </a:r>
            <a:r>
              <a:rPr sz="2400" spc="-5" dirty="0">
                <a:latin typeface="Calibri"/>
                <a:cs typeface="Calibri"/>
              </a:rPr>
              <a:t>both</a:t>
            </a:r>
            <a:r>
              <a:rPr sz="2400" spc="-10" dirty="0">
                <a:latin typeface="Calibri"/>
                <a:cs typeface="Calibri"/>
              </a:rPr>
              <a:t> </a:t>
            </a:r>
            <a:r>
              <a:rPr sz="2400" spc="-5" dirty="0">
                <a:latin typeface="Calibri"/>
                <a:cs typeface="Calibri"/>
              </a:rPr>
              <a:t>in-house</a:t>
            </a:r>
            <a:r>
              <a:rPr sz="2400" spc="10" dirty="0">
                <a:latin typeface="Calibri"/>
                <a:cs typeface="Calibri"/>
              </a:rPr>
              <a:t> </a:t>
            </a:r>
            <a:r>
              <a:rPr sz="2400" dirty="0">
                <a:latin typeface="Calibri"/>
                <a:cs typeface="Calibri"/>
              </a:rPr>
              <a:t>and</a:t>
            </a:r>
            <a:r>
              <a:rPr sz="2400" spc="-5" dirty="0">
                <a:latin typeface="Calibri"/>
                <a:cs typeface="Calibri"/>
              </a:rPr>
              <a:t> </a:t>
            </a:r>
            <a:r>
              <a:rPr sz="2400" dirty="0">
                <a:latin typeface="Calibri"/>
                <a:cs typeface="Calibri"/>
              </a:rPr>
              <a:t>cloud</a:t>
            </a:r>
            <a:r>
              <a:rPr sz="2400" spc="-20" dirty="0">
                <a:latin typeface="Calibri"/>
                <a:cs typeface="Calibri"/>
              </a:rPr>
              <a:t> </a:t>
            </a:r>
            <a:r>
              <a:rPr sz="2400" spc="-10" dirty="0">
                <a:latin typeface="Calibri"/>
                <a:cs typeface="Calibri"/>
              </a:rPr>
              <a:t>databases</a:t>
            </a:r>
            <a:endParaRPr sz="24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6701" y="414655"/>
            <a:ext cx="6335395" cy="513715"/>
          </a:xfrm>
          <a:prstGeom prst="rect">
            <a:avLst/>
          </a:prstGeom>
        </p:spPr>
        <p:txBody>
          <a:bodyPr vert="horz" wrap="square" lIns="0" tIns="13335" rIns="0" bIns="0" rtlCol="0">
            <a:spAutoFit/>
          </a:bodyPr>
          <a:lstStyle/>
          <a:p>
            <a:pPr marL="12700">
              <a:lnSpc>
                <a:spcPct val="100000"/>
              </a:lnSpc>
              <a:spcBef>
                <a:spcPts val="105"/>
              </a:spcBef>
            </a:pPr>
            <a:r>
              <a:rPr spc="-5" dirty="0"/>
              <a:t>Data</a:t>
            </a:r>
            <a:r>
              <a:rPr spc="-30" dirty="0"/>
              <a:t> </a:t>
            </a:r>
            <a:r>
              <a:rPr spc="-5" dirty="0"/>
              <a:t>Integrity, Security,</a:t>
            </a:r>
            <a:r>
              <a:rPr spc="-25" dirty="0"/>
              <a:t> </a:t>
            </a:r>
            <a:r>
              <a:rPr dirty="0"/>
              <a:t>and</a:t>
            </a:r>
            <a:r>
              <a:rPr spc="-10" dirty="0"/>
              <a:t> </a:t>
            </a:r>
            <a:r>
              <a:rPr spc="-5" dirty="0"/>
              <a:t>Privacy</a:t>
            </a:r>
          </a:p>
        </p:txBody>
      </p:sp>
      <p:sp>
        <p:nvSpPr>
          <p:cNvPr id="4" name="object 4"/>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10" dirty="0"/>
              <a:t>Understanding</a:t>
            </a:r>
            <a:r>
              <a:rPr spc="-30" dirty="0"/>
              <a:t> </a:t>
            </a:r>
            <a:r>
              <a:rPr spc="-5" dirty="0"/>
              <a:t>Computers:</a:t>
            </a:r>
            <a:r>
              <a:rPr spc="5" dirty="0"/>
              <a:t> </a:t>
            </a:r>
            <a:r>
              <a:rPr spc="-5" dirty="0"/>
              <a:t>Today</a:t>
            </a:r>
            <a:r>
              <a:rPr spc="-15" dirty="0"/>
              <a:t> </a:t>
            </a:r>
            <a:r>
              <a:rPr spc="-5" dirty="0"/>
              <a:t>and</a:t>
            </a:r>
            <a:r>
              <a:rPr dirty="0"/>
              <a:t> </a:t>
            </a:r>
            <a:r>
              <a:rPr spc="-5" dirty="0"/>
              <a:t>Tomorrow, 15th</a:t>
            </a:r>
            <a:r>
              <a:rPr spc="-20" dirty="0"/>
              <a:t> </a:t>
            </a:r>
            <a:r>
              <a:rPr spc="-10" dirty="0"/>
              <a:t>Edition</a:t>
            </a:r>
          </a:p>
        </p:txBody>
      </p:sp>
      <p:sp>
        <p:nvSpPr>
          <p:cNvPr id="5" name="object 5"/>
          <p:cNvSpPr txBox="1">
            <a:spLocks noGrp="1"/>
          </p:cNvSpPr>
          <p:nvPr>
            <p:ph type="sldNum" sz="quarter" idx="7"/>
          </p:nvPr>
        </p:nvSpPr>
        <p:spPr>
          <a:prstGeom prst="rect">
            <a:avLst/>
          </a:prstGeom>
        </p:spPr>
        <p:txBody>
          <a:bodyPr vert="horz" wrap="square" lIns="0" tIns="24130" rIns="0" bIns="0" rtlCol="0">
            <a:spAutoFit/>
          </a:bodyPr>
          <a:lstStyle/>
          <a:p>
            <a:pPr marL="38100">
              <a:lnSpc>
                <a:spcPct val="100000"/>
              </a:lnSpc>
              <a:spcBef>
                <a:spcPts val="190"/>
              </a:spcBef>
            </a:pPr>
            <a:fld id="{81D60167-4931-47E6-BA6A-407CBD079E47}" type="slidenum">
              <a:rPr dirty="0"/>
              <a:t>20</a:t>
            </a:fld>
            <a:endParaRPr dirty="0"/>
          </a:p>
        </p:txBody>
      </p:sp>
      <p:sp>
        <p:nvSpPr>
          <p:cNvPr id="3" name="object 3"/>
          <p:cNvSpPr txBox="1"/>
          <p:nvPr/>
        </p:nvSpPr>
        <p:spPr>
          <a:xfrm>
            <a:off x="993444" y="1461262"/>
            <a:ext cx="7041515" cy="2952115"/>
          </a:xfrm>
          <a:prstGeom prst="rect">
            <a:avLst/>
          </a:prstGeom>
        </p:spPr>
        <p:txBody>
          <a:bodyPr vert="horz" wrap="square" lIns="0" tIns="85725" rIns="0" bIns="0" rtlCol="0">
            <a:spAutoFit/>
          </a:bodyPr>
          <a:lstStyle/>
          <a:p>
            <a:pPr marL="299085" indent="-287020">
              <a:lnSpc>
                <a:spcPct val="100000"/>
              </a:lnSpc>
              <a:spcBef>
                <a:spcPts val="675"/>
              </a:spcBef>
              <a:buFont typeface="Arial MT"/>
              <a:buChar char="–"/>
              <a:tabLst>
                <a:tab pos="299720" algn="l"/>
              </a:tabLst>
            </a:pPr>
            <a:r>
              <a:rPr sz="2400" spc="-15" dirty="0">
                <a:latin typeface="Calibri"/>
                <a:cs typeface="Calibri"/>
              </a:rPr>
              <a:t>Data</a:t>
            </a:r>
            <a:r>
              <a:rPr sz="2400" spc="-55" dirty="0">
                <a:latin typeface="Calibri"/>
                <a:cs typeface="Calibri"/>
              </a:rPr>
              <a:t> </a:t>
            </a:r>
            <a:r>
              <a:rPr sz="2400" spc="-10" dirty="0">
                <a:latin typeface="Calibri"/>
                <a:cs typeface="Calibri"/>
              </a:rPr>
              <a:t>Privacy</a:t>
            </a:r>
            <a:endParaRPr sz="2400">
              <a:latin typeface="Calibri"/>
              <a:cs typeface="Calibri"/>
            </a:endParaRPr>
          </a:p>
          <a:p>
            <a:pPr marL="697865" marR="299085" lvl="1" indent="-228600">
              <a:lnSpc>
                <a:spcPct val="100000"/>
              </a:lnSpc>
              <a:spcBef>
                <a:spcPts val="575"/>
              </a:spcBef>
              <a:buFont typeface="Arial MT"/>
              <a:buChar char="•"/>
              <a:tabLst>
                <a:tab pos="698500" algn="l"/>
              </a:tabLst>
            </a:pPr>
            <a:r>
              <a:rPr sz="2400" spc="-10" dirty="0">
                <a:latin typeface="Calibri"/>
                <a:cs typeface="Calibri"/>
              </a:rPr>
              <a:t>Growing concern </a:t>
            </a:r>
            <a:r>
              <a:rPr sz="2400" spc="-5" dirty="0">
                <a:latin typeface="Calibri"/>
                <a:cs typeface="Calibri"/>
              </a:rPr>
              <a:t>because of </a:t>
            </a:r>
            <a:r>
              <a:rPr sz="2400" dirty="0">
                <a:latin typeface="Calibri"/>
                <a:cs typeface="Calibri"/>
              </a:rPr>
              <a:t>the </a:t>
            </a:r>
            <a:r>
              <a:rPr sz="2400" spc="-20" dirty="0">
                <a:latin typeface="Calibri"/>
                <a:cs typeface="Calibri"/>
              </a:rPr>
              <a:t>vast </a:t>
            </a:r>
            <a:r>
              <a:rPr sz="2400" spc="-5" dirty="0">
                <a:latin typeface="Calibri"/>
                <a:cs typeface="Calibri"/>
              </a:rPr>
              <a:t>amounts of </a:t>
            </a:r>
            <a:r>
              <a:rPr sz="2400" spc="-530" dirty="0">
                <a:latin typeface="Calibri"/>
                <a:cs typeface="Calibri"/>
              </a:rPr>
              <a:t> </a:t>
            </a:r>
            <a:r>
              <a:rPr sz="2400" spc="-10" dirty="0">
                <a:latin typeface="Calibri"/>
                <a:cs typeface="Calibri"/>
              </a:rPr>
              <a:t>personal</a:t>
            </a:r>
            <a:r>
              <a:rPr sz="2400" spc="-25" dirty="0">
                <a:latin typeface="Calibri"/>
                <a:cs typeface="Calibri"/>
              </a:rPr>
              <a:t> </a:t>
            </a:r>
            <a:r>
              <a:rPr sz="2400" spc="-15" dirty="0">
                <a:latin typeface="Calibri"/>
                <a:cs typeface="Calibri"/>
              </a:rPr>
              <a:t>data </a:t>
            </a:r>
            <a:r>
              <a:rPr sz="2400" spc="-20" dirty="0">
                <a:latin typeface="Calibri"/>
                <a:cs typeface="Calibri"/>
              </a:rPr>
              <a:t>stored</a:t>
            </a:r>
            <a:r>
              <a:rPr sz="2400" spc="-5" dirty="0">
                <a:latin typeface="Calibri"/>
                <a:cs typeface="Calibri"/>
              </a:rPr>
              <a:t> </a:t>
            </a:r>
            <a:r>
              <a:rPr sz="2400" dirty="0">
                <a:latin typeface="Calibri"/>
                <a:cs typeface="Calibri"/>
              </a:rPr>
              <a:t>in</a:t>
            </a:r>
            <a:r>
              <a:rPr sz="2400" spc="-15" dirty="0">
                <a:latin typeface="Calibri"/>
                <a:cs typeface="Calibri"/>
              </a:rPr>
              <a:t> </a:t>
            </a:r>
            <a:r>
              <a:rPr sz="2400" spc="-5" dirty="0">
                <a:latin typeface="Calibri"/>
                <a:cs typeface="Calibri"/>
              </a:rPr>
              <a:t>databases</a:t>
            </a:r>
            <a:r>
              <a:rPr sz="2400" dirty="0">
                <a:latin typeface="Calibri"/>
                <a:cs typeface="Calibri"/>
              </a:rPr>
              <a:t> </a:t>
            </a:r>
            <a:r>
              <a:rPr sz="2400" spc="-20" dirty="0">
                <a:latin typeface="Calibri"/>
                <a:cs typeface="Calibri"/>
              </a:rPr>
              <a:t>today</a:t>
            </a:r>
            <a:endParaRPr sz="2400">
              <a:latin typeface="Calibri"/>
              <a:cs typeface="Calibri"/>
            </a:endParaRPr>
          </a:p>
          <a:p>
            <a:pPr marL="697865" marR="5080" lvl="1" indent="-228600">
              <a:lnSpc>
                <a:spcPct val="100000"/>
              </a:lnSpc>
              <a:spcBef>
                <a:spcPts val="580"/>
              </a:spcBef>
              <a:buFont typeface="Arial MT"/>
              <a:buChar char="•"/>
              <a:tabLst>
                <a:tab pos="698500" algn="l"/>
              </a:tabLst>
            </a:pPr>
            <a:r>
              <a:rPr sz="2400" spc="-15" dirty="0">
                <a:latin typeface="Calibri"/>
                <a:cs typeface="Calibri"/>
              </a:rPr>
              <a:t>Many </a:t>
            </a:r>
            <a:r>
              <a:rPr sz="2400" spc="-20" dirty="0">
                <a:latin typeface="Calibri"/>
                <a:cs typeface="Calibri"/>
              </a:rPr>
              <a:t>states</a:t>
            </a:r>
            <a:r>
              <a:rPr sz="2400" spc="-25" dirty="0">
                <a:latin typeface="Calibri"/>
                <a:cs typeface="Calibri"/>
              </a:rPr>
              <a:t> </a:t>
            </a:r>
            <a:r>
              <a:rPr sz="2400" spc="-10" dirty="0">
                <a:latin typeface="Calibri"/>
                <a:cs typeface="Calibri"/>
              </a:rPr>
              <a:t>require</a:t>
            </a:r>
            <a:r>
              <a:rPr sz="2400" spc="-5" dirty="0">
                <a:latin typeface="Calibri"/>
                <a:cs typeface="Calibri"/>
              </a:rPr>
              <a:t> businesses</a:t>
            </a:r>
            <a:r>
              <a:rPr sz="2400" spc="5" dirty="0">
                <a:latin typeface="Calibri"/>
                <a:cs typeface="Calibri"/>
              </a:rPr>
              <a:t> </a:t>
            </a:r>
            <a:r>
              <a:rPr sz="2400" spc="-15" dirty="0">
                <a:latin typeface="Calibri"/>
                <a:cs typeface="Calibri"/>
              </a:rPr>
              <a:t>to</a:t>
            </a:r>
            <a:r>
              <a:rPr sz="2400" spc="-10" dirty="0">
                <a:latin typeface="Calibri"/>
                <a:cs typeface="Calibri"/>
              </a:rPr>
              <a:t> </a:t>
            </a:r>
            <a:r>
              <a:rPr sz="2400" spc="-5" dirty="0">
                <a:latin typeface="Calibri"/>
                <a:cs typeface="Calibri"/>
              </a:rPr>
              <a:t>notify</a:t>
            </a:r>
            <a:r>
              <a:rPr sz="2400" dirty="0">
                <a:latin typeface="Calibri"/>
                <a:cs typeface="Calibri"/>
              </a:rPr>
              <a:t> </a:t>
            </a:r>
            <a:r>
              <a:rPr sz="2400" spc="-15" dirty="0">
                <a:latin typeface="Calibri"/>
                <a:cs typeface="Calibri"/>
              </a:rPr>
              <a:t>customers </a:t>
            </a:r>
            <a:r>
              <a:rPr sz="2400" spc="-530" dirty="0">
                <a:latin typeface="Calibri"/>
                <a:cs typeface="Calibri"/>
              </a:rPr>
              <a:t> </a:t>
            </a:r>
            <a:r>
              <a:rPr sz="2400" dirty="0">
                <a:latin typeface="Calibri"/>
                <a:cs typeface="Calibri"/>
              </a:rPr>
              <a:t>when</a:t>
            </a:r>
            <a:r>
              <a:rPr sz="2400" spc="-20" dirty="0">
                <a:latin typeface="Calibri"/>
                <a:cs typeface="Calibri"/>
              </a:rPr>
              <a:t> </a:t>
            </a:r>
            <a:r>
              <a:rPr sz="2400" dirty="0">
                <a:latin typeface="Calibri"/>
                <a:cs typeface="Calibri"/>
              </a:rPr>
              <a:t>their</a:t>
            </a:r>
            <a:r>
              <a:rPr sz="2400" spc="-15" dirty="0">
                <a:latin typeface="Calibri"/>
                <a:cs typeface="Calibri"/>
              </a:rPr>
              <a:t> </a:t>
            </a:r>
            <a:r>
              <a:rPr sz="2400" spc="-10" dirty="0">
                <a:latin typeface="Calibri"/>
                <a:cs typeface="Calibri"/>
              </a:rPr>
              <a:t>personal</a:t>
            </a:r>
            <a:r>
              <a:rPr sz="2400" spc="-15" dirty="0">
                <a:latin typeface="Calibri"/>
                <a:cs typeface="Calibri"/>
              </a:rPr>
              <a:t> data</a:t>
            </a:r>
            <a:r>
              <a:rPr sz="2400" spc="-20" dirty="0">
                <a:latin typeface="Calibri"/>
                <a:cs typeface="Calibri"/>
              </a:rPr>
              <a:t> </a:t>
            </a:r>
            <a:r>
              <a:rPr sz="2400" spc="-5" dirty="0">
                <a:latin typeface="Calibri"/>
                <a:cs typeface="Calibri"/>
              </a:rPr>
              <a:t>has</a:t>
            </a:r>
            <a:r>
              <a:rPr sz="2400" spc="-10" dirty="0">
                <a:latin typeface="Calibri"/>
                <a:cs typeface="Calibri"/>
              </a:rPr>
              <a:t> </a:t>
            </a:r>
            <a:r>
              <a:rPr sz="2400" spc="-5" dirty="0">
                <a:latin typeface="Calibri"/>
                <a:cs typeface="Calibri"/>
              </a:rPr>
              <a:t>been</a:t>
            </a:r>
            <a:r>
              <a:rPr sz="2400" spc="-10" dirty="0">
                <a:latin typeface="Calibri"/>
                <a:cs typeface="Calibri"/>
              </a:rPr>
              <a:t> compromised</a:t>
            </a:r>
            <a:endParaRPr sz="2400">
              <a:latin typeface="Calibri"/>
              <a:cs typeface="Calibri"/>
            </a:endParaRPr>
          </a:p>
          <a:p>
            <a:pPr marL="697865" lvl="1" indent="-229235">
              <a:lnSpc>
                <a:spcPct val="100000"/>
              </a:lnSpc>
              <a:spcBef>
                <a:spcPts val="575"/>
              </a:spcBef>
              <a:buFont typeface="Arial MT"/>
              <a:buChar char="•"/>
              <a:tabLst>
                <a:tab pos="698500" algn="l"/>
              </a:tabLst>
            </a:pPr>
            <a:r>
              <a:rPr sz="2400" spc="-15" dirty="0">
                <a:latin typeface="Calibri"/>
                <a:cs typeface="Calibri"/>
              </a:rPr>
              <a:t>Data</a:t>
            </a:r>
            <a:r>
              <a:rPr sz="2400" spc="-40" dirty="0">
                <a:latin typeface="Calibri"/>
                <a:cs typeface="Calibri"/>
              </a:rPr>
              <a:t> </a:t>
            </a:r>
            <a:r>
              <a:rPr sz="2400" spc="-10" dirty="0">
                <a:latin typeface="Calibri"/>
                <a:cs typeface="Calibri"/>
              </a:rPr>
              <a:t>breaches</a:t>
            </a:r>
            <a:r>
              <a:rPr sz="2400" spc="-25" dirty="0">
                <a:latin typeface="Calibri"/>
                <a:cs typeface="Calibri"/>
              </a:rPr>
              <a:t> </a:t>
            </a:r>
            <a:r>
              <a:rPr sz="2400" spc="-10" dirty="0">
                <a:latin typeface="Calibri"/>
                <a:cs typeface="Calibri"/>
              </a:rPr>
              <a:t>can</a:t>
            </a:r>
            <a:r>
              <a:rPr sz="2400" spc="-5" dirty="0">
                <a:latin typeface="Calibri"/>
                <a:cs typeface="Calibri"/>
              </a:rPr>
              <a:t> be</a:t>
            </a:r>
            <a:r>
              <a:rPr sz="2400" spc="-10" dirty="0">
                <a:latin typeface="Calibri"/>
                <a:cs typeface="Calibri"/>
              </a:rPr>
              <a:t> costly</a:t>
            </a:r>
            <a:endParaRPr sz="2400">
              <a:latin typeface="Calibri"/>
              <a:cs typeface="Calibri"/>
            </a:endParaRPr>
          </a:p>
          <a:p>
            <a:pPr marL="926465">
              <a:lnSpc>
                <a:spcPct val="100000"/>
              </a:lnSpc>
              <a:spcBef>
                <a:spcPts val="580"/>
              </a:spcBef>
            </a:pPr>
            <a:r>
              <a:rPr sz="2400" dirty="0">
                <a:latin typeface="Arial MT"/>
                <a:cs typeface="Arial MT"/>
              </a:rPr>
              <a:t>–</a:t>
            </a:r>
            <a:r>
              <a:rPr sz="2400" spc="-204" dirty="0">
                <a:latin typeface="Arial MT"/>
                <a:cs typeface="Arial MT"/>
              </a:rPr>
              <a:t> </a:t>
            </a:r>
            <a:r>
              <a:rPr sz="2400" spc="-5" dirty="0">
                <a:latin typeface="Calibri"/>
                <a:cs typeface="Calibri"/>
              </a:rPr>
              <a:t>On</a:t>
            </a:r>
            <a:r>
              <a:rPr sz="2400" dirty="0">
                <a:latin typeface="Calibri"/>
                <a:cs typeface="Calibri"/>
              </a:rPr>
              <a:t>e</a:t>
            </a:r>
            <a:r>
              <a:rPr sz="2400" spc="-20" dirty="0">
                <a:latin typeface="Calibri"/>
                <a:cs typeface="Calibri"/>
              </a:rPr>
              <a:t> </a:t>
            </a:r>
            <a:r>
              <a:rPr sz="2400" dirty="0">
                <a:latin typeface="Calibri"/>
                <a:cs typeface="Calibri"/>
              </a:rPr>
              <a:t>e</a:t>
            </a:r>
            <a:r>
              <a:rPr sz="2400" spc="-25" dirty="0">
                <a:latin typeface="Calibri"/>
                <a:cs typeface="Calibri"/>
              </a:rPr>
              <a:t>s</a:t>
            </a:r>
            <a:r>
              <a:rPr sz="2400" dirty="0">
                <a:latin typeface="Calibri"/>
                <a:cs typeface="Calibri"/>
              </a:rPr>
              <a:t>tim</a:t>
            </a:r>
            <a:r>
              <a:rPr sz="2400" spc="-20" dirty="0">
                <a:latin typeface="Calibri"/>
                <a:cs typeface="Calibri"/>
              </a:rPr>
              <a:t>a</a:t>
            </a:r>
            <a:r>
              <a:rPr sz="2400" spc="-25" dirty="0">
                <a:latin typeface="Calibri"/>
                <a:cs typeface="Calibri"/>
              </a:rPr>
              <a:t>t</a:t>
            </a:r>
            <a:r>
              <a:rPr sz="2400" dirty="0">
                <a:latin typeface="Calibri"/>
                <a:cs typeface="Calibri"/>
              </a:rPr>
              <a:t>e</a:t>
            </a:r>
            <a:r>
              <a:rPr sz="2400" spc="-20" dirty="0">
                <a:latin typeface="Calibri"/>
                <a:cs typeface="Calibri"/>
              </a:rPr>
              <a:t> </a:t>
            </a:r>
            <a:r>
              <a:rPr sz="2400" dirty="0">
                <a:latin typeface="Calibri"/>
                <a:cs typeface="Calibri"/>
              </a:rPr>
              <a:t>is </a:t>
            </a:r>
            <a:r>
              <a:rPr sz="2400" spc="-10" dirty="0">
                <a:latin typeface="Calibri"/>
                <a:cs typeface="Calibri"/>
              </a:rPr>
              <a:t>$</a:t>
            </a:r>
            <a:r>
              <a:rPr sz="2400" dirty="0">
                <a:latin typeface="Calibri"/>
                <a:cs typeface="Calibri"/>
              </a:rPr>
              <a:t>2</a:t>
            </a:r>
            <a:r>
              <a:rPr sz="2400" spc="-10" dirty="0">
                <a:latin typeface="Calibri"/>
                <a:cs typeface="Calibri"/>
              </a:rPr>
              <a:t>0</a:t>
            </a:r>
            <a:r>
              <a:rPr sz="2400" dirty="0">
                <a:latin typeface="Calibri"/>
                <a:cs typeface="Calibri"/>
              </a:rPr>
              <a:t>0</a:t>
            </a:r>
            <a:r>
              <a:rPr sz="2400" spc="-10" dirty="0">
                <a:latin typeface="Calibri"/>
                <a:cs typeface="Calibri"/>
              </a:rPr>
              <a:t> </a:t>
            </a:r>
            <a:r>
              <a:rPr sz="2400" spc="-5" dirty="0">
                <a:latin typeface="Calibri"/>
                <a:cs typeface="Calibri"/>
              </a:rPr>
              <a:t>pe</a:t>
            </a:r>
            <a:r>
              <a:rPr sz="2400" dirty="0">
                <a:latin typeface="Calibri"/>
                <a:cs typeface="Calibri"/>
              </a:rPr>
              <a:t>r </a:t>
            </a:r>
            <a:r>
              <a:rPr sz="2400" spc="-5" dirty="0">
                <a:latin typeface="Calibri"/>
                <a:cs typeface="Calibri"/>
              </a:rPr>
              <a:t>b</a:t>
            </a:r>
            <a:r>
              <a:rPr sz="2400" spc="-40" dirty="0">
                <a:latin typeface="Calibri"/>
                <a:cs typeface="Calibri"/>
              </a:rPr>
              <a:t>r</a:t>
            </a:r>
            <a:r>
              <a:rPr sz="2400" dirty="0">
                <a:latin typeface="Calibri"/>
                <a:cs typeface="Calibri"/>
              </a:rPr>
              <a:t>e</a:t>
            </a:r>
            <a:r>
              <a:rPr sz="2400" spc="5" dirty="0">
                <a:latin typeface="Calibri"/>
                <a:cs typeface="Calibri"/>
              </a:rPr>
              <a:t>a</a:t>
            </a:r>
            <a:r>
              <a:rPr sz="2400" dirty="0">
                <a:latin typeface="Calibri"/>
                <a:cs typeface="Calibri"/>
              </a:rPr>
              <a:t>ch</a:t>
            </a:r>
            <a:r>
              <a:rPr sz="2400" spc="5" dirty="0">
                <a:latin typeface="Calibri"/>
                <a:cs typeface="Calibri"/>
              </a:rPr>
              <a:t>e</a:t>
            </a:r>
            <a:r>
              <a:rPr sz="2400" dirty="0">
                <a:latin typeface="Calibri"/>
                <a:cs typeface="Calibri"/>
              </a:rPr>
              <a:t>d</a:t>
            </a:r>
            <a:r>
              <a:rPr sz="2400" spc="-5" dirty="0">
                <a:latin typeface="Calibri"/>
                <a:cs typeface="Calibri"/>
              </a:rPr>
              <a:t> </a:t>
            </a:r>
            <a:r>
              <a:rPr sz="2400" spc="-40" dirty="0">
                <a:latin typeface="Calibri"/>
                <a:cs typeface="Calibri"/>
              </a:rPr>
              <a:t>r</a:t>
            </a:r>
            <a:r>
              <a:rPr sz="2400" dirty="0">
                <a:latin typeface="Calibri"/>
                <a:cs typeface="Calibri"/>
              </a:rPr>
              <a:t>e</a:t>
            </a:r>
            <a:r>
              <a:rPr sz="2400" spc="-15" dirty="0">
                <a:latin typeface="Calibri"/>
                <a:cs typeface="Calibri"/>
              </a:rPr>
              <a:t>c</a:t>
            </a:r>
            <a:r>
              <a:rPr sz="2400" spc="-5" dirty="0">
                <a:latin typeface="Calibri"/>
                <a:cs typeface="Calibri"/>
              </a:rPr>
              <a:t>o</a:t>
            </a:r>
            <a:r>
              <a:rPr sz="2400" spc="-40" dirty="0">
                <a:latin typeface="Calibri"/>
                <a:cs typeface="Calibri"/>
              </a:rPr>
              <a:t>r</a:t>
            </a:r>
            <a:r>
              <a:rPr sz="2400" dirty="0">
                <a:latin typeface="Calibri"/>
                <a:cs typeface="Calibri"/>
              </a:rPr>
              <a:t>d</a:t>
            </a:r>
            <a:endParaRPr sz="24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28512-CD7C-F2C6-66EB-5653B56EEB0C}"/>
              </a:ext>
            </a:extLst>
          </p:cNvPr>
          <p:cNvSpPr>
            <a:spLocks noGrp="1"/>
          </p:cNvSpPr>
          <p:nvPr>
            <p:ph type="ctrTitle"/>
          </p:nvPr>
        </p:nvSpPr>
        <p:spPr>
          <a:xfrm>
            <a:off x="1752600" y="457200"/>
            <a:ext cx="6324600" cy="492443"/>
          </a:xfrm>
        </p:spPr>
        <p:txBody>
          <a:bodyPr/>
          <a:lstStyle/>
          <a:p>
            <a:r>
              <a:rPr lang="en-US" dirty="0"/>
              <a:t>Meta data</a:t>
            </a:r>
          </a:p>
        </p:txBody>
      </p:sp>
      <p:sp>
        <p:nvSpPr>
          <p:cNvPr id="3" name="Subtitle 2">
            <a:extLst>
              <a:ext uri="{FF2B5EF4-FFF2-40B4-BE49-F238E27FC236}">
                <a16:creationId xmlns:a16="http://schemas.microsoft.com/office/drawing/2014/main" id="{ADDBCAF7-B30D-401D-D4A6-CC68D412CA0D}"/>
              </a:ext>
            </a:extLst>
          </p:cNvPr>
          <p:cNvSpPr>
            <a:spLocks noGrp="1"/>
          </p:cNvSpPr>
          <p:nvPr>
            <p:ph type="subTitle" idx="4"/>
          </p:nvPr>
        </p:nvSpPr>
        <p:spPr>
          <a:xfrm>
            <a:off x="762000" y="1905000"/>
            <a:ext cx="7315200" cy="4308872"/>
          </a:xfrm>
        </p:spPr>
        <p:txBody>
          <a:bodyPr/>
          <a:lstStyle/>
          <a:p>
            <a:pPr algn="just"/>
            <a:r>
              <a:rPr lang="en-US" sz="2800" dirty="0"/>
              <a:t>Metadata refers to data that provides information about other data. It describes various aspects of data, such as its structure, origin, format, and context. Metadata can be thought of as "data about data.“</a:t>
            </a:r>
          </a:p>
          <a:p>
            <a:pPr marL="342900" indent="-342900" algn="just">
              <a:buFont typeface="Calibri" panose="020F0502020204030204" pitchFamily="34" charset="0"/>
              <a:buChar char="‾"/>
            </a:pPr>
            <a:r>
              <a:rPr lang="en-US" sz="2800" dirty="0"/>
              <a:t>Metadata provides context and helps users interpret and use data effectively. It includes details such as data source, creation date, authorship, and relationships between different datasets.</a:t>
            </a:r>
          </a:p>
        </p:txBody>
      </p:sp>
    </p:spTree>
    <p:extLst>
      <p:ext uri="{BB962C8B-B14F-4D97-AF65-F5344CB8AC3E}">
        <p14:creationId xmlns:p14="http://schemas.microsoft.com/office/powerpoint/2010/main" val="32459462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BF6F-5240-5598-3122-0FDD79360902}"/>
              </a:ext>
            </a:extLst>
          </p:cNvPr>
          <p:cNvSpPr>
            <a:spLocks noGrp="1"/>
          </p:cNvSpPr>
          <p:nvPr>
            <p:ph type="title"/>
          </p:nvPr>
        </p:nvSpPr>
        <p:spPr>
          <a:xfrm>
            <a:off x="1731517" y="533400"/>
            <a:ext cx="5680963" cy="492443"/>
          </a:xfrm>
        </p:spPr>
        <p:txBody>
          <a:bodyPr/>
          <a:lstStyle/>
          <a:p>
            <a:r>
              <a:rPr lang="en-US" dirty="0"/>
              <a:t> DBMS Manages Interaction</a:t>
            </a:r>
          </a:p>
        </p:txBody>
      </p:sp>
      <p:sp>
        <p:nvSpPr>
          <p:cNvPr id="3" name="Text Placeholder 2">
            <a:extLst>
              <a:ext uri="{FF2B5EF4-FFF2-40B4-BE49-F238E27FC236}">
                <a16:creationId xmlns:a16="http://schemas.microsoft.com/office/drawing/2014/main" id="{213AF33B-5465-E528-D70E-A67FB143CF80}"/>
              </a:ext>
            </a:extLst>
          </p:cNvPr>
          <p:cNvSpPr>
            <a:spLocks noGrp="1"/>
          </p:cNvSpPr>
          <p:nvPr>
            <p:ph type="body" idx="1"/>
          </p:nvPr>
        </p:nvSpPr>
        <p:spPr>
          <a:xfrm>
            <a:off x="660095" y="1981200"/>
            <a:ext cx="7823809" cy="3962400"/>
          </a:xfrm>
        </p:spPr>
        <p:txBody>
          <a:bodyPr/>
          <a:lstStyle/>
          <a:p>
            <a:pPr algn="just"/>
            <a:r>
              <a:rPr lang="en-US" dirty="0"/>
              <a:t>A Database Management System (DBMS) is a software application that efficiently and securely manages the interaction between users, applications, and the underlying database. It serves as an intermediary that facilitates the storage, retrieval, and manipulation of data in response to user queries and application requests.</a:t>
            </a:r>
          </a:p>
          <a:p>
            <a:pPr algn="just"/>
            <a:endParaRPr lang="en-US" dirty="0"/>
          </a:p>
          <a:p>
            <a:pPr marL="342900" indent="-342900" algn="just">
              <a:buFont typeface="Calibri" panose="020F0502020204030204" pitchFamily="34" charset="0"/>
              <a:buChar char="―"/>
            </a:pPr>
            <a:r>
              <a:rPr lang="en-US" dirty="0"/>
              <a:t>It ensures that users and applications can interact with the database securely and efficiently, while also handling internal processes to maintain data integrity and optimize performance.</a:t>
            </a:r>
          </a:p>
        </p:txBody>
      </p:sp>
    </p:spTree>
    <p:extLst>
      <p:ext uri="{BB962C8B-B14F-4D97-AF65-F5344CB8AC3E}">
        <p14:creationId xmlns:p14="http://schemas.microsoft.com/office/powerpoint/2010/main" val="141641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4E0C-E3CE-A0D5-A7C4-9387AD4AE9E3}"/>
              </a:ext>
            </a:extLst>
          </p:cNvPr>
          <p:cNvSpPr>
            <a:spLocks noGrp="1"/>
          </p:cNvSpPr>
          <p:nvPr>
            <p:ph type="title"/>
          </p:nvPr>
        </p:nvSpPr>
        <p:spPr>
          <a:xfrm>
            <a:off x="1731517" y="533400"/>
            <a:ext cx="5680963" cy="492443"/>
          </a:xfrm>
        </p:spPr>
        <p:txBody>
          <a:bodyPr/>
          <a:lstStyle/>
          <a:p>
            <a:r>
              <a:rPr lang="en-US" dirty="0"/>
              <a:t>Improved Data Sharing</a:t>
            </a:r>
          </a:p>
        </p:txBody>
      </p:sp>
      <p:sp>
        <p:nvSpPr>
          <p:cNvPr id="3" name="Text Placeholder 2">
            <a:extLst>
              <a:ext uri="{FF2B5EF4-FFF2-40B4-BE49-F238E27FC236}">
                <a16:creationId xmlns:a16="http://schemas.microsoft.com/office/drawing/2014/main" id="{FCD9720F-DEDB-7FD2-3D5B-14D5FA0E57B8}"/>
              </a:ext>
            </a:extLst>
          </p:cNvPr>
          <p:cNvSpPr>
            <a:spLocks noGrp="1"/>
          </p:cNvSpPr>
          <p:nvPr>
            <p:ph type="body" idx="1"/>
          </p:nvPr>
        </p:nvSpPr>
        <p:spPr>
          <a:xfrm>
            <a:off x="660095" y="1905000"/>
            <a:ext cx="7823809" cy="4431983"/>
          </a:xfrm>
        </p:spPr>
        <p:txBody>
          <a:bodyPr/>
          <a:lstStyle/>
          <a:p>
            <a:pPr algn="just"/>
            <a:r>
              <a:rPr lang="en-US" dirty="0"/>
              <a:t>DBMS Improved data sharing refers to the streamlined and secure sharing of data among users and applications within an organization.</a:t>
            </a:r>
          </a:p>
          <a:p>
            <a:pPr algn="just"/>
            <a:endParaRPr lang="en-US" dirty="0"/>
          </a:p>
          <a:p>
            <a:pPr marL="342900" indent="-342900" algn="just">
              <a:buFont typeface="Calibri" panose="020F0502020204030204" pitchFamily="34" charset="0"/>
              <a:buChar char="―"/>
            </a:pPr>
            <a:r>
              <a:rPr lang="en-US" dirty="0"/>
              <a:t>Key features of Data Sharing includes:</a:t>
            </a:r>
          </a:p>
          <a:p>
            <a:pPr marL="342900" indent="-342900" algn="just">
              <a:buFont typeface="Wingdings" panose="05000000000000000000" pitchFamily="2" charset="2"/>
              <a:buChar char="q"/>
            </a:pPr>
            <a:r>
              <a:rPr lang="en-US" dirty="0"/>
              <a:t>Efficient Collaboration: Centralized platform for teamwork.</a:t>
            </a:r>
          </a:p>
          <a:p>
            <a:pPr marL="342900" indent="-342900" algn="just">
              <a:buFont typeface="Wingdings" panose="05000000000000000000" pitchFamily="2" charset="2"/>
              <a:buChar char="q"/>
            </a:pPr>
            <a:r>
              <a:rPr lang="en-US" dirty="0"/>
              <a:t>Data Consistency: Up-to-date and accurate information for all users.</a:t>
            </a:r>
          </a:p>
          <a:p>
            <a:pPr marL="342900" indent="-342900" algn="just">
              <a:buFont typeface="Wingdings" panose="05000000000000000000" pitchFamily="2" charset="2"/>
              <a:buChar char="q"/>
            </a:pPr>
            <a:r>
              <a:rPr lang="en-US" dirty="0"/>
              <a:t>Access Control: Robust mechanisms for defining and enforcing user permissions.</a:t>
            </a:r>
          </a:p>
          <a:p>
            <a:pPr marL="342900" indent="-342900">
              <a:buFont typeface="Wingdings" panose="05000000000000000000" pitchFamily="2" charset="2"/>
              <a:buChar char="q"/>
            </a:pPr>
            <a:endParaRPr lang="en-US" dirty="0"/>
          </a:p>
          <a:p>
            <a:endParaRPr lang="en-US" dirty="0"/>
          </a:p>
        </p:txBody>
      </p:sp>
    </p:spTree>
    <p:extLst>
      <p:ext uri="{BB962C8B-B14F-4D97-AF65-F5344CB8AC3E}">
        <p14:creationId xmlns:p14="http://schemas.microsoft.com/office/powerpoint/2010/main" val="7568574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TotalTime>
  <Words>1308</Words>
  <Application>Microsoft Office PowerPoint</Application>
  <PresentationFormat>On-screen Show (4:3)</PresentationFormat>
  <Paragraphs>189</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 MT</vt:lpstr>
      <vt:lpstr>Calibri</vt:lpstr>
      <vt:lpstr>Ebrima</vt:lpstr>
      <vt:lpstr>Wingdings</vt:lpstr>
      <vt:lpstr>Office Theme</vt:lpstr>
      <vt:lpstr>PowerPoint Presentation</vt:lpstr>
      <vt:lpstr>Overview</vt:lpstr>
      <vt:lpstr>What Is a Database?</vt:lpstr>
      <vt:lpstr>What Is a Database?</vt:lpstr>
      <vt:lpstr>What Is a Database?</vt:lpstr>
      <vt:lpstr>What is a Database?</vt:lpstr>
      <vt:lpstr>What Is a Database?</vt:lpstr>
      <vt:lpstr>What Is a Database?</vt:lpstr>
      <vt:lpstr>What Is a Database?</vt:lpstr>
      <vt:lpstr>What Is a Database?</vt:lpstr>
      <vt:lpstr>Inside the Industry Box</vt:lpstr>
      <vt:lpstr>Data Concepts and Characteristics</vt:lpstr>
      <vt:lpstr>Data Concepts and Characteristics</vt:lpstr>
      <vt:lpstr>Data Concepts and Characteristics</vt:lpstr>
      <vt:lpstr>Data Concepts and Characteristics</vt:lpstr>
      <vt:lpstr>Data Concepts and Characteristics</vt:lpstr>
      <vt:lpstr>Data Concepts and Characteristics</vt:lpstr>
      <vt:lpstr>Data Integrity, Security, and Privacy</vt:lpstr>
      <vt:lpstr>Data Integrity, Security, and Privacy</vt:lpstr>
      <vt:lpstr>Data Integrity, Security, and Privacy</vt:lpstr>
      <vt:lpstr>Meta data</vt:lpstr>
      <vt:lpstr> DBMS Manages Interaction</vt:lpstr>
      <vt:lpstr>Improved Data Sharing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Debbie</dc:creator>
  <cp:lastModifiedBy>Ms. Rimsha Noreen</cp:lastModifiedBy>
  <cp:revision>5</cp:revision>
  <dcterms:created xsi:type="dcterms:W3CDTF">2023-11-26T17:20:53Z</dcterms:created>
  <dcterms:modified xsi:type="dcterms:W3CDTF">2023-11-27T02:17:43Z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2015-06-10T00:00:00Z</vt:filetime>
  </property>
  <property fmtid="{D5CDD505-2E9C-101B-9397-08002B2CF9AE}" pid="3" name="Creator">
    <vt:lpwstr>Microsoft® Office PowerPoint® 2007</vt:lpwstr>
  </property>
  <property fmtid="{D5CDD505-2E9C-101B-9397-08002B2CF9AE}" pid="4" name="LastSaved">
    <vt:filetime>2023-11-26T00:00:00Z</vt:filetime>
  </property>
</Properties>
</file>