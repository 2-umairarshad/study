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88" r:id="rId3"/>
    <p:sldId id="313" r:id="rId4"/>
    <p:sldId id="314" r:id="rId5"/>
    <p:sldId id="315" r:id="rId6"/>
    <p:sldId id="332" r:id="rId7"/>
    <p:sldId id="261" r:id="rId8"/>
    <p:sldId id="333" r:id="rId9"/>
    <p:sldId id="334" r:id="rId10"/>
    <p:sldId id="335" r:id="rId11"/>
    <p:sldId id="260" r:id="rId12"/>
    <p:sldId id="337" r:id="rId13"/>
    <p:sldId id="338" r:id="rId14"/>
    <p:sldId id="342" r:id="rId15"/>
    <p:sldId id="343" r:id="rId16"/>
    <p:sldId id="344" r:id="rId17"/>
    <p:sldId id="345" r:id="rId18"/>
    <p:sldId id="346" r:id="rId19"/>
    <p:sldId id="347" r:id="rId20"/>
    <p:sldId id="297" r:id="rId21"/>
    <p:sldId id="348" r:id="rId22"/>
    <p:sldId id="349" r:id="rId23"/>
    <p:sldId id="350" r:id="rId24"/>
    <p:sldId id="351" r:id="rId25"/>
    <p:sldId id="357" r:id="rId26"/>
    <p:sldId id="262" r:id="rId27"/>
    <p:sldId id="263" r:id="rId28"/>
    <p:sldId id="264" r:id="rId29"/>
    <p:sldId id="265" r:id="rId30"/>
    <p:sldId id="266" r:id="rId31"/>
    <p:sldId id="267" r:id="rId32"/>
    <p:sldId id="268" r:id="rId33"/>
    <p:sldId id="269" r:id="rId34"/>
    <p:sldId id="360" r:id="rId35"/>
    <p:sldId id="270" r:id="rId36"/>
    <p:sldId id="272" r:id="rId37"/>
    <p:sldId id="27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3"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3AEA4-7B56-4691-851B-80FDA2F7507A}" type="datetimeFigureOut">
              <a:rPr lang="en-US" smtClean="0"/>
              <a:t>12/5/2023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6E9B7-ABE1-4449-B9BE-40C287264130}" type="slidenum">
              <a:rPr lang="en-US" smtClean="0"/>
              <a:t>‹#›</a:t>
            </a:fld>
            <a:endParaRPr lang="en-US"/>
          </a:p>
        </p:txBody>
      </p:sp>
    </p:spTree>
    <p:extLst>
      <p:ext uri="{BB962C8B-B14F-4D97-AF65-F5344CB8AC3E}">
        <p14:creationId xmlns:p14="http://schemas.microsoft.com/office/powerpoint/2010/main" val="2073708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dirty="0"/>
              <a:t>		</a:t>
            </a:r>
            <a:r>
              <a:rPr lang="en-US" dirty="0" err="1"/>
              <a:t>i</a:t>
            </a:r>
            <a:r>
              <a:rPr lang="en-US" dirty="0"/>
              <a:t>.	The final Software doesn´t fit the needs of the customer</a:t>
            </a:r>
          </a:p>
          <a:p>
            <a:r>
              <a:rPr lang="en-US" dirty="0"/>
              <a:t>		ii.	Hard to extend and improve: if you want to add a functionality later is mission impossible</a:t>
            </a:r>
          </a:p>
          <a:p>
            <a:r>
              <a:rPr lang="en-US" dirty="0"/>
              <a:t>				Bad documentation, bad software design</a:t>
            </a:r>
          </a:p>
          <a:p>
            <a:r>
              <a:rPr lang="en-US" dirty="0"/>
              <a:t>		iii.	Bad quality: frequent errors, hard to use...</a:t>
            </a:r>
          </a:p>
          <a:p>
            <a:r>
              <a:rPr lang="en-US" dirty="0"/>
              <a:t>		iv.	More time and costs than expected</a:t>
            </a:r>
            <a:endParaRPr lang="es-ES" dirty="0"/>
          </a:p>
        </p:txBody>
      </p:sp>
      <p:sp>
        <p:nvSpPr>
          <p:cNvPr id="4" name="3 Marcador de número de diapositiva"/>
          <p:cNvSpPr>
            <a:spLocks noGrp="1"/>
          </p:cNvSpPr>
          <p:nvPr>
            <p:ph type="sldNum" sz="quarter" idx="10"/>
          </p:nvPr>
        </p:nvSpPr>
        <p:spPr/>
        <p:txBody>
          <a:bodyPr/>
          <a:lstStyle/>
          <a:p>
            <a:fld id="{CB1D6985-0EB1-48AF-9087-ED825B4D0725}" type="slidenum">
              <a:rPr lang="es-ES" smtClean="0"/>
              <a:pPr/>
              <a:t>13</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body" idx="1"/>
          </p:nvPr>
        </p:nvSpPr>
        <p:spPr>
          <a:noFill/>
          <a:ln/>
        </p:spPr>
        <p:txBody>
          <a:bodyPr/>
          <a:lstStyle/>
          <a:p>
            <a:r>
              <a:rPr lang="en-US"/>
              <a:t>One of the problems with complex  system design is that you cannot foresee the requirements at the beginning of the project. In many cases, where you think you can start with a set of requirements, that specifies the completely the properties of your system you end up with....</a:t>
            </a:r>
          </a:p>
        </p:txBody>
      </p:sp>
      <p:sp>
        <p:nvSpPr>
          <p:cNvPr id="250883" name="Rectangle 3"/>
          <p:cNvSpPr>
            <a:spLocks noGrp="1" noRot="1" noChangeAspect="1" noChangeArrowheads="1" noTextEdit="1"/>
          </p:cNvSpPr>
          <p:nvPr>
            <p:ph type="sldImg"/>
          </p:nvPr>
        </p:nvSpPr>
        <p:spPr>
          <a:xfrm>
            <a:off x="1293813" y="31750"/>
            <a:ext cx="4160837" cy="3122613"/>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1D6985-0EB1-48AF-9087-ED825B4D0725}" type="slidenum">
              <a:rPr lang="es-ES" smtClean="0"/>
              <a:pPr/>
              <a:t>19</a:t>
            </a:fld>
            <a:endParaRPr lang="es-ES"/>
          </a:p>
        </p:txBody>
      </p:sp>
    </p:spTree>
    <p:extLst>
      <p:ext uri="{BB962C8B-B14F-4D97-AF65-F5344CB8AC3E}">
        <p14:creationId xmlns:p14="http://schemas.microsoft.com/office/powerpoint/2010/main" val="1281913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err="1"/>
              <a:t>On</a:t>
            </a:r>
            <a:r>
              <a:rPr lang="es-ES_tradnl" dirty="0"/>
              <a:t> time: </a:t>
            </a:r>
            <a:r>
              <a:rPr lang="es-ES_tradnl" dirty="0" err="1"/>
              <a:t>deliver</a:t>
            </a:r>
            <a:r>
              <a:rPr lang="es-ES_tradnl" dirty="0"/>
              <a:t> at </a:t>
            </a:r>
            <a:r>
              <a:rPr lang="es-ES_tradnl" dirty="0" err="1"/>
              <a:t>the</a:t>
            </a:r>
            <a:r>
              <a:rPr lang="es-ES_tradnl" dirty="0"/>
              <a:t> </a:t>
            </a:r>
            <a:r>
              <a:rPr lang="es-ES_tradnl" dirty="0" err="1"/>
              <a:t>established</a:t>
            </a:r>
            <a:r>
              <a:rPr lang="es-ES_tradnl" baseline="0" dirty="0"/>
              <a:t> date</a:t>
            </a:r>
          </a:p>
          <a:p>
            <a:r>
              <a:rPr lang="es-ES_tradnl" baseline="0" dirty="0" err="1"/>
              <a:t>Reliable</a:t>
            </a:r>
            <a:r>
              <a:rPr lang="es-ES_tradnl" baseline="0" dirty="0"/>
              <a:t>: </a:t>
            </a:r>
            <a:r>
              <a:rPr lang="es-ES_tradnl" baseline="0" dirty="0" err="1"/>
              <a:t>doesn´t</a:t>
            </a:r>
            <a:r>
              <a:rPr lang="es-ES_tradnl" baseline="0" dirty="0"/>
              <a:t> </a:t>
            </a:r>
            <a:r>
              <a:rPr lang="es-ES_tradnl" baseline="0" dirty="0" err="1"/>
              <a:t>crash</a:t>
            </a:r>
            <a:r>
              <a:rPr lang="es-ES_tradnl" baseline="0" dirty="0"/>
              <a:t> </a:t>
            </a:r>
            <a:r>
              <a:rPr lang="es-ES_tradnl" baseline="0" dirty="0" err="1"/>
              <a:t>often</a:t>
            </a:r>
            <a:r>
              <a:rPr lang="es-ES_tradnl" baseline="0" dirty="0"/>
              <a:t>, </a:t>
            </a:r>
            <a:r>
              <a:rPr lang="es-ES_tradnl" baseline="0" dirty="0" err="1"/>
              <a:t>etc</a:t>
            </a:r>
            <a:endParaRPr lang="es-ES_tradnl" baseline="0" dirty="0"/>
          </a:p>
          <a:p>
            <a:r>
              <a:rPr lang="es-ES_tradnl" baseline="0" dirty="0"/>
              <a:t>Complete: </a:t>
            </a:r>
            <a:r>
              <a:rPr lang="es-ES_tradnl" baseline="0" dirty="0" err="1"/>
              <a:t>good</a:t>
            </a:r>
            <a:r>
              <a:rPr lang="es-ES_tradnl" baseline="0" dirty="0"/>
              <a:t> </a:t>
            </a:r>
            <a:r>
              <a:rPr lang="es-ES_tradnl" baseline="0" dirty="0" err="1"/>
              <a:t>documentation</a:t>
            </a:r>
            <a:r>
              <a:rPr lang="es-ES_tradnl" baseline="0" dirty="0"/>
              <a:t>, </a:t>
            </a:r>
            <a:r>
              <a:rPr lang="es-ES" sz="1200" b="0" i="0" kern="1200" dirty="0" err="1">
                <a:solidFill>
                  <a:schemeClr val="tx1"/>
                </a:solidFill>
                <a:latin typeface="+mn-lt"/>
                <a:ea typeface="+mn-ea"/>
                <a:cs typeface="+mn-cs"/>
              </a:rPr>
              <a:t>fulfill</a:t>
            </a:r>
            <a:r>
              <a:rPr lang="es-ES" dirty="0"/>
              <a:t> </a:t>
            </a:r>
            <a:r>
              <a:rPr lang="es-ES" dirty="0" err="1"/>
              <a:t>customer</a:t>
            </a:r>
            <a:r>
              <a:rPr lang="es-ES" dirty="0"/>
              <a:t> </a:t>
            </a:r>
            <a:r>
              <a:rPr lang="es-ES" dirty="0" err="1"/>
              <a:t>needs</a:t>
            </a:r>
            <a:endParaRPr lang="es-ES_tradnl" baseline="0" dirty="0"/>
          </a:p>
          <a:p>
            <a:endParaRPr lang="es-ES" dirty="0"/>
          </a:p>
        </p:txBody>
      </p:sp>
      <p:sp>
        <p:nvSpPr>
          <p:cNvPr id="4" name="3 Marcador de número de diapositiva"/>
          <p:cNvSpPr>
            <a:spLocks noGrp="1"/>
          </p:cNvSpPr>
          <p:nvPr>
            <p:ph type="sldNum" sz="quarter" idx="10"/>
          </p:nvPr>
        </p:nvSpPr>
        <p:spPr/>
        <p:txBody>
          <a:bodyPr/>
          <a:lstStyle/>
          <a:p>
            <a:fld id="{CB1D6985-0EB1-48AF-9087-ED825B4D0725}" type="slidenum">
              <a:rPr lang="es-ES" smtClean="0"/>
              <a:pPr/>
              <a:t>23</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slide" Target="slide10.xml"/><Relationship Id="rId4" Type="http://schemas.openxmlformats.org/officeDocument/2006/relationships/slide" Target="slide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7D5E4-8855-4763-B19D-5DC1EE985B4D}"/>
              </a:ext>
            </a:extLst>
          </p:cNvPr>
          <p:cNvSpPr>
            <a:spLocks noGrp="1"/>
          </p:cNvSpPr>
          <p:nvPr>
            <p:ph type="ctrTitle"/>
          </p:nvPr>
        </p:nvSpPr>
        <p:spPr/>
        <p:txBody>
          <a:bodyPr>
            <a:noAutofit/>
          </a:bodyPr>
          <a:lstStyle/>
          <a:p>
            <a:r>
              <a:rPr lang="en-US" sz="6000" dirty="0"/>
              <a:t>Introduction to Software Engineering</a:t>
            </a:r>
          </a:p>
        </p:txBody>
      </p:sp>
    </p:spTree>
    <p:extLst>
      <p:ext uri="{BB962C8B-B14F-4D97-AF65-F5344CB8AC3E}">
        <p14:creationId xmlns:p14="http://schemas.microsoft.com/office/powerpoint/2010/main" val="2920833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lIns="91797" tIns="45898" rIns="91797" bIns="45898"/>
          <a:lstStyle/>
          <a:p>
            <a:r>
              <a:rPr lang="en-GB" sz="3600" dirty="0"/>
              <a:t>What is software?</a:t>
            </a:r>
            <a:endParaRPr lang="en-GB" dirty="0"/>
          </a:p>
        </p:txBody>
      </p:sp>
      <p:sp>
        <p:nvSpPr>
          <p:cNvPr id="70659" name="Rectangle 3"/>
          <p:cNvSpPr>
            <a:spLocks noGrp="1" noChangeArrowheads="1"/>
          </p:cNvSpPr>
          <p:nvPr>
            <p:ph type="body" idx="1"/>
          </p:nvPr>
        </p:nvSpPr>
        <p:spPr>
          <a:xfrm>
            <a:off x="457200" y="1600200"/>
            <a:ext cx="6781800" cy="4525963"/>
          </a:xfrm>
        </p:spPr>
        <p:txBody>
          <a:bodyPr lIns="91797" tIns="45898" rIns="91797" bIns="45898">
            <a:normAutofit fontScale="92500" lnSpcReduction="10000"/>
          </a:bodyPr>
          <a:lstStyle/>
          <a:p>
            <a:pPr algn="just"/>
            <a:r>
              <a:rPr lang="en-GB" dirty="0"/>
              <a:t>Computer programs and associated documentation</a:t>
            </a:r>
          </a:p>
          <a:p>
            <a:pPr algn="just"/>
            <a:r>
              <a:rPr lang="en-GB" dirty="0"/>
              <a:t>Software products may be developed for a particular customer or may be developed for a general market</a:t>
            </a:r>
          </a:p>
          <a:p>
            <a:pPr algn="just"/>
            <a:r>
              <a:rPr lang="en-GB" dirty="0"/>
              <a:t>Software products may be</a:t>
            </a:r>
          </a:p>
          <a:p>
            <a:pPr lvl="1" algn="just"/>
            <a:r>
              <a:rPr lang="en-GB" dirty="0"/>
              <a:t>Generic - developed to be sold to a range of different customers</a:t>
            </a:r>
          </a:p>
          <a:p>
            <a:pPr lvl="1" algn="just"/>
            <a:r>
              <a:rPr lang="en-GB" dirty="0"/>
              <a:t>Custom - developed for a single customer according to their specification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p:cNvSpPr>
            <a:spLocks noGrp="1" noChangeArrowheads="1"/>
          </p:cNvSpPr>
          <p:nvPr>
            <p:ph type="title"/>
          </p:nvPr>
        </p:nvSpPr>
        <p:spPr/>
        <p:txBody>
          <a:bodyPr>
            <a:normAutofit/>
          </a:bodyPr>
          <a:lstStyle/>
          <a:p>
            <a:r>
              <a:rPr lang="en-US" sz="3600"/>
              <a:t>What is Good Software?</a:t>
            </a:r>
          </a:p>
        </p:txBody>
      </p:sp>
      <p:sp>
        <p:nvSpPr>
          <p:cNvPr id="6147" name="Rectangle 3"/>
          <p:cNvSpPr>
            <a:spLocks noGrp="1" noChangeArrowheads="1"/>
          </p:cNvSpPr>
          <p:nvPr>
            <p:ph type="body" idx="1"/>
          </p:nvPr>
        </p:nvSpPr>
        <p:spPr/>
        <p:txBody>
          <a:bodyPr vert="horz" lIns="91797" tIns="45898" rIns="91797" bIns="45898" rtlCol="0">
            <a:normAutofit fontScale="92500" lnSpcReduction="10000"/>
          </a:bodyPr>
          <a:lstStyle/>
          <a:p>
            <a:pPr algn="just"/>
            <a:r>
              <a:rPr lang="en-US" dirty="0"/>
              <a:t>The software has a number of attributes that decide whether it is good or bad. </a:t>
            </a:r>
          </a:p>
          <a:p>
            <a:pPr algn="just"/>
            <a:r>
              <a:rPr lang="en-US" dirty="0"/>
              <a:t>The definition of good software changes with the person who evaluates it. </a:t>
            </a:r>
          </a:p>
          <a:p>
            <a:pPr algn="just"/>
            <a:r>
              <a:rPr lang="en-US" dirty="0"/>
              <a:t>The software is required by the customer, used by the end-users of an organization, and developed by a software engineer. </a:t>
            </a:r>
          </a:p>
          <a:p>
            <a:pPr algn="just"/>
            <a:r>
              <a:rPr lang="en-US" dirty="0"/>
              <a:t>Each one will evaluate the different attributes differently in order to decide whether the software is good. </a:t>
            </a:r>
          </a:p>
        </p:txBody>
      </p:sp>
    </p:spTree>
    <p:extLst>
      <p:ext uri="{BB962C8B-B14F-4D97-AF65-F5344CB8AC3E}">
        <p14:creationId xmlns:p14="http://schemas.microsoft.com/office/powerpoint/2010/main" val="4117415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p:txBody>
          <a:bodyPr/>
          <a:lstStyle/>
          <a:p>
            <a:r>
              <a:rPr lang="en-GB" sz="3200">
                <a:solidFill>
                  <a:schemeClr val="tx1"/>
                </a:solidFill>
              </a:rPr>
              <a:t>What are the attributes of good software?</a:t>
            </a:r>
            <a:endParaRPr lang="en-US" sz="3200">
              <a:solidFill>
                <a:schemeClr val="tx1"/>
              </a:solidFill>
            </a:endParaRPr>
          </a:p>
        </p:txBody>
      </p:sp>
      <p:sp>
        <p:nvSpPr>
          <p:cNvPr id="7171" name="Rectangle 3"/>
          <p:cNvSpPr>
            <a:spLocks noGrp="1" noChangeArrowheads="1"/>
          </p:cNvSpPr>
          <p:nvPr>
            <p:ph type="body" idx="1"/>
          </p:nvPr>
        </p:nvSpPr>
        <p:spPr>
          <a:xfrm>
            <a:off x="457200" y="1600200"/>
            <a:ext cx="8229600" cy="4648200"/>
          </a:xfrm>
        </p:spPr>
        <p:txBody>
          <a:bodyPr/>
          <a:lstStyle/>
          <a:p>
            <a:pPr>
              <a:lnSpc>
                <a:spcPct val="90000"/>
              </a:lnSpc>
              <a:spcBef>
                <a:spcPct val="50000"/>
              </a:spcBef>
              <a:buClr>
                <a:schemeClr val="bg1"/>
              </a:buClr>
              <a:buFontTx/>
              <a:buNone/>
            </a:pPr>
            <a:r>
              <a:rPr lang="en-GB" sz="2000" dirty="0">
                <a:latin typeface="Times New Roman" pitchFamily="18" charset="0"/>
              </a:rPr>
              <a:t>	The software should deliver the required functionality and performance to the user and should be </a:t>
            </a:r>
            <a:r>
              <a:rPr lang="en-GB" sz="2000" dirty="0">
                <a:solidFill>
                  <a:srgbClr val="A50021"/>
                </a:solidFill>
                <a:latin typeface="Times New Roman" pitchFamily="18" charset="0"/>
              </a:rPr>
              <a:t>maintainable, dependable </a:t>
            </a:r>
            <a:r>
              <a:rPr lang="en-GB" sz="2000" dirty="0">
                <a:latin typeface="Times New Roman" pitchFamily="18" charset="0"/>
              </a:rPr>
              <a:t>and </a:t>
            </a:r>
            <a:r>
              <a:rPr lang="en-GB" sz="2000" dirty="0">
                <a:solidFill>
                  <a:srgbClr val="A50021"/>
                </a:solidFill>
                <a:latin typeface="Times New Roman" pitchFamily="18" charset="0"/>
              </a:rPr>
              <a:t>usable.</a:t>
            </a:r>
          </a:p>
          <a:p>
            <a:pPr>
              <a:lnSpc>
                <a:spcPct val="90000"/>
              </a:lnSpc>
              <a:spcBef>
                <a:spcPct val="50000"/>
              </a:spcBef>
              <a:buClr>
                <a:schemeClr val="bg1"/>
              </a:buClr>
              <a:buFontTx/>
              <a:buChar char="•"/>
            </a:pPr>
            <a:r>
              <a:rPr lang="en-GB" sz="2000" b="1" dirty="0">
                <a:solidFill>
                  <a:srgbClr val="A50021"/>
                </a:solidFill>
              </a:rPr>
              <a:t>Maintainability</a:t>
            </a:r>
          </a:p>
          <a:p>
            <a:pPr lvl="1">
              <a:lnSpc>
                <a:spcPct val="90000"/>
              </a:lnSpc>
            </a:pPr>
            <a:r>
              <a:rPr lang="en-GB" sz="1800" dirty="0">
                <a:solidFill>
                  <a:schemeClr val="accent2"/>
                </a:solidFill>
              </a:rPr>
              <a:t>Software must evolve to meet changing needs</a:t>
            </a:r>
          </a:p>
          <a:p>
            <a:pPr>
              <a:lnSpc>
                <a:spcPct val="90000"/>
              </a:lnSpc>
            </a:pPr>
            <a:r>
              <a:rPr lang="en-GB" sz="2000" b="1" dirty="0">
                <a:solidFill>
                  <a:srgbClr val="A50021"/>
                </a:solidFill>
              </a:rPr>
              <a:t>Dependability</a:t>
            </a:r>
          </a:p>
          <a:p>
            <a:pPr lvl="1">
              <a:lnSpc>
                <a:spcPct val="90000"/>
              </a:lnSpc>
            </a:pPr>
            <a:r>
              <a:rPr lang="en-GB" sz="1800" dirty="0">
                <a:solidFill>
                  <a:schemeClr val="accent2"/>
                </a:solidFill>
              </a:rPr>
              <a:t>Software must be trustworthy</a:t>
            </a:r>
          </a:p>
          <a:p>
            <a:pPr>
              <a:lnSpc>
                <a:spcPct val="90000"/>
              </a:lnSpc>
            </a:pPr>
            <a:r>
              <a:rPr lang="en-GB" sz="2000" b="1" dirty="0">
                <a:solidFill>
                  <a:srgbClr val="A50021"/>
                </a:solidFill>
              </a:rPr>
              <a:t>Efficiency</a:t>
            </a:r>
          </a:p>
          <a:p>
            <a:pPr lvl="1">
              <a:lnSpc>
                <a:spcPct val="90000"/>
              </a:lnSpc>
            </a:pPr>
            <a:r>
              <a:rPr lang="en-GB" sz="1800" dirty="0">
                <a:solidFill>
                  <a:schemeClr val="accent2"/>
                </a:solidFill>
              </a:rPr>
              <a:t>Software should not make wasteful use of system resources</a:t>
            </a:r>
          </a:p>
          <a:p>
            <a:pPr>
              <a:lnSpc>
                <a:spcPct val="90000"/>
              </a:lnSpc>
            </a:pPr>
            <a:r>
              <a:rPr lang="en-GB" sz="2000" b="1" dirty="0">
                <a:solidFill>
                  <a:srgbClr val="A50021"/>
                </a:solidFill>
              </a:rPr>
              <a:t>Usability</a:t>
            </a:r>
          </a:p>
          <a:p>
            <a:pPr lvl="1">
              <a:lnSpc>
                <a:spcPct val="90000"/>
              </a:lnSpc>
            </a:pPr>
            <a:r>
              <a:rPr lang="en-GB" sz="1800" dirty="0">
                <a:solidFill>
                  <a:schemeClr val="accent2"/>
                </a:solidFill>
              </a:rPr>
              <a:t>Software must be usable by the users for which it was designed</a:t>
            </a:r>
          </a:p>
          <a:p>
            <a:pPr>
              <a:lnSpc>
                <a:spcPct val="90000"/>
              </a:lnSpc>
            </a:pPr>
            <a:endParaRPr lang="en-US" sz="1800" dirty="0">
              <a:solidFill>
                <a:srgbClr val="A50021"/>
              </a:solidFill>
              <a:latin typeface="Times New Roman" pitchFamily="18" charset="0"/>
            </a:endParaRPr>
          </a:p>
        </p:txBody>
      </p:sp>
    </p:spTree>
    <p:extLst>
      <p:ext uri="{BB962C8B-B14F-4D97-AF65-F5344CB8AC3E}">
        <p14:creationId xmlns:p14="http://schemas.microsoft.com/office/powerpoint/2010/main" val="21868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p:cNvSpPr>
            <a:spLocks noGrp="1" noChangeArrowheads="1"/>
          </p:cNvSpPr>
          <p:nvPr>
            <p:ph type="title"/>
          </p:nvPr>
        </p:nvSpPr>
        <p:spPr/>
        <p:txBody>
          <a:bodyPr/>
          <a:lstStyle/>
          <a:p>
            <a:r>
              <a:rPr lang="en-US" b="0"/>
              <a:t>Software - Characteristics</a:t>
            </a:r>
          </a:p>
        </p:txBody>
      </p:sp>
      <p:sp>
        <p:nvSpPr>
          <p:cNvPr id="12291" name="Rectangle 3"/>
          <p:cNvSpPr>
            <a:spLocks noGrp="1" noChangeArrowheads="1"/>
          </p:cNvSpPr>
          <p:nvPr>
            <p:ph type="body" idx="1"/>
          </p:nvPr>
        </p:nvSpPr>
        <p:spPr/>
        <p:txBody>
          <a:bodyPr/>
          <a:lstStyle/>
          <a:p>
            <a:pPr>
              <a:lnSpc>
                <a:spcPct val="80000"/>
              </a:lnSpc>
            </a:pPr>
            <a:r>
              <a:rPr lang="en-US" sz="1800" dirty="0">
                <a:latin typeface="Times New Roman" pitchFamily="18" charset="0"/>
              </a:rPr>
              <a:t>Software  has a dual role. It is a product, but also a vehicle for delivering a product.</a:t>
            </a:r>
          </a:p>
          <a:p>
            <a:pPr>
              <a:lnSpc>
                <a:spcPct val="80000"/>
              </a:lnSpc>
            </a:pPr>
            <a:endParaRPr lang="en-US" sz="1800" dirty="0">
              <a:latin typeface="Times New Roman" pitchFamily="18" charset="0"/>
            </a:endParaRPr>
          </a:p>
          <a:p>
            <a:pPr>
              <a:lnSpc>
                <a:spcPct val="80000"/>
              </a:lnSpc>
            </a:pPr>
            <a:r>
              <a:rPr lang="en-US" sz="1800" dirty="0">
                <a:latin typeface="Times New Roman" pitchFamily="18" charset="0"/>
              </a:rPr>
              <a:t>Software is a logical rather than a physical system element. </a:t>
            </a:r>
          </a:p>
          <a:p>
            <a:pPr>
              <a:lnSpc>
                <a:spcPct val="80000"/>
              </a:lnSpc>
            </a:pPr>
            <a:endParaRPr lang="en-US" sz="1800" dirty="0">
              <a:latin typeface="Times New Roman" pitchFamily="18" charset="0"/>
            </a:endParaRPr>
          </a:p>
          <a:p>
            <a:pPr>
              <a:lnSpc>
                <a:spcPct val="80000"/>
              </a:lnSpc>
            </a:pPr>
            <a:r>
              <a:rPr lang="en-US" sz="1800" dirty="0">
                <a:latin typeface="Times New Roman" pitchFamily="18" charset="0"/>
              </a:rPr>
              <a:t>Software has characteristics that differ considerably from those of hardware.</a:t>
            </a:r>
          </a:p>
          <a:p>
            <a:pPr>
              <a:lnSpc>
                <a:spcPct val="80000"/>
              </a:lnSpc>
            </a:pPr>
            <a:endParaRPr lang="en-US" sz="1800" dirty="0">
              <a:latin typeface="Times New Roman" pitchFamily="18" charset="0"/>
            </a:endParaRPr>
          </a:p>
          <a:p>
            <a:pPr>
              <a:lnSpc>
                <a:spcPct val="80000"/>
              </a:lnSpc>
            </a:pPr>
            <a:r>
              <a:rPr lang="en-US" sz="1800" dirty="0">
                <a:latin typeface="Times New Roman" pitchFamily="18" charset="0"/>
              </a:rPr>
              <a:t>- Software is developed or engineered, it is not manufactured in the classical sense.</a:t>
            </a:r>
          </a:p>
          <a:p>
            <a:pPr>
              <a:lnSpc>
                <a:spcPct val="80000"/>
              </a:lnSpc>
            </a:pPr>
            <a:endParaRPr lang="en-US" sz="1800" dirty="0">
              <a:latin typeface="Times New Roman" pitchFamily="18" charset="0"/>
            </a:endParaRPr>
          </a:p>
          <a:p>
            <a:pPr>
              <a:lnSpc>
                <a:spcPct val="80000"/>
              </a:lnSpc>
            </a:pPr>
            <a:r>
              <a:rPr lang="en-US" sz="1800" dirty="0">
                <a:latin typeface="Times New Roman" pitchFamily="18" charset="0"/>
              </a:rPr>
              <a:t>- Software doesn’t “wear out”.</a:t>
            </a:r>
          </a:p>
          <a:p>
            <a:pPr>
              <a:lnSpc>
                <a:spcPct val="80000"/>
              </a:lnSpc>
            </a:pPr>
            <a:endParaRPr lang="en-US" sz="1800" dirty="0">
              <a:latin typeface="Times New Roman" pitchFamily="18" charset="0"/>
            </a:endParaRPr>
          </a:p>
          <a:p>
            <a:pPr>
              <a:lnSpc>
                <a:spcPct val="80000"/>
              </a:lnSpc>
            </a:pPr>
            <a:r>
              <a:rPr lang="en-US" sz="1800" dirty="0">
                <a:latin typeface="Times New Roman" pitchFamily="18" charset="0"/>
              </a:rPr>
              <a:t>- Most software is custom-built, rather than being assembled from existing components.</a:t>
            </a:r>
          </a:p>
          <a:p>
            <a:pPr>
              <a:lnSpc>
                <a:spcPct val="80000"/>
              </a:lnSpc>
            </a:pPr>
            <a:endParaRPr lang="en-US" sz="1800" dirty="0">
              <a:latin typeface="Times New Roman" pitchFamily="18" charset="0"/>
            </a:endParaRPr>
          </a:p>
        </p:txBody>
      </p:sp>
    </p:spTree>
    <p:extLst>
      <p:ext uri="{BB962C8B-B14F-4D97-AF65-F5344CB8AC3E}">
        <p14:creationId xmlns:p14="http://schemas.microsoft.com/office/powerpoint/2010/main" val="1838041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800px-Avianca_767-200_at_El_Dorado.JPG"/>
          <p:cNvPicPr>
            <a:picLocks noChangeAspect="1"/>
          </p:cNvPicPr>
          <p:nvPr/>
        </p:nvPicPr>
        <p:blipFill>
          <a:blip r:embed="rId2" cstate="print"/>
          <a:stretch>
            <a:fillRect/>
          </a:stretch>
        </p:blipFill>
        <p:spPr>
          <a:xfrm>
            <a:off x="4786314" y="1571612"/>
            <a:ext cx="3929090" cy="2946818"/>
          </a:xfrm>
          <a:prstGeom prst="rect">
            <a:avLst/>
          </a:prstGeom>
        </p:spPr>
      </p:pic>
      <p:pic>
        <p:nvPicPr>
          <p:cNvPr id="5" name="4 Imagen" descr="transmilenio.jpg"/>
          <p:cNvPicPr>
            <a:picLocks noChangeAspect="1"/>
          </p:cNvPicPr>
          <p:nvPr/>
        </p:nvPicPr>
        <p:blipFill>
          <a:blip r:embed="rId3" cstate="print"/>
          <a:stretch>
            <a:fillRect/>
          </a:stretch>
        </p:blipFill>
        <p:spPr>
          <a:xfrm>
            <a:off x="500034" y="3286124"/>
            <a:ext cx="4057643" cy="2995473"/>
          </a:xfrm>
          <a:prstGeom prst="rect">
            <a:avLst/>
          </a:prstGeom>
        </p:spPr>
      </p:pic>
      <p:sp>
        <p:nvSpPr>
          <p:cNvPr id="9" name="2 Marcador de contenido"/>
          <p:cNvSpPr>
            <a:spLocks noGrp="1"/>
          </p:cNvSpPr>
          <p:nvPr>
            <p:ph idx="1"/>
          </p:nvPr>
        </p:nvSpPr>
        <p:spPr>
          <a:xfrm>
            <a:off x="285720" y="214290"/>
            <a:ext cx="8229600" cy="2143140"/>
          </a:xfrm>
        </p:spPr>
        <p:txBody>
          <a:bodyPr>
            <a:normAutofit/>
          </a:bodyPr>
          <a:lstStyle/>
          <a:p>
            <a:pPr>
              <a:buNone/>
            </a:pPr>
            <a:r>
              <a:rPr lang="es-ES_tradnl" sz="6600" dirty="0" err="1"/>
              <a:t>Where</a:t>
            </a:r>
            <a:r>
              <a:rPr lang="es-ES_tradnl" sz="6600" dirty="0"/>
              <a:t> can </a:t>
            </a:r>
            <a:r>
              <a:rPr lang="es-ES_tradnl" sz="6600" dirty="0" err="1"/>
              <a:t>you</a:t>
            </a:r>
            <a:r>
              <a:rPr lang="es-ES_tradnl" sz="6600" dirty="0"/>
              <a:t> </a:t>
            </a:r>
            <a:r>
              <a:rPr lang="es-ES_tradnl" sz="6600" dirty="0" err="1"/>
              <a:t>find</a:t>
            </a:r>
            <a:r>
              <a:rPr lang="es-ES_tradnl" sz="6600" dirty="0"/>
              <a:t> software?</a:t>
            </a:r>
            <a:endParaRPr lang="es-ES" sz="6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285720" y="285728"/>
            <a:ext cx="8229600" cy="2143140"/>
          </a:xfrm>
        </p:spPr>
        <p:txBody>
          <a:bodyPr>
            <a:normAutofit/>
          </a:bodyPr>
          <a:lstStyle/>
          <a:p>
            <a:pPr>
              <a:buNone/>
            </a:pPr>
            <a:r>
              <a:rPr lang="es-ES_tradnl" sz="6600" dirty="0" err="1"/>
              <a:t>Some</a:t>
            </a:r>
            <a:r>
              <a:rPr lang="es-ES_tradnl" sz="6600" dirty="0"/>
              <a:t> popular </a:t>
            </a:r>
            <a:r>
              <a:rPr lang="es-ES_tradnl" sz="6600" dirty="0" err="1"/>
              <a:t>ones</a:t>
            </a:r>
            <a:r>
              <a:rPr lang="es-ES_tradnl" sz="6600" dirty="0"/>
              <a:t>…</a:t>
            </a:r>
            <a:endParaRPr lang="es-ES" sz="6600" dirty="0"/>
          </a:p>
        </p:txBody>
      </p:sp>
      <p:pic>
        <p:nvPicPr>
          <p:cNvPr id="2050" name="Picture 2"/>
          <p:cNvPicPr>
            <a:picLocks noChangeAspect="1" noChangeArrowheads="1"/>
          </p:cNvPicPr>
          <p:nvPr/>
        </p:nvPicPr>
        <p:blipFill>
          <a:blip r:embed="rId2" cstate="print"/>
          <a:srcRect/>
          <a:stretch>
            <a:fillRect/>
          </a:stretch>
        </p:blipFill>
        <p:spPr bwMode="auto">
          <a:xfrm>
            <a:off x="1285852" y="2357430"/>
            <a:ext cx="6667500" cy="28384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285720" y="285728"/>
            <a:ext cx="8229600" cy="2143140"/>
          </a:xfrm>
        </p:spPr>
        <p:txBody>
          <a:bodyPr>
            <a:normAutofit/>
          </a:bodyPr>
          <a:lstStyle/>
          <a:p>
            <a:pPr>
              <a:buNone/>
            </a:pPr>
            <a:r>
              <a:rPr lang="es-ES_tradnl" sz="6600" dirty="0" err="1"/>
              <a:t>Some</a:t>
            </a:r>
            <a:r>
              <a:rPr lang="es-ES_tradnl" sz="6600" dirty="0"/>
              <a:t> popular </a:t>
            </a:r>
            <a:r>
              <a:rPr lang="es-ES_tradnl" sz="6600" dirty="0" err="1"/>
              <a:t>ones</a:t>
            </a:r>
            <a:r>
              <a:rPr lang="es-ES_tradnl" sz="6600" dirty="0"/>
              <a:t>…</a:t>
            </a:r>
            <a:endParaRPr lang="es-ES" sz="6600" dirty="0"/>
          </a:p>
        </p:txBody>
      </p:sp>
      <p:pic>
        <p:nvPicPr>
          <p:cNvPr id="3074" name="Picture 2"/>
          <p:cNvPicPr>
            <a:picLocks noChangeAspect="1" noChangeArrowheads="1"/>
          </p:cNvPicPr>
          <p:nvPr/>
        </p:nvPicPr>
        <p:blipFill>
          <a:blip r:embed="rId2" cstate="print"/>
          <a:srcRect/>
          <a:stretch>
            <a:fillRect/>
          </a:stretch>
        </p:blipFill>
        <p:spPr bwMode="auto">
          <a:xfrm>
            <a:off x="231540" y="2061118"/>
            <a:ext cx="8698178" cy="3706257"/>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285720" y="285728"/>
            <a:ext cx="8229600" cy="2143140"/>
          </a:xfrm>
        </p:spPr>
        <p:txBody>
          <a:bodyPr>
            <a:normAutofit/>
          </a:bodyPr>
          <a:lstStyle/>
          <a:p>
            <a:pPr>
              <a:buNone/>
            </a:pPr>
            <a:r>
              <a:rPr lang="es-ES_tradnl" sz="6600" dirty="0" err="1"/>
              <a:t>Some</a:t>
            </a:r>
            <a:r>
              <a:rPr lang="es-ES_tradnl" sz="6600" dirty="0"/>
              <a:t> popular </a:t>
            </a:r>
            <a:r>
              <a:rPr lang="es-ES_tradnl" sz="6600" dirty="0" err="1"/>
              <a:t>ones</a:t>
            </a:r>
            <a:r>
              <a:rPr lang="es-ES_tradnl" sz="6600" dirty="0"/>
              <a:t>…</a:t>
            </a:r>
            <a:endParaRPr lang="es-ES" sz="6600" dirty="0"/>
          </a:p>
        </p:txBody>
      </p:sp>
      <p:pic>
        <p:nvPicPr>
          <p:cNvPr id="4098" name="Picture 2"/>
          <p:cNvPicPr>
            <a:picLocks noChangeAspect="1" noChangeArrowheads="1"/>
          </p:cNvPicPr>
          <p:nvPr/>
        </p:nvPicPr>
        <p:blipFill>
          <a:blip r:embed="rId2" cstate="print"/>
          <a:srcRect/>
          <a:stretch>
            <a:fillRect/>
          </a:stretch>
        </p:blipFill>
        <p:spPr bwMode="auto">
          <a:xfrm>
            <a:off x="500067" y="1785926"/>
            <a:ext cx="8072461" cy="441887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iphone3g.jpg"/>
          <p:cNvPicPr>
            <a:picLocks noChangeAspect="1"/>
          </p:cNvPicPr>
          <p:nvPr/>
        </p:nvPicPr>
        <p:blipFill>
          <a:blip r:embed="rId2" cstate="print"/>
          <a:stretch>
            <a:fillRect/>
          </a:stretch>
        </p:blipFill>
        <p:spPr>
          <a:xfrm>
            <a:off x="5286380" y="1357298"/>
            <a:ext cx="2966502" cy="3565007"/>
          </a:xfrm>
          <a:prstGeom prst="rect">
            <a:avLst/>
          </a:prstGeom>
        </p:spPr>
      </p:pic>
      <p:pic>
        <p:nvPicPr>
          <p:cNvPr id="5" name="4 Imagen" descr="celular-2.jpg"/>
          <p:cNvPicPr>
            <a:picLocks noChangeAspect="1"/>
          </p:cNvPicPr>
          <p:nvPr/>
        </p:nvPicPr>
        <p:blipFill>
          <a:blip r:embed="rId3" cstate="print"/>
          <a:stretch>
            <a:fillRect/>
          </a:stretch>
        </p:blipFill>
        <p:spPr>
          <a:xfrm>
            <a:off x="1071538" y="2786058"/>
            <a:ext cx="3429024" cy="3441964"/>
          </a:xfrm>
          <a:prstGeom prst="rect">
            <a:avLst/>
          </a:prstGeom>
        </p:spPr>
      </p:pic>
      <p:sp>
        <p:nvSpPr>
          <p:cNvPr id="6" name="2 Marcador de contenido"/>
          <p:cNvSpPr>
            <a:spLocks noGrp="1"/>
          </p:cNvSpPr>
          <p:nvPr>
            <p:ph idx="1"/>
          </p:nvPr>
        </p:nvSpPr>
        <p:spPr>
          <a:xfrm>
            <a:off x="500034" y="0"/>
            <a:ext cx="8229600" cy="2143140"/>
          </a:xfrm>
        </p:spPr>
        <p:txBody>
          <a:bodyPr>
            <a:normAutofit/>
          </a:bodyPr>
          <a:lstStyle/>
          <a:p>
            <a:pPr>
              <a:buNone/>
            </a:pPr>
            <a:r>
              <a:rPr lang="es-ES_tradnl" sz="6600" dirty="0"/>
              <a:t>And </a:t>
            </a:r>
            <a:r>
              <a:rPr lang="es-ES_tradnl" sz="6600" dirty="0" err="1"/>
              <a:t>even</a:t>
            </a:r>
            <a:r>
              <a:rPr lang="es-ES_tradnl" sz="6600" dirty="0"/>
              <a:t> in…</a:t>
            </a:r>
            <a:endParaRPr lang="es-ES" sz="6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2 Marcador de contenido"/>
          <p:cNvSpPr txBox="1">
            <a:spLocks/>
          </p:cNvSpPr>
          <p:nvPr/>
        </p:nvSpPr>
        <p:spPr>
          <a:xfrm>
            <a:off x="357158" y="214290"/>
            <a:ext cx="8229600" cy="2143140"/>
          </a:xfrm>
          <a:prstGeom prst="rect">
            <a:avLst/>
          </a:prstGeom>
        </p:spPr>
        <p:txBody>
          <a:bodyPr vert="horz" anchor="t">
            <a:normAutofit/>
          </a:bodyPr>
          <a:lstStyle/>
          <a:p>
            <a:pPr marL="448056"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es-ES_tradnl" sz="6600" b="0" i="0" u="none" strike="noStrike" kern="1200" cap="none" spc="0" normalizeH="0" baseline="0" noProof="0" dirty="0" err="1">
                <a:ln>
                  <a:noFill/>
                </a:ln>
                <a:solidFill>
                  <a:schemeClr val="tx1"/>
                </a:solidFill>
                <a:effectLst/>
                <a:uLnTx/>
                <a:uFillTx/>
                <a:latin typeface="+mn-lt"/>
                <a:ea typeface="+mn-ea"/>
                <a:cs typeface="+mn-cs"/>
              </a:rPr>
              <a:t>Conclusion</a:t>
            </a:r>
            <a:endParaRPr kumimoji="0" lang="es-ES" sz="66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6 CuadroTexto"/>
          <p:cNvSpPr txBox="1"/>
          <p:nvPr/>
        </p:nvSpPr>
        <p:spPr>
          <a:xfrm>
            <a:off x="1571604" y="2428868"/>
            <a:ext cx="6275308" cy="2862322"/>
          </a:xfrm>
          <a:prstGeom prst="rect">
            <a:avLst/>
          </a:prstGeom>
          <a:noFill/>
        </p:spPr>
        <p:txBody>
          <a:bodyPr wrap="none" rtlCol="0">
            <a:spAutoFit/>
          </a:bodyPr>
          <a:lstStyle/>
          <a:p>
            <a:r>
              <a:rPr lang="es-ES_tradnl" sz="6000" dirty="0"/>
              <a:t>Software </a:t>
            </a:r>
            <a:r>
              <a:rPr lang="es-ES_tradnl" sz="6000" dirty="0" err="1"/>
              <a:t>is</a:t>
            </a:r>
            <a:r>
              <a:rPr lang="es-ES_tradnl" sz="6000" dirty="0"/>
              <a:t> </a:t>
            </a:r>
            <a:r>
              <a:rPr lang="es-ES_tradnl" sz="6000" dirty="0" err="1"/>
              <a:t>Almost</a:t>
            </a:r>
            <a:r>
              <a:rPr lang="es-ES_tradnl" sz="6000" dirty="0"/>
              <a:t> </a:t>
            </a:r>
          </a:p>
          <a:p>
            <a:r>
              <a:rPr lang="es-ES_tradnl" sz="6000" dirty="0" err="1"/>
              <a:t>Everywhere</a:t>
            </a:r>
            <a:r>
              <a:rPr lang="es-ES_tradnl" sz="6000" dirty="0"/>
              <a:t>.</a:t>
            </a:r>
            <a:endParaRPr lang="es-ES" sz="6000" dirty="0"/>
          </a:p>
          <a:p>
            <a:endParaRPr lang="es-ES" sz="6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928662" y="1428736"/>
            <a:ext cx="8215370" cy="4832092"/>
          </a:xfrm>
          <a:prstGeom prst="rect">
            <a:avLst/>
          </a:prstGeom>
        </p:spPr>
        <p:txBody>
          <a:bodyPr wrap="square">
            <a:spAutoFit/>
          </a:bodyPr>
          <a:lstStyle/>
          <a:p>
            <a:pPr>
              <a:buFont typeface="Arial" pitchFamily="34" charset="0"/>
              <a:buChar char="•"/>
            </a:pPr>
            <a:r>
              <a:rPr lang="en-US" sz="2800" dirty="0"/>
              <a:t>The final Software doesn´t fulfill the needs of the customer.</a:t>
            </a:r>
          </a:p>
          <a:p>
            <a:endParaRPr lang="en-US" sz="2800" dirty="0"/>
          </a:p>
          <a:p>
            <a:pPr>
              <a:buFont typeface="Arial" pitchFamily="34" charset="0"/>
              <a:buChar char="•"/>
            </a:pPr>
            <a:r>
              <a:rPr lang="en-US" sz="2800" dirty="0"/>
              <a:t>Hard to extend and improve: if you want to add a functionality later is mission impossible.</a:t>
            </a:r>
          </a:p>
          <a:p>
            <a:endParaRPr lang="en-US" sz="2800" dirty="0"/>
          </a:p>
          <a:p>
            <a:pPr>
              <a:buFont typeface="Arial" pitchFamily="34" charset="0"/>
              <a:buChar char="•"/>
            </a:pPr>
            <a:r>
              <a:rPr lang="en-US" sz="2800" dirty="0"/>
              <a:t>Bad documentation.</a:t>
            </a:r>
          </a:p>
          <a:p>
            <a:endParaRPr lang="en-US" sz="2800" dirty="0"/>
          </a:p>
          <a:p>
            <a:pPr>
              <a:buFont typeface="Arial" pitchFamily="34" charset="0"/>
              <a:buChar char="•"/>
            </a:pPr>
            <a:r>
              <a:rPr lang="en-US" sz="2800" dirty="0"/>
              <a:t>Bad quality: frequent errors, hard to use, ...</a:t>
            </a:r>
          </a:p>
          <a:p>
            <a:endParaRPr lang="en-US" sz="2800" dirty="0"/>
          </a:p>
          <a:p>
            <a:pPr>
              <a:buFont typeface="Arial" pitchFamily="34" charset="0"/>
              <a:buChar char="•"/>
            </a:pPr>
            <a:r>
              <a:rPr lang="en-US" sz="2800" dirty="0"/>
              <a:t>More time and costs than expected</a:t>
            </a:r>
            <a:endParaRPr lang="es-ES" sz="2800" dirty="0"/>
          </a:p>
        </p:txBody>
      </p:sp>
      <p:sp>
        <p:nvSpPr>
          <p:cNvPr id="5" name="4 CuadroTexto"/>
          <p:cNvSpPr txBox="1"/>
          <p:nvPr/>
        </p:nvSpPr>
        <p:spPr>
          <a:xfrm>
            <a:off x="428596" y="71414"/>
            <a:ext cx="5078634" cy="1015663"/>
          </a:xfrm>
          <a:prstGeom prst="rect">
            <a:avLst/>
          </a:prstGeom>
          <a:noFill/>
        </p:spPr>
        <p:txBody>
          <a:bodyPr wrap="none" rtlCol="0">
            <a:spAutoFit/>
          </a:bodyPr>
          <a:lstStyle/>
          <a:p>
            <a:r>
              <a:rPr lang="en-US" sz="6000" dirty="0"/>
              <a:t>Common issues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software_engineering_explained.gif"/>
          <p:cNvPicPr>
            <a:picLocks noChangeAspect="1"/>
          </p:cNvPicPr>
          <p:nvPr/>
        </p:nvPicPr>
        <p:blipFill>
          <a:blip r:embed="rId3" cstate="print"/>
          <a:stretch>
            <a:fillRect/>
          </a:stretch>
        </p:blipFill>
        <p:spPr>
          <a:xfrm>
            <a:off x="500034" y="838200"/>
            <a:ext cx="8096306" cy="5662634"/>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500034" y="1643050"/>
            <a:ext cx="8263801" cy="2308324"/>
          </a:xfrm>
          <a:prstGeom prst="rect">
            <a:avLst/>
          </a:prstGeom>
          <a:noFill/>
        </p:spPr>
        <p:txBody>
          <a:bodyPr wrap="none" rtlCol="0">
            <a:spAutoFit/>
          </a:bodyPr>
          <a:lstStyle/>
          <a:p>
            <a:pPr algn="ctr"/>
            <a:r>
              <a:rPr lang="es-ES_tradnl" sz="7200" dirty="0" err="1"/>
              <a:t>Problems</a:t>
            </a:r>
            <a:r>
              <a:rPr lang="es-ES_tradnl" sz="7200" dirty="0"/>
              <a:t> in software </a:t>
            </a:r>
          </a:p>
          <a:p>
            <a:pPr algn="ctr"/>
            <a:r>
              <a:rPr lang="es-ES_tradnl" sz="7200" dirty="0" err="1"/>
              <a:t>development</a:t>
            </a:r>
            <a:endParaRPr lang="es-ES" sz="7200" dirty="0"/>
          </a:p>
        </p:txBody>
      </p:sp>
    </p:spTree>
    <p:extLst>
      <p:ext uri="{BB962C8B-B14F-4D97-AF65-F5344CB8AC3E}">
        <p14:creationId xmlns:p14="http://schemas.microsoft.com/office/powerpoint/2010/main" val="557592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AutoShape 3"/>
          <p:cNvSpPr>
            <a:spLocks noChangeArrowheads="1"/>
          </p:cNvSpPr>
          <p:nvPr/>
        </p:nvSpPr>
        <p:spPr bwMode="auto">
          <a:xfrm>
            <a:off x="882162" y="1398588"/>
            <a:ext cx="2605454" cy="1428750"/>
          </a:xfrm>
          <a:prstGeom prst="roundRect">
            <a:avLst>
              <a:gd name="adj" fmla="val 24343"/>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9860" name="AutoShape 4"/>
          <p:cNvSpPr>
            <a:spLocks noChangeArrowheads="1"/>
          </p:cNvSpPr>
          <p:nvPr/>
        </p:nvSpPr>
        <p:spPr bwMode="auto">
          <a:xfrm>
            <a:off x="6056435" y="4970464"/>
            <a:ext cx="2329962" cy="1304925"/>
          </a:xfrm>
          <a:prstGeom prst="roundRect">
            <a:avLst>
              <a:gd name="adj" fmla="val 24755"/>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9861" name="Rectangle 5"/>
          <p:cNvSpPr>
            <a:spLocks noChangeArrowheads="1"/>
          </p:cNvSpPr>
          <p:nvPr/>
        </p:nvSpPr>
        <p:spPr bwMode="auto">
          <a:xfrm>
            <a:off x="1191358" y="1933576"/>
            <a:ext cx="2102826" cy="5635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7" rIns="19050" bIns="26987"/>
          <a:lstStyle/>
          <a:p>
            <a:pPr defTabSz="904875">
              <a:lnSpc>
                <a:spcPts val="2800"/>
              </a:lnSpc>
              <a:tabLst>
                <a:tab pos="452438" algn="l"/>
                <a:tab pos="904875" algn="l"/>
                <a:tab pos="1357313" algn="l"/>
              </a:tabLst>
            </a:pPr>
            <a:r>
              <a:rPr lang="en-US" sz="2400" b="0">
                <a:solidFill>
                  <a:srgbClr val="000000"/>
                </a:solidFill>
                <a:latin typeface="Helvetica" charset="0"/>
              </a:rPr>
              <a:t>Requirements</a:t>
            </a:r>
          </a:p>
        </p:txBody>
      </p:sp>
      <p:sp>
        <p:nvSpPr>
          <p:cNvPr id="249862" name="Rectangle 6"/>
          <p:cNvSpPr>
            <a:spLocks noChangeArrowheads="1"/>
          </p:cNvSpPr>
          <p:nvPr/>
        </p:nvSpPr>
        <p:spPr bwMode="auto">
          <a:xfrm>
            <a:off x="6651381" y="5403850"/>
            <a:ext cx="1452196" cy="476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7" rIns="19050" bIns="26987"/>
          <a:lstStyle/>
          <a:p>
            <a:pPr defTabSz="904875">
              <a:lnSpc>
                <a:spcPts val="2800"/>
              </a:lnSpc>
              <a:tabLst>
                <a:tab pos="452438" algn="l"/>
                <a:tab pos="904875" algn="l"/>
                <a:tab pos="1357313" algn="l"/>
              </a:tabLst>
            </a:pPr>
            <a:r>
              <a:rPr lang="en-US" sz="2400" b="0">
                <a:solidFill>
                  <a:srgbClr val="000000"/>
                </a:solidFill>
                <a:latin typeface="Helvetica" charset="0"/>
              </a:rPr>
              <a:t>Software</a:t>
            </a:r>
          </a:p>
        </p:txBody>
      </p:sp>
      <p:sp>
        <p:nvSpPr>
          <p:cNvPr id="249863" name="Freeform 7"/>
          <p:cNvSpPr>
            <a:spLocks/>
          </p:cNvSpPr>
          <p:nvPr/>
        </p:nvSpPr>
        <p:spPr bwMode="auto">
          <a:xfrm>
            <a:off x="4108939" y="3371850"/>
            <a:ext cx="877766" cy="1004888"/>
          </a:xfrm>
          <a:custGeom>
            <a:avLst/>
            <a:gdLst>
              <a:gd name="T0" fmla="*/ 0 w 553"/>
              <a:gd name="T1" fmla="*/ 134 h 633"/>
              <a:gd name="T2" fmla="*/ 134 w 553"/>
              <a:gd name="T3" fmla="*/ 0 h 633"/>
              <a:gd name="T4" fmla="*/ 426 w 553"/>
              <a:gd name="T5" fmla="*/ 292 h 633"/>
              <a:gd name="T6" fmla="*/ 528 w 553"/>
              <a:gd name="T7" fmla="*/ 182 h 633"/>
              <a:gd name="T8" fmla="*/ 552 w 553"/>
              <a:gd name="T9" fmla="*/ 632 h 633"/>
              <a:gd name="T10" fmla="*/ 173 w 553"/>
              <a:gd name="T11" fmla="*/ 593 h 633"/>
              <a:gd name="T12" fmla="*/ 284 w 553"/>
              <a:gd name="T13" fmla="*/ 474 h 633"/>
              <a:gd name="T14" fmla="*/ 0 w 553"/>
              <a:gd name="T15" fmla="*/ 134 h 6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3" h="633">
                <a:moveTo>
                  <a:pt x="0" y="134"/>
                </a:moveTo>
                <a:lnTo>
                  <a:pt x="134" y="0"/>
                </a:lnTo>
                <a:lnTo>
                  <a:pt x="426" y="292"/>
                </a:lnTo>
                <a:lnTo>
                  <a:pt x="528" y="182"/>
                </a:lnTo>
                <a:lnTo>
                  <a:pt x="552" y="632"/>
                </a:lnTo>
                <a:lnTo>
                  <a:pt x="173" y="593"/>
                </a:lnTo>
                <a:lnTo>
                  <a:pt x="284" y="474"/>
                </a:lnTo>
                <a:lnTo>
                  <a:pt x="0" y="134"/>
                </a:lnTo>
              </a:path>
            </a:pathLst>
          </a:custGeom>
          <a:solidFill>
            <a:schemeClr val="tx1"/>
          </a:solidFill>
          <a:ln w="12700" cap="rnd" cmpd="sng">
            <a:solidFill>
              <a:srgbClr val="000000"/>
            </a:solidFill>
            <a:prstDash val="solid"/>
            <a:round/>
            <a:headEnd type="none" w="med" len="med"/>
            <a:tailEnd type="none" w="med" len="med"/>
          </a:ln>
          <a:effectLst/>
        </p:spPr>
        <p:txBody>
          <a:bodyPr/>
          <a:lstStyle/>
          <a:p>
            <a:endParaRPr lang="en-US"/>
          </a:p>
        </p:txBody>
      </p:sp>
      <p:sp>
        <p:nvSpPr>
          <p:cNvPr id="249864" name="Rectangle 8"/>
          <p:cNvSpPr>
            <a:spLocks noGrp="1" noChangeArrowheads="1"/>
          </p:cNvSpPr>
          <p:nvPr>
            <p:ph type="title"/>
          </p:nvPr>
        </p:nvSpPr>
        <p:spPr>
          <a:xfrm>
            <a:off x="882162" y="267494"/>
            <a:ext cx="8154334" cy="948242"/>
          </a:xfrm>
          <a:noFill/>
          <a:ln/>
        </p:spPr>
        <p:txBody>
          <a:bodyPr>
            <a:normAutofit fontScale="90000"/>
          </a:bodyPr>
          <a:lstStyle/>
          <a:p>
            <a:r>
              <a:rPr lang="en-US" dirty="0"/>
              <a:t>Limitations of Non-engineered Software</a:t>
            </a:r>
          </a:p>
        </p:txBody>
      </p:sp>
      <p:sp>
        <p:nvSpPr>
          <p:cNvPr id="249865" name="AutoShape 9"/>
          <p:cNvSpPr>
            <a:spLocks noChangeArrowheads="1"/>
          </p:cNvSpPr>
          <p:nvPr/>
        </p:nvSpPr>
        <p:spPr bwMode="auto">
          <a:xfrm>
            <a:off x="4387361" y="2895601"/>
            <a:ext cx="2567354" cy="466725"/>
          </a:xfrm>
          <a:prstGeom prst="wedgeRoundRectCallout">
            <a:avLst>
              <a:gd name="adj1" fmla="val -43722"/>
              <a:gd name="adj2" fmla="val 103741"/>
              <a:gd name="adj3" fmla="val 16667"/>
            </a:avLst>
          </a:prstGeom>
          <a:solidFill>
            <a:schemeClr val="bg2"/>
          </a:solidFill>
          <a:ln w="12700">
            <a:solidFill>
              <a:schemeClr val="tx1"/>
            </a:solidFill>
            <a:miter lim="800000"/>
            <a:headEnd/>
            <a:tailEnd/>
          </a:ln>
          <a:effectLst/>
        </p:spPr>
        <p:txBody>
          <a:bodyPr/>
          <a:lstStyle/>
          <a:p>
            <a:pPr algn="ctr"/>
            <a:r>
              <a:rPr lang="it-IT" dirty="0"/>
              <a:t>Here is the problem!!</a:t>
            </a:r>
          </a:p>
        </p:txBody>
      </p:sp>
    </p:spTree>
    <p:extLst>
      <p:ext uri="{BB962C8B-B14F-4D97-AF65-F5344CB8AC3E}">
        <p14:creationId xmlns:p14="http://schemas.microsoft.com/office/powerpoint/2010/main" val="216818133"/>
      </p:ext>
    </p:extLst>
  </p:cSld>
  <p:clrMapOvr>
    <a:masterClrMapping/>
  </p:clrMapOvr>
  <p:transition advTm="200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470536" y="3439729"/>
            <a:ext cx="7244868" cy="1846659"/>
          </a:xfrm>
          <a:prstGeom prst="rect">
            <a:avLst/>
          </a:prstGeom>
          <a:noFill/>
        </p:spPr>
        <p:txBody>
          <a:bodyPr wrap="none" rtlCol="0">
            <a:spAutoFit/>
          </a:bodyPr>
          <a:lstStyle/>
          <a:p>
            <a:r>
              <a:rPr lang="en-US" sz="3200" dirty="0"/>
              <a:t>It is not enough to do your best: you must </a:t>
            </a:r>
          </a:p>
          <a:p>
            <a:r>
              <a:rPr lang="en-US" sz="3200" dirty="0"/>
              <a:t>Know what to do, and THEN do your best.</a:t>
            </a:r>
          </a:p>
          <a:p>
            <a:r>
              <a:rPr lang="en-US" sz="3200" i="1" dirty="0"/>
              <a:t>-- W. Edwards Deming</a:t>
            </a:r>
            <a:endParaRPr lang="en-US" sz="3200" dirty="0"/>
          </a:p>
          <a:p>
            <a:endParaRPr lang="es-ES" dirty="0"/>
          </a:p>
        </p:txBody>
      </p:sp>
      <p:sp>
        <p:nvSpPr>
          <p:cNvPr id="5" name="2 Marcador de contenido"/>
          <p:cNvSpPr txBox="1">
            <a:spLocks/>
          </p:cNvSpPr>
          <p:nvPr/>
        </p:nvSpPr>
        <p:spPr>
          <a:xfrm>
            <a:off x="214282" y="214290"/>
            <a:ext cx="8229600" cy="2143140"/>
          </a:xfrm>
          <a:prstGeom prst="rect">
            <a:avLst/>
          </a:prstGeom>
        </p:spPr>
        <p:txBody>
          <a:bodyPr vert="horz" anchor="t">
            <a:normAutofit/>
          </a:bodyPr>
          <a:lstStyle/>
          <a:p>
            <a:pPr marL="448056"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es-ES_tradnl" sz="6600" b="0" i="0" u="none" strike="noStrike" kern="1200" cap="none" spc="0" normalizeH="0" baseline="0" noProof="0" dirty="0" err="1">
                <a:ln>
                  <a:noFill/>
                </a:ln>
                <a:solidFill>
                  <a:schemeClr val="tx1"/>
                </a:solidFill>
                <a:effectLst/>
                <a:uLnTx/>
                <a:uFillTx/>
                <a:latin typeface="+mn-lt"/>
                <a:ea typeface="+mn-ea"/>
                <a:cs typeface="+mn-cs"/>
              </a:rPr>
              <a:t>Conclusion</a:t>
            </a:r>
            <a:endParaRPr kumimoji="0" lang="es-ES" sz="66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5 CuadroTexto"/>
          <p:cNvSpPr txBox="1"/>
          <p:nvPr/>
        </p:nvSpPr>
        <p:spPr>
          <a:xfrm>
            <a:off x="428596" y="1857364"/>
            <a:ext cx="8655255" cy="923330"/>
          </a:xfrm>
          <a:prstGeom prst="rect">
            <a:avLst/>
          </a:prstGeom>
          <a:noFill/>
        </p:spPr>
        <p:txBody>
          <a:bodyPr wrap="none" rtlCol="0">
            <a:spAutoFit/>
          </a:bodyPr>
          <a:lstStyle/>
          <a:p>
            <a:r>
              <a:rPr lang="es-ES_tradnl" sz="5400" dirty="0" err="1"/>
              <a:t>Programming</a:t>
            </a:r>
            <a:r>
              <a:rPr lang="es-ES_tradnl" sz="5400" dirty="0"/>
              <a:t> </a:t>
            </a:r>
            <a:r>
              <a:rPr lang="es-ES_tradnl" sz="5400" dirty="0" err="1"/>
              <a:t>is</a:t>
            </a:r>
            <a:r>
              <a:rPr lang="es-ES_tradnl" sz="5400" dirty="0"/>
              <a:t> NOT </a:t>
            </a:r>
            <a:r>
              <a:rPr lang="es-ES_tradnl" sz="5400" dirty="0" err="1"/>
              <a:t>enough</a:t>
            </a:r>
            <a:r>
              <a:rPr lang="es-ES_tradnl" sz="5400" dirty="0"/>
              <a:t>!</a:t>
            </a:r>
            <a:endParaRPr lang="es-ES" sz="5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txBox="1">
            <a:spLocks/>
          </p:cNvSpPr>
          <p:nvPr/>
        </p:nvSpPr>
        <p:spPr>
          <a:xfrm>
            <a:off x="214282" y="214290"/>
            <a:ext cx="8229600" cy="2143140"/>
          </a:xfrm>
          <a:prstGeom prst="rect">
            <a:avLst/>
          </a:prstGeom>
        </p:spPr>
        <p:txBody>
          <a:bodyPr vert="horz" anchor="t">
            <a:normAutofit/>
          </a:bodyPr>
          <a:lstStyle/>
          <a:p>
            <a:pPr marL="448056"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lang="es-ES_tradnl" sz="6600" dirty="0"/>
              <a:t>And S</a:t>
            </a:r>
            <a:r>
              <a:rPr kumimoji="0" lang="es-ES_tradnl" sz="6600" b="0" i="0" u="none" strike="noStrike" kern="1200" cap="none" spc="0" normalizeH="0" baseline="0" noProof="0" dirty="0" err="1">
                <a:ln>
                  <a:noFill/>
                </a:ln>
                <a:solidFill>
                  <a:schemeClr val="tx1"/>
                </a:solidFill>
                <a:effectLst/>
                <a:uLnTx/>
                <a:uFillTx/>
                <a:latin typeface="+mn-lt"/>
                <a:ea typeface="+mn-ea"/>
                <a:cs typeface="+mn-cs"/>
              </a:rPr>
              <a:t>ince</a:t>
            </a:r>
            <a:r>
              <a:rPr kumimoji="0" lang="es-ES_tradnl" sz="6600" b="0" i="0" u="none" strike="noStrike" kern="1200" cap="none" spc="0" normalizeH="0" baseline="0" noProof="0" dirty="0">
                <a:ln>
                  <a:noFill/>
                </a:ln>
                <a:solidFill>
                  <a:schemeClr val="tx1"/>
                </a:solidFill>
                <a:effectLst/>
                <a:uLnTx/>
                <a:uFillTx/>
                <a:latin typeface="+mn-lt"/>
                <a:ea typeface="+mn-ea"/>
                <a:cs typeface="+mn-cs"/>
              </a:rPr>
              <a:t>…</a:t>
            </a:r>
            <a:endParaRPr kumimoji="0" lang="es-ES" sz="66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4 Rectángulo"/>
          <p:cNvSpPr/>
          <p:nvPr/>
        </p:nvSpPr>
        <p:spPr>
          <a:xfrm>
            <a:off x="2000232" y="2645158"/>
            <a:ext cx="6215106" cy="1569660"/>
          </a:xfrm>
          <a:prstGeom prst="rect">
            <a:avLst/>
          </a:prstGeom>
        </p:spPr>
        <p:txBody>
          <a:bodyPr wrap="square">
            <a:spAutoFit/>
          </a:bodyPr>
          <a:lstStyle/>
          <a:p>
            <a:r>
              <a:rPr lang="en-US" sz="3200" dirty="0"/>
              <a:t>A clever person solves a problem.</a:t>
            </a:r>
            <a:br>
              <a:rPr lang="en-US" sz="3200" dirty="0"/>
            </a:br>
            <a:r>
              <a:rPr lang="en-US" sz="3200" dirty="0"/>
              <a:t>A wise person avoids it.</a:t>
            </a:r>
          </a:p>
          <a:p>
            <a:r>
              <a:rPr lang="en-US" sz="3200" i="1" dirty="0"/>
              <a:t>- Albert Einstein</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2 Marcador de contenido"/>
          <p:cNvSpPr>
            <a:spLocks noGrp="1"/>
          </p:cNvSpPr>
          <p:nvPr>
            <p:ph idx="1"/>
          </p:nvPr>
        </p:nvSpPr>
        <p:spPr>
          <a:xfrm>
            <a:off x="2714612" y="2500306"/>
            <a:ext cx="5000660" cy="2143140"/>
          </a:xfrm>
        </p:spPr>
        <p:txBody>
          <a:bodyPr>
            <a:normAutofit/>
          </a:bodyPr>
          <a:lstStyle/>
          <a:p>
            <a:pPr>
              <a:buNone/>
            </a:pPr>
            <a:r>
              <a:rPr lang="es-ES_tradnl" sz="7200" dirty="0" err="1"/>
              <a:t>Solution</a:t>
            </a:r>
            <a:endParaRPr lang="es-ES" sz="7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146179-0A23-4178-8FE2-6F21722CF7F9}"/>
              </a:ext>
            </a:extLst>
          </p:cNvPr>
          <p:cNvSpPr txBox="1"/>
          <p:nvPr/>
        </p:nvSpPr>
        <p:spPr>
          <a:xfrm>
            <a:off x="685800" y="609600"/>
            <a:ext cx="8077200" cy="1477328"/>
          </a:xfrm>
          <a:prstGeom prst="rect">
            <a:avLst/>
          </a:prstGeom>
          <a:noFill/>
        </p:spPr>
        <p:txBody>
          <a:bodyPr wrap="square">
            <a:spAutoFit/>
          </a:bodyPr>
          <a:lstStyle/>
          <a:p>
            <a:pPr algn="just">
              <a:spcBef>
                <a:spcPct val="0"/>
              </a:spcBef>
              <a:buClrTx/>
              <a:buSzTx/>
              <a:buFontTx/>
              <a:buNone/>
            </a:pPr>
            <a:r>
              <a:rPr lang="en-US" sz="1800" dirty="0"/>
              <a:t>Software Engineering </a:t>
            </a:r>
          </a:p>
          <a:p>
            <a:pPr algn="just">
              <a:spcBef>
                <a:spcPct val="0"/>
              </a:spcBef>
              <a:buClrTx/>
              <a:buSzTx/>
              <a:buFontTx/>
              <a:buNone/>
            </a:pPr>
            <a:endParaRPr lang="en-US" sz="1800" dirty="0"/>
          </a:p>
          <a:p>
            <a:pPr algn="just">
              <a:spcBef>
                <a:spcPct val="0"/>
              </a:spcBef>
              <a:buClrTx/>
              <a:buSzTx/>
              <a:buFontTx/>
              <a:buNone/>
            </a:pPr>
            <a:r>
              <a:rPr lang="tr-TR" dirty="0"/>
              <a:t>The</a:t>
            </a:r>
            <a:r>
              <a:rPr lang="en-US" dirty="0"/>
              <a:t> </a:t>
            </a:r>
            <a:r>
              <a:rPr lang="tr-TR" dirty="0"/>
              <a:t>Application of a </a:t>
            </a:r>
            <a:r>
              <a:rPr lang="tr-TR" u="sng" dirty="0">
                <a:hlinkClick r:id="rId3" action="ppaction://hlinksldjump"/>
              </a:rPr>
              <a:t>systematic</a:t>
            </a:r>
            <a:r>
              <a:rPr lang="tr-TR" dirty="0"/>
              <a:t>, </a:t>
            </a:r>
            <a:r>
              <a:rPr lang="tr-TR" dirty="0">
                <a:solidFill>
                  <a:srgbClr val="C00000"/>
                </a:solidFill>
                <a:hlinkClick r:id="rId4" action="ppaction://hlinksldjump"/>
              </a:rPr>
              <a:t>disciplined</a:t>
            </a:r>
            <a:r>
              <a:rPr lang="tr-TR" dirty="0">
                <a:solidFill>
                  <a:srgbClr val="C00000"/>
                </a:solidFill>
              </a:rPr>
              <a:t>, </a:t>
            </a:r>
            <a:r>
              <a:rPr lang="tr-TR" u="sng" dirty="0">
                <a:solidFill>
                  <a:srgbClr val="C00000"/>
                </a:solidFill>
                <a:hlinkClick r:id="rId5" action="ppaction://hlinksldjump"/>
              </a:rPr>
              <a:t>quantifiable</a:t>
            </a:r>
            <a:r>
              <a:rPr lang="tr-TR" dirty="0">
                <a:solidFill>
                  <a:srgbClr val="C00000"/>
                </a:solidFill>
              </a:rPr>
              <a:t> </a:t>
            </a:r>
            <a:r>
              <a:rPr lang="tr-TR" dirty="0"/>
              <a:t>approach to the development, operation and maintenance of software; that is, the application of engineering to software. </a:t>
            </a:r>
            <a:endParaRPr lang="en-US" dirty="0"/>
          </a:p>
        </p:txBody>
      </p:sp>
    </p:spTree>
    <p:extLst>
      <p:ext uri="{BB962C8B-B14F-4D97-AF65-F5344CB8AC3E}">
        <p14:creationId xmlns:p14="http://schemas.microsoft.com/office/powerpoint/2010/main" val="1968125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4294967295"/>
          </p:nvPr>
        </p:nvSpPr>
        <p:spPr>
          <a:xfrm>
            <a:off x="304800" y="1143000"/>
            <a:ext cx="8229600" cy="5181600"/>
          </a:xfrm>
        </p:spPr>
        <p:txBody>
          <a:bodyPr/>
          <a:lstStyle/>
          <a:p>
            <a:pPr lvl="1">
              <a:lnSpc>
                <a:spcPct val="80000"/>
              </a:lnSpc>
              <a:buFontTx/>
              <a:buChar char="•"/>
            </a:pPr>
            <a:r>
              <a:rPr lang="en-US" sz="3200" dirty="0"/>
              <a:t>By “</a:t>
            </a:r>
            <a:r>
              <a:rPr lang="en-US" sz="3200" dirty="0">
                <a:solidFill>
                  <a:srgbClr val="92D050"/>
                </a:solidFill>
              </a:rPr>
              <a:t>Systematic</a:t>
            </a:r>
            <a:r>
              <a:rPr lang="en-US" sz="3200" dirty="0"/>
              <a:t>” we mean </a:t>
            </a:r>
          </a:p>
          <a:p>
            <a:pPr lvl="1">
              <a:lnSpc>
                <a:spcPct val="80000"/>
              </a:lnSpc>
              <a:buFontTx/>
              <a:buNone/>
            </a:pPr>
            <a:r>
              <a:rPr lang="tr-TR" sz="1600" dirty="0"/>
              <a:t>Following a </a:t>
            </a:r>
            <a:r>
              <a:rPr lang="tr-TR" sz="1600" i="1" u="sng" dirty="0"/>
              <a:t>well-defined</a:t>
            </a:r>
            <a:r>
              <a:rPr lang="tr-TR" sz="1600" dirty="0"/>
              <a:t> sequence of activities, </a:t>
            </a:r>
            <a:br>
              <a:rPr lang="tr-TR" sz="1600" dirty="0"/>
            </a:br>
            <a:br>
              <a:rPr lang="tr-TR" sz="1600" dirty="0"/>
            </a:br>
            <a:r>
              <a:rPr lang="tr-TR" sz="1600" dirty="0"/>
              <a:t>-  in which desired outputs (deliverables) are </a:t>
            </a:r>
            <a:r>
              <a:rPr lang="tr-TR" sz="1600" i="1" u="sng" dirty="0"/>
              <a:t>well-defined</a:t>
            </a:r>
            <a:r>
              <a:rPr lang="tr-TR" sz="1600" dirty="0"/>
              <a:t> </a:t>
            </a:r>
            <a:br>
              <a:rPr lang="tr-TR" sz="1600" dirty="0"/>
            </a:br>
            <a:br>
              <a:rPr lang="tr-TR" sz="1600" dirty="0"/>
            </a:br>
            <a:r>
              <a:rPr lang="tr-TR" sz="1600" dirty="0"/>
              <a:t>-  by using </a:t>
            </a:r>
            <a:r>
              <a:rPr lang="tr-TR" sz="1600" i="1" u="sng" dirty="0"/>
              <a:t>well-defined </a:t>
            </a:r>
            <a:r>
              <a:rPr lang="tr-TR" sz="1600" dirty="0"/>
              <a:t>inputs</a:t>
            </a:r>
            <a:br>
              <a:rPr lang="tr-TR" sz="1600" dirty="0"/>
            </a:br>
            <a:r>
              <a:rPr lang="tr-TR" sz="1600" dirty="0"/>
              <a:t>(</a:t>
            </a:r>
            <a:r>
              <a:rPr lang="tr-TR" sz="1400" i="1" dirty="0"/>
              <a:t>i.e. documented syntax, semantics, context and other relevant properties of the input)</a:t>
            </a:r>
            <a:br>
              <a:rPr lang="tr-TR" sz="1400" i="1" dirty="0"/>
            </a:br>
            <a:br>
              <a:rPr lang="tr-TR" sz="1400" i="1" dirty="0"/>
            </a:br>
            <a:r>
              <a:rPr lang="tr-TR" sz="1600" dirty="0"/>
              <a:t>-  in a </a:t>
            </a:r>
            <a:r>
              <a:rPr lang="tr-TR" sz="1600" i="1" u="sng" dirty="0"/>
              <a:t>well-defined</a:t>
            </a:r>
            <a:r>
              <a:rPr lang="tr-TR" sz="1600" dirty="0"/>
              <a:t> process </a:t>
            </a:r>
            <a:br>
              <a:rPr lang="tr-TR" sz="1600" dirty="0"/>
            </a:br>
            <a:r>
              <a:rPr lang="tr-TR" sz="1400" i="1" dirty="0"/>
              <a:t>(e.g. using organizational standards for interprocess communication, data formats, error handling etc.)</a:t>
            </a:r>
            <a:br>
              <a:rPr lang="tr-TR" sz="1400" i="1" dirty="0"/>
            </a:br>
            <a:br>
              <a:rPr lang="tr-TR" sz="1400" i="1" dirty="0"/>
            </a:br>
            <a:r>
              <a:rPr lang="tr-TR" sz="1600" dirty="0"/>
              <a:t>-  whose outputs are in turn used similarly as inputs in </a:t>
            </a:r>
            <a:r>
              <a:rPr lang="en-US" sz="1600" dirty="0"/>
              <a:t>the </a:t>
            </a:r>
            <a:r>
              <a:rPr lang="tr-TR" sz="1600" dirty="0"/>
              <a:t>subsequent process(es), </a:t>
            </a:r>
            <a:br>
              <a:rPr lang="tr-TR" sz="1600" dirty="0"/>
            </a:br>
            <a:br>
              <a:rPr lang="tr-TR" sz="1600" dirty="0"/>
            </a:br>
            <a:r>
              <a:rPr lang="tr-TR" sz="1600" dirty="0"/>
              <a:t>-  until the final output is achieved,</a:t>
            </a:r>
            <a:br>
              <a:rPr lang="tr-TR" sz="1600" dirty="0"/>
            </a:br>
            <a:br>
              <a:rPr lang="tr-TR" sz="1600" dirty="0"/>
            </a:br>
            <a:r>
              <a:rPr lang="tr-TR" sz="1600" dirty="0"/>
              <a:t>-  and where the correctness of the output is </a:t>
            </a:r>
            <a:r>
              <a:rPr lang="tr-TR" sz="1600" i="1" u="sng" dirty="0"/>
              <a:t>verifiable</a:t>
            </a:r>
            <a:r>
              <a:rPr lang="tr-TR" sz="1600" dirty="0"/>
              <a:t>.</a:t>
            </a:r>
            <a:br>
              <a:rPr lang="tr-TR" sz="1600" dirty="0"/>
            </a:br>
            <a:r>
              <a:rPr lang="tr-TR" sz="1600" dirty="0"/>
              <a:t> </a:t>
            </a:r>
            <a:br>
              <a:rPr lang="tr-TR" sz="1600" dirty="0"/>
            </a:br>
            <a:r>
              <a:rPr lang="tr-TR" sz="1600" b="1" i="1" dirty="0"/>
              <a:t>Note:</a:t>
            </a:r>
            <a:r>
              <a:rPr lang="tr-TR" sz="1600" i="1" dirty="0"/>
              <a:t> The “inputs” and “outputs” most often refer to requirements, software specifications, the software itself, documentation, test inputs/outputs and similar software artifacts.</a:t>
            </a:r>
            <a:br>
              <a:rPr lang="tr-TR" sz="1600" i="1" dirty="0"/>
            </a:br>
            <a:endParaRPr lang="en-US" sz="1800" dirty="0"/>
          </a:p>
        </p:txBody>
      </p:sp>
    </p:spTree>
    <p:extLst>
      <p:ext uri="{BB962C8B-B14F-4D97-AF65-F5344CB8AC3E}">
        <p14:creationId xmlns:p14="http://schemas.microsoft.com/office/powerpoint/2010/main" val="2614093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Software Engineering - Introduction</a:t>
            </a:r>
          </a:p>
        </p:txBody>
      </p:sp>
      <p:sp>
        <p:nvSpPr>
          <p:cNvPr id="6" name="Slide Number Placeholder 5"/>
          <p:cNvSpPr>
            <a:spLocks noGrp="1"/>
          </p:cNvSpPr>
          <p:nvPr>
            <p:ph type="sldNum" sz="quarter" idx="12"/>
          </p:nvPr>
        </p:nvSpPr>
        <p:spPr/>
        <p:txBody>
          <a:bodyPr/>
          <a:lstStyle/>
          <a:p>
            <a:fld id="{E1BADD70-3266-4FF5-A1F8-2E9BB5DE33C6}" type="slidenum">
              <a:rPr lang="en-US"/>
              <a:pPr/>
              <a:t>21</a:t>
            </a:fld>
            <a:endParaRPr lang="en-US"/>
          </a:p>
        </p:txBody>
      </p:sp>
      <p:sp>
        <p:nvSpPr>
          <p:cNvPr id="39938" name="AutoShape 2"/>
          <p:cNvSpPr>
            <a:spLocks noGrp="1" noChangeArrowheads="1"/>
          </p:cNvSpPr>
          <p:nvPr>
            <p:ph type="title"/>
          </p:nvPr>
        </p:nvSpPr>
        <p:spPr/>
        <p:txBody>
          <a:bodyPr/>
          <a:lstStyle/>
          <a:p>
            <a:r>
              <a:rPr lang="tr-TR" dirty="0"/>
              <a:t> </a:t>
            </a:r>
            <a:r>
              <a:rPr lang="tr-TR" dirty="0">
                <a:solidFill>
                  <a:schemeClr val="accent2"/>
                </a:solidFill>
              </a:rPr>
              <a:t>By</a:t>
            </a:r>
            <a:r>
              <a:rPr lang="tr-TR" dirty="0"/>
              <a:t> </a:t>
            </a:r>
            <a:r>
              <a:rPr lang="tr-TR" dirty="0">
                <a:solidFill>
                  <a:srgbClr val="FF0066"/>
                </a:solidFill>
              </a:rPr>
              <a:t>“</a:t>
            </a:r>
            <a:r>
              <a:rPr lang="tr-TR" dirty="0">
                <a:solidFill>
                  <a:srgbClr val="92D050"/>
                </a:solidFill>
              </a:rPr>
              <a:t>disciplined</a:t>
            </a:r>
            <a:r>
              <a:rPr lang="tr-TR" dirty="0">
                <a:solidFill>
                  <a:srgbClr val="FF0066"/>
                </a:solidFill>
              </a:rPr>
              <a:t>”</a:t>
            </a:r>
            <a:r>
              <a:rPr lang="tr-TR" dirty="0"/>
              <a:t> </a:t>
            </a:r>
            <a:r>
              <a:rPr lang="tr-TR" dirty="0">
                <a:solidFill>
                  <a:schemeClr val="accent2"/>
                </a:solidFill>
              </a:rPr>
              <a:t>we mean:</a:t>
            </a:r>
          </a:p>
        </p:txBody>
      </p:sp>
      <p:sp>
        <p:nvSpPr>
          <p:cNvPr id="39939" name="Rectangle 3"/>
          <p:cNvSpPr>
            <a:spLocks noGrp="1" noChangeArrowheads="1"/>
          </p:cNvSpPr>
          <p:nvPr>
            <p:ph type="body" idx="1"/>
          </p:nvPr>
        </p:nvSpPr>
        <p:spPr/>
        <p:txBody>
          <a:bodyPr/>
          <a:lstStyle/>
          <a:p>
            <a:r>
              <a:rPr lang="tr-TR" dirty="0"/>
              <a:t>Each process is followed using organizational principles </a:t>
            </a:r>
            <a:r>
              <a:rPr lang="tr-TR" sz="2000" dirty="0"/>
              <a:t>(e.g. who manages whom, who is responsible for what?),</a:t>
            </a:r>
          </a:p>
          <a:p>
            <a:r>
              <a:rPr lang="tr-TR" dirty="0"/>
              <a:t>Intermediate results are carefully documented, as well as final results,</a:t>
            </a:r>
          </a:p>
          <a:p>
            <a:r>
              <a:rPr lang="tr-TR" dirty="0"/>
              <a:t>Actions are traceable as to their </a:t>
            </a:r>
            <a:r>
              <a:rPr lang="tr-TR" u="sng" dirty="0"/>
              <a:t>causes</a:t>
            </a:r>
            <a:r>
              <a:rPr lang="tr-TR" dirty="0"/>
              <a:t>, </a:t>
            </a:r>
            <a:r>
              <a:rPr lang="tr-TR" u="sng" dirty="0"/>
              <a:t>individuals</a:t>
            </a:r>
            <a:r>
              <a:rPr lang="tr-TR" dirty="0"/>
              <a:t> involved, </a:t>
            </a:r>
            <a:r>
              <a:rPr lang="tr-TR" u="sng" dirty="0"/>
              <a:t>time</a:t>
            </a:r>
            <a:r>
              <a:rPr lang="tr-TR" dirty="0"/>
              <a:t> of occurrence and </a:t>
            </a:r>
            <a:r>
              <a:rPr lang="tr-TR" u="sng" dirty="0"/>
              <a:t>circumstances</a:t>
            </a:r>
            <a:r>
              <a:rPr lang="tr-TR" dirty="0"/>
              <a:t>. </a:t>
            </a:r>
          </a:p>
        </p:txBody>
      </p:sp>
    </p:spTree>
    <p:extLst>
      <p:ext uri="{BB962C8B-B14F-4D97-AF65-F5344CB8AC3E}">
        <p14:creationId xmlns:p14="http://schemas.microsoft.com/office/powerpoint/2010/main" val="311849743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Software Engineering - Introduction</a:t>
            </a:r>
          </a:p>
        </p:txBody>
      </p:sp>
      <p:sp>
        <p:nvSpPr>
          <p:cNvPr id="5" name="Slide Number Placeholder 5"/>
          <p:cNvSpPr>
            <a:spLocks noGrp="1"/>
          </p:cNvSpPr>
          <p:nvPr>
            <p:ph type="sldNum" sz="quarter" idx="12"/>
          </p:nvPr>
        </p:nvSpPr>
        <p:spPr/>
        <p:txBody>
          <a:bodyPr/>
          <a:lstStyle/>
          <a:p>
            <a:fld id="{48B6F806-BD14-455E-A184-57B15B0F0FC1}" type="slidenum">
              <a:rPr lang="en-US"/>
              <a:pPr/>
              <a:t>22</a:t>
            </a:fld>
            <a:endParaRPr lang="en-US"/>
          </a:p>
        </p:txBody>
      </p:sp>
      <p:sp>
        <p:nvSpPr>
          <p:cNvPr id="40962" name="AutoShape 2"/>
          <p:cNvSpPr>
            <a:spLocks noGrp="1" noChangeArrowheads="1"/>
          </p:cNvSpPr>
          <p:nvPr>
            <p:ph type="title"/>
          </p:nvPr>
        </p:nvSpPr>
        <p:spPr/>
        <p:txBody>
          <a:bodyPr/>
          <a:lstStyle/>
          <a:p>
            <a:r>
              <a:rPr lang="tr-TR" dirty="0">
                <a:solidFill>
                  <a:schemeClr val="accent2"/>
                </a:solidFill>
              </a:rPr>
              <a:t>By </a:t>
            </a:r>
            <a:r>
              <a:rPr lang="tr-TR" dirty="0">
                <a:solidFill>
                  <a:srgbClr val="FF0066"/>
                </a:solidFill>
              </a:rPr>
              <a:t>“</a:t>
            </a:r>
            <a:r>
              <a:rPr lang="tr-TR" dirty="0">
                <a:solidFill>
                  <a:srgbClr val="92D050"/>
                </a:solidFill>
              </a:rPr>
              <a:t>quantifiable</a:t>
            </a:r>
            <a:r>
              <a:rPr lang="tr-TR" dirty="0">
                <a:solidFill>
                  <a:srgbClr val="FF0066"/>
                </a:solidFill>
              </a:rPr>
              <a:t>”</a:t>
            </a:r>
            <a:r>
              <a:rPr lang="tr-TR" dirty="0"/>
              <a:t> </a:t>
            </a:r>
            <a:r>
              <a:rPr lang="tr-TR" dirty="0">
                <a:solidFill>
                  <a:schemeClr val="accent2"/>
                </a:solidFill>
              </a:rPr>
              <a:t>we mean:</a:t>
            </a:r>
          </a:p>
        </p:txBody>
      </p:sp>
      <p:sp>
        <p:nvSpPr>
          <p:cNvPr id="40963" name="Rectangle 3"/>
          <p:cNvSpPr>
            <a:spLocks noGrp="1" noChangeArrowheads="1"/>
          </p:cNvSpPr>
          <p:nvPr>
            <p:ph type="body" idx="1"/>
          </p:nvPr>
        </p:nvSpPr>
        <p:spPr/>
        <p:txBody>
          <a:bodyPr/>
          <a:lstStyle/>
          <a:p>
            <a:r>
              <a:rPr lang="tr-TR" sz="2400" dirty="0"/>
              <a:t>The size and extent of the required effort</a:t>
            </a:r>
            <a:br>
              <a:rPr lang="tr-TR" sz="2400" dirty="0"/>
            </a:br>
            <a:br>
              <a:rPr lang="tr-TR" sz="2400" dirty="0"/>
            </a:br>
            <a:r>
              <a:rPr lang="tr-TR" sz="2400" dirty="0"/>
              <a:t>(size of output code, data, documentation, manpower, duration, budget for development, expected error rate and user support) </a:t>
            </a:r>
            <a:br>
              <a:rPr lang="tr-TR" sz="2400" dirty="0"/>
            </a:br>
            <a:br>
              <a:rPr lang="tr-TR" sz="2400" dirty="0"/>
            </a:br>
            <a:r>
              <a:rPr lang="tr-TR" sz="2400" dirty="0"/>
              <a:t>are predictable within justifiable and acceptable bounds</a:t>
            </a:r>
          </a:p>
          <a:p>
            <a:pPr>
              <a:buFont typeface="Wingdings" pitchFamily="2" charset="2"/>
              <a:buNone/>
            </a:pPr>
            <a:endParaRPr lang="tr-TR" sz="2400" dirty="0"/>
          </a:p>
        </p:txBody>
      </p:sp>
    </p:spTree>
    <p:extLst>
      <p:ext uri="{BB962C8B-B14F-4D97-AF65-F5344CB8AC3E}">
        <p14:creationId xmlns:p14="http://schemas.microsoft.com/office/powerpoint/2010/main" val="273134052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2 Marcador de contenido"/>
          <p:cNvSpPr txBox="1">
            <a:spLocks/>
          </p:cNvSpPr>
          <p:nvPr/>
        </p:nvSpPr>
        <p:spPr>
          <a:xfrm>
            <a:off x="214282" y="214290"/>
            <a:ext cx="8229600" cy="2143140"/>
          </a:xfrm>
          <a:prstGeom prst="rect">
            <a:avLst/>
          </a:prstGeom>
        </p:spPr>
        <p:txBody>
          <a:bodyPr vert="horz" anchor="t">
            <a:normAutofit/>
          </a:bodyPr>
          <a:lstStyle/>
          <a:p>
            <a:pPr marL="448056"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es-ES_tradnl" sz="6600" b="0" i="0" u="none" strike="noStrike" kern="1200" cap="none" spc="0" normalizeH="0" baseline="0" noProof="0" dirty="0">
                <a:ln>
                  <a:noFill/>
                </a:ln>
                <a:solidFill>
                  <a:schemeClr val="tx1"/>
                </a:solidFill>
                <a:effectLst/>
                <a:uLnTx/>
                <a:uFillTx/>
                <a:latin typeface="+mn-lt"/>
                <a:ea typeface="+mn-ea"/>
                <a:cs typeface="+mn-cs"/>
              </a:rPr>
              <a:t>Software Engineering</a:t>
            </a:r>
            <a:endParaRPr kumimoji="0" lang="es-ES" sz="66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5 Rectángulo"/>
          <p:cNvSpPr/>
          <p:nvPr/>
        </p:nvSpPr>
        <p:spPr>
          <a:xfrm>
            <a:off x="642942" y="1571612"/>
            <a:ext cx="4572000" cy="707886"/>
          </a:xfrm>
          <a:prstGeom prst="rect">
            <a:avLst/>
          </a:prstGeom>
        </p:spPr>
        <p:txBody>
          <a:bodyPr>
            <a:spAutoFit/>
          </a:bodyPr>
          <a:lstStyle/>
          <a:p>
            <a:r>
              <a:rPr lang="en-US" sz="4000" dirty="0"/>
              <a:t>Objective</a:t>
            </a:r>
            <a:endParaRPr lang="es-ES" sz="4000" dirty="0"/>
          </a:p>
        </p:txBody>
      </p:sp>
      <p:sp>
        <p:nvSpPr>
          <p:cNvPr id="7" name="6 Rectángulo"/>
          <p:cNvSpPr/>
          <p:nvPr/>
        </p:nvSpPr>
        <p:spPr>
          <a:xfrm>
            <a:off x="928662" y="2571744"/>
            <a:ext cx="7786742" cy="1569660"/>
          </a:xfrm>
          <a:prstGeom prst="rect">
            <a:avLst/>
          </a:prstGeom>
        </p:spPr>
        <p:txBody>
          <a:bodyPr wrap="square">
            <a:spAutoFit/>
          </a:bodyPr>
          <a:lstStyle/>
          <a:p>
            <a:r>
              <a:rPr lang="en-US" sz="3200" dirty="0"/>
              <a:t>To produce software that is:</a:t>
            </a:r>
          </a:p>
          <a:p>
            <a:endParaRPr lang="en-US" sz="3200" dirty="0"/>
          </a:p>
          <a:p>
            <a:r>
              <a:rPr lang="en-US" sz="3200" dirty="0"/>
              <a:t>	</a:t>
            </a:r>
            <a:endParaRPr lang="es-ES" sz="3200" dirty="0"/>
          </a:p>
        </p:txBody>
      </p:sp>
      <p:sp>
        <p:nvSpPr>
          <p:cNvPr id="8" name="7 Rectángulo"/>
          <p:cNvSpPr/>
          <p:nvPr/>
        </p:nvSpPr>
        <p:spPr>
          <a:xfrm>
            <a:off x="1357258" y="3438599"/>
            <a:ext cx="7786742" cy="3539430"/>
          </a:xfrm>
          <a:prstGeom prst="rect">
            <a:avLst/>
          </a:prstGeom>
        </p:spPr>
        <p:txBody>
          <a:bodyPr wrap="square">
            <a:spAutoFit/>
          </a:bodyPr>
          <a:lstStyle/>
          <a:p>
            <a:pPr>
              <a:buFont typeface="Arial" pitchFamily="34" charset="0"/>
              <a:buChar char="•"/>
            </a:pPr>
            <a:r>
              <a:rPr lang="en-US" sz="3200" dirty="0"/>
              <a:t> On time: is </a:t>
            </a:r>
            <a:r>
              <a:rPr lang="es-ES_tradnl" sz="3200" dirty="0" err="1"/>
              <a:t>deliver</a:t>
            </a:r>
            <a:r>
              <a:rPr lang="es-ES_tradnl" sz="3200" dirty="0"/>
              <a:t> at </a:t>
            </a:r>
            <a:r>
              <a:rPr lang="es-ES_tradnl" sz="3200" dirty="0" err="1"/>
              <a:t>the</a:t>
            </a:r>
            <a:r>
              <a:rPr lang="es-ES_tradnl" sz="3200" dirty="0"/>
              <a:t> </a:t>
            </a:r>
            <a:r>
              <a:rPr lang="es-ES_tradnl" sz="3200" dirty="0" err="1"/>
              <a:t>established</a:t>
            </a:r>
            <a:r>
              <a:rPr lang="es-ES_tradnl" sz="3200" baseline="0" dirty="0"/>
              <a:t> date.</a:t>
            </a:r>
          </a:p>
          <a:p>
            <a:endParaRPr lang="en-US" sz="3200" dirty="0"/>
          </a:p>
          <a:p>
            <a:pPr>
              <a:buFont typeface="Arial" pitchFamily="34" charset="0"/>
              <a:buChar char="•"/>
            </a:pPr>
            <a:r>
              <a:rPr lang="en-US" sz="3200" dirty="0"/>
              <a:t> </a:t>
            </a:r>
            <a:r>
              <a:rPr lang="es-ES" sz="3200" dirty="0" err="1"/>
              <a:t>Reliable</a:t>
            </a:r>
            <a:r>
              <a:rPr lang="es-ES" sz="3200" dirty="0"/>
              <a:t>: </a:t>
            </a:r>
            <a:r>
              <a:rPr lang="es-ES" sz="3200" dirty="0" err="1"/>
              <a:t>doesn´t</a:t>
            </a:r>
            <a:r>
              <a:rPr lang="es-ES" sz="3200" dirty="0"/>
              <a:t> </a:t>
            </a:r>
            <a:r>
              <a:rPr lang="es-ES" sz="3200" dirty="0" err="1"/>
              <a:t>crash</a:t>
            </a:r>
            <a:r>
              <a:rPr lang="es-ES" sz="3200" dirty="0"/>
              <a:t>.</a:t>
            </a:r>
          </a:p>
          <a:p>
            <a:endParaRPr lang="es-ES" sz="3200" dirty="0"/>
          </a:p>
          <a:p>
            <a:pPr>
              <a:buFont typeface="Arial" pitchFamily="34" charset="0"/>
              <a:buChar char="•"/>
            </a:pPr>
            <a:r>
              <a:rPr lang="es-ES_tradnl" sz="3200" dirty="0"/>
              <a:t> Complete: </a:t>
            </a:r>
            <a:r>
              <a:rPr lang="es-ES_tradnl" sz="3200" dirty="0" err="1"/>
              <a:t>good</a:t>
            </a:r>
            <a:r>
              <a:rPr lang="es-ES_tradnl" sz="3200" dirty="0"/>
              <a:t> </a:t>
            </a:r>
            <a:r>
              <a:rPr lang="es-ES_tradnl" sz="3200" dirty="0" err="1"/>
              <a:t>documentation</a:t>
            </a:r>
            <a:r>
              <a:rPr lang="es-ES_tradnl" sz="3200" dirty="0"/>
              <a:t>, </a:t>
            </a:r>
            <a:r>
              <a:rPr lang="es-ES_tradnl" sz="3200" dirty="0" err="1"/>
              <a:t>fulfill</a:t>
            </a:r>
            <a:r>
              <a:rPr lang="es-ES_tradnl" sz="3200" dirty="0"/>
              <a:t> </a:t>
            </a:r>
            <a:r>
              <a:rPr lang="es-ES_tradnl" sz="3200" dirty="0" err="1"/>
              <a:t>customer</a:t>
            </a:r>
            <a:r>
              <a:rPr lang="es-ES_tradnl" sz="3200" dirty="0"/>
              <a:t> </a:t>
            </a:r>
            <a:r>
              <a:rPr lang="es-ES_tradnl" sz="3200" dirty="0" err="1"/>
              <a:t>needs</a:t>
            </a:r>
            <a:r>
              <a:rPr lang="es-ES_tradnl" sz="3200" dirty="0"/>
              <a:t>.</a:t>
            </a:r>
            <a:endParaRPr lang="en-US" sz="3200" dirty="0"/>
          </a:p>
          <a:p>
            <a:r>
              <a:rPr lang="en-US" sz="3200" dirty="0"/>
              <a:t>	</a:t>
            </a:r>
            <a:endParaRPr lang="es-E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txBox="1">
            <a:spLocks/>
          </p:cNvSpPr>
          <p:nvPr/>
        </p:nvSpPr>
        <p:spPr>
          <a:xfrm>
            <a:off x="214282" y="142852"/>
            <a:ext cx="8229600" cy="2143140"/>
          </a:xfrm>
          <a:prstGeom prst="rect">
            <a:avLst/>
          </a:prstGeom>
        </p:spPr>
        <p:txBody>
          <a:bodyPr vert="horz" anchor="t">
            <a:normAutofit/>
          </a:bodyPr>
          <a:lstStyle/>
          <a:p>
            <a:pPr marL="448056"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es-ES_tradnl" sz="6600" b="0" i="0" u="none" strike="noStrike" kern="1200" cap="none" spc="0" normalizeH="0" baseline="0" noProof="0" dirty="0" err="1">
                <a:ln>
                  <a:noFill/>
                </a:ln>
                <a:solidFill>
                  <a:schemeClr val="tx1"/>
                </a:solidFill>
                <a:effectLst/>
                <a:uLnTx/>
                <a:uFillTx/>
                <a:latin typeface="+mn-lt"/>
                <a:ea typeface="+mn-ea"/>
                <a:cs typeface="+mn-cs"/>
              </a:rPr>
              <a:t>Stages</a:t>
            </a:r>
            <a:r>
              <a:rPr kumimoji="0" lang="es-ES_tradnl" sz="6600" b="0" i="0" u="none" strike="noStrike" kern="1200" cap="none" spc="0" normalizeH="0" baseline="0" noProof="0" dirty="0">
                <a:ln>
                  <a:noFill/>
                </a:ln>
                <a:solidFill>
                  <a:schemeClr val="tx1"/>
                </a:solidFill>
                <a:effectLst/>
                <a:uLnTx/>
                <a:uFillTx/>
                <a:latin typeface="+mn-lt"/>
                <a:ea typeface="+mn-ea"/>
                <a:cs typeface="+mn-cs"/>
              </a:rPr>
              <a:t> </a:t>
            </a:r>
            <a:r>
              <a:rPr kumimoji="0" lang="es-ES_tradnl" sz="6600" b="0" i="0" u="none" strike="noStrike" kern="1200" cap="none" spc="0" normalizeH="0" baseline="0" noProof="0" dirty="0" err="1">
                <a:ln>
                  <a:noFill/>
                </a:ln>
                <a:solidFill>
                  <a:schemeClr val="tx1"/>
                </a:solidFill>
                <a:effectLst/>
                <a:uLnTx/>
                <a:uFillTx/>
                <a:latin typeface="+mn-lt"/>
                <a:ea typeface="+mn-ea"/>
                <a:cs typeface="+mn-cs"/>
              </a:rPr>
              <a:t>for</a:t>
            </a:r>
            <a:r>
              <a:rPr kumimoji="0" lang="es-ES_tradnl" sz="6600" b="0" i="0" u="none" strike="noStrike" kern="1200" cap="none" spc="0" normalizeH="0" baseline="0" noProof="0" dirty="0">
                <a:ln>
                  <a:noFill/>
                </a:ln>
                <a:solidFill>
                  <a:schemeClr val="tx1"/>
                </a:solidFill>
                <a:effectLst/>
                <a:uLnTx/>
                <a:uFillTx/>
                <a:latin typeface="+mn-lt"/>
                <a:ea typeface="+mn-ea"/>
                <a:cs typeface="+mn-cs"/>
              </a:rPr>
              <a:t> software </a:t>
            </a:r>
            <a:r>
              <a:rPr kumimoji="0" lang="es-ES_tradnl" sz="6600" b="0" i="0" u="none" strike="noStrike" kern="1200" cap="none" spc="0" normalizeH="0" baseline="0" noProof="0" dirty="0" err="1">
                <a:ln>
                  <a:noFill/>
                </a:ln>
                <a:solidFill>
                  <a:schemeClr val="tx1"/>
                </a:solidFill>
                <a:effectLst/>
                <a:uLnTx/>
                <a:uFillTx/>
                <a:latin typeface="+mn-lt"/>
                <a:ea typeface="+mn-ea"/>
                <a:cs typeface="+mn-cs"/>
              </a:rPr>
              <a:t>development</a:t>
            </a:r>
            <a:endParaRPr kumimoji="0" lang="es-ES" sz="66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5 Elipse"/>
          <p:cNvSpPr/>
          <p:nvPr/>
        </p:nvSpPr>
        <p:spPr>
          <a:xfrm>
            <a:off x="357158" y="2357430"/>
            <a:ext cx="3357586"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Requirements Analysis</a:t>
            </a:r>
            <a:endParaRPr lang="es-ES" sz="2000" dirty="0">
              <a:solidFill>
                <a:schemeClr val="bg1"/>
              </a:solidFill>
            </a:endParaRPr>
          </a:p>
        </p:txBody>
      </p:sp>
      <p:sp>
        <p:nvSpPr>
          <p:cNvPr id="10" name="9 Elipse"/>
          <p:cNvSpPr/>
          <p:nvPr/>
        </p:nvSpPr>
        <p:spPr>
          <a:xfrm>
            <a:off x="1643042" y="3286124"/>
            <a:ext cx="3071834"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Software Design</a:t>
            </a:r>
            <a:endParaRPr lang="es-ES" sz="2000" dirty="0">
              <a:solidFill>
                <a:schemeClr val="bg1"/>
              </a:solidFill>
            </a:endParaRPr>
          </a:p>
        </p:txBody>
      </p:sp>
      <p:sp>
        <p:nvSpPr>
          <p:cNvPr id="11" name="10 Elipse"/>
          <p:cNvSpPr/>
          <p:nvPr/>
        </p:nvSpPr>
        <p:spPr>
          <a:xfrm>
            <a:off x="3143240" y="4143380"/>
            <a:ext cx="3214710"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Implementation</a:t>
            </a:r>
            <a:endParaRPr lang="es-ES" sz="2000" dirty="0">
              <a:solidFill>
                <a:schemeClr val="bg1"/>
              </a:solidFill>
            </a:endParaRPr>
          </a:p>
        </p:txBody>
      </p:sp>
      <p:sp>
        <p:nvSpPr>
          <p:cNvPr id="12" name="11 Elipse"/>
          <p:cNvSpPr/>
          <p:nvPr/>
        </p:nvSpPr>
        <p:spPr>
          <a:xfrm>
            <a:off x="4714876" y="5000636"/>
            <a:ext cx="3071866" cy="714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Testing</a:t>
            </a:r>
            <a:endParaRPr lang="es-ES" sz="2000" dirty="0">
              <a:solidFill>
                <a:schemeClr val="bg1"/>
              </a:solidFill>
            </a:endParaRPr>
          </a:p>
        </p:txBody>
      </p:sp>
      <p:sp>
        <p:nvSpPr>
          <p:cNvPr id="13" name="12 Elipse"/>
          <p:cNvSpPr/>
          <p:nvPr/>
        </p:nvSpPr>
        <p:spPr>
          <a:xfrm>
            <a:off x="6072198" y="5857892"/>
            <a:ext cx="2928990"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Maintenance</a:t>
            </a:r>
            <a:endParaRPr lang="es-ES" sz="2000"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p:txBody>
          <a:bodyPr/>
          <a:lstStyle/>
          <a:p>
            <a:r>
              <a:rPr lang="en-US" sz="3200" b="0">
                <a:latin typeface="Times New Roman" pitchFamily="18" charset="0"/>
              </a:rPr>
              <a:t>Why Software Engineering?</a:t>
            </a:r>
          </a:p>
        </p:txBody>
      </p:sp>
      <p:sp>
        <p:nvSpPr>
          <p:cNvPr id="20483" name="Rectangle 3"/>
          <p:cNvSpPr>
            <a:spLocks noGrp="1" noChangeArrowheads="1"/>
          </p:cNvSpPr>
          <p:nvPr>
            <p:ph type="body" idx="1"/>
          </p:nvPr>
        </p:nvSpPr>
        <p:spPr/>
        <p:txBody>
          <a:bodyPr/>
          <a:lstStyle/>
          <a:p>
            <a:r>
              <a:rPr lang="en-US" b="1" dirty="0"/>
              <a:t>Major Goals:</a:t>
            </a:r>
            <a:endParaRPr lang="en-US" dirty="0"/>
          </a:p>
          <a:p>
            <a:pPr>
              <a:buFont typeface="Wingdings" pitchFamily="2" charset="2"/>
              <a:buNone/>
            </a:pPr>
            <a:r>
              <a:rPr lang="en-US" sz="2400" dirty="0">
                <a:latin typeface="Times New Roman" pitchFamily="18" charset="0"/>
              </a:rPr>
              <a:t>- </a:t>
            </a:r>
            <a:r>
              <a:rPr lang="en-US" sz="2000" dirty="0">
                <a:latin typeface="Times New Roman" pitchFamily="18" charset="0"/>
              </a:rPr>
              <a:t>To increase software </a:t>
            </a:r>
            <a:r>
              <a:rPr lang="en-US" sz="2000" b="1" dirty="0">
                <a:latin typeface="Times New Roman" pitchFamily="18" charset="0"/>
              </a:rPr>
              <a:t>productivity</a:t>
            </a:r>
            <a:r>
              <a:rPr lang="en-US" sz="2000" dirty="0">
                <a:latin typeface="Times New Roman" pitchFamily="18" charset="0"/>
              </a:rPr>
              <a:t> and </a:t>
            </a:r>
            <a:r>
              <a:rPr lang="en-US" sz="2000" b="1" dirty="0">
                <a:latin typeface="Times New Roman" pitchFamily="18" charset="0"/>
              </a:rPr>
              <a:t>quality</a:t>
            </a:r>
            <a:r>
              <a:rPr lang="en-US" sz="2000" dirty="0">
                <a:latin typeface="Times New Roman" pitchFamily="18" charset="0"/>
              </a:rPr>
              <a:t>.</a:t>
            </a:r>
          </a:p>
          <a:p>
            <a:pPr>
              <a:buFont typeface="Wingdings" pitchFamily="2" charset="2"/>
              <a:buNone/>
            </a:pPr>
            <a:r>
              <a:rPr lang="en-US" sz="2000" dirty="0">
                <a:latin typeface="Times New Roman" pitchFamily="18" charset="0"/>
              </a:rPr>
              <a:t>- To effectively control software </a:t>
            </a:r>
            <a:r>
              <a:rPr lang="en-US" sz="2000" b="1" dirty="0">
                <a:latin typeface="Times New Roman" pitchFamily="18" charset="0"/>
              </a:rPr>
              <a:t>schedule</a:t>
            </a:r>
            <a:r>
              <a:rPr lang="en-US" sz="2000" dirty="0">
                <a:latin typeface="Times New Roman" pitchFamily="18" charset="0"/>
              </a:rPr>
              <a:t> and planning.</a:t>
            </a:r>
          </a:p>
          <a:p>
            <a:pPr>
              <a:buFont typeface="Wingdings" pitchFamily="2" charset="2"/>
              <a:buNone/>
            </a:pPr>
            <a:r>
              <a:rPr lang="en-US" sz="2000" dirty="0">
                <a:latin typeface="Times New Roman" pitchFamily="18" charset="0"/>
              </a:rPr>
              <a:t>- To reduce the </a:t>
            </a:r>
            <a:r>
              <a:rPr lang="en-US" sz="2000" b="1" dirty="0">
                <a:latin typeface="Times New Roman" pitchFamily="18" charset="0"/>
              </a:rPr>
              <a:t>cost</a:t>
            </a:r>
            <a:r>
              <a:rPr lang="en-US" sz="2000" dirty="0">
                <a:latin typeface="Times New Roman" pitchFamily="18" charset="0"/>
              </a:rPr>
              <a:t> of software development.</a:t>
            </a:r>
          </a:p>
          <a:p>
            <a:pPr>
              <a:buFont typeface="Wingdings" pitchFamily="2" charset="2"/>
              <a:buNone/>
            </a:pPr>
            <a:r>
              <a:rPr lang="en-US" sz="2000" dirty="0">
                <a:latin typeface="Times New Roman" pitchFamily="18" charset="0"/>
              </a:rPr>
              <a:t>- To meet the </a:t>
            </a:r>
            <a:r>
              <a:rPr lang="en-US" sz="2000" b="1" dirty="0">
                <a:latin typeface="Times New Roman" pitchFamily="18" charset="0"/>
              </a:rPr>
              <a:t>customers</a:t>
            </a:r>
            <a:r>
              <a:rPr lang="en-US" sz="2000" dirty="0">
                <a:latin typeface="Times New Roman" pitchFamily="18" charset="0"/>
              </a:rPr>
              <a:t>’ needs and requirements.</a:t>
            </a:r>
          </a:p>
          <a:p>
            <a:pPr>
              <a:buFont typeface="Wingdings" pitchFamily="2" charset="2"/>
              <a:buNone/>
            </a:pPr>
            <a:r>
              <a:rPr lang="en-US" sz="2000" dirty="0">
                <a:latin typeface="Times New Roman" pitchFamily="18" charset="0"/>
              </a:rPr>
              <a:t>- To improve the current </a:t>
            </a:r>
            <a:r>
              <a:rPr lang="en-US" sz="2000" b="1" dirty="0">
                <a:latin typeface="Times New Roman" pitchFamily="18" charset="0"/>
              </a:rPr>
              <a:t>software engineering practice</a:t>
            </a:r>
            <a:r>
              <a:rPr lang="en-US" sz="2000" dirty="0">
                <a:latin typeface="Times New Roman" pitchFamily="18" charset="0"/>
              </a:rPr>
              <a:t>.</a:t>
            </a:r>
          </a:p>
          <a:p>
            <a:pPr>
              <a:buFont typeface="Wingdings" pitchFamily="2" charset="2"/>
              <a:buNone/>
            </a:pPr>
            <a:r>
              <a:rPr lang="en-US" sz="2000" dirty="0">
                <a:latin typeface="Times New Roman" pitchFamily="18" charset="0"/>
              </a:rPr>
              <a:t>- To support the engineers’ activities in a systematic and efficient manner.</a:t>
            </a:r>
          </a:p>
          <a:p>
            <a:pPr>
              <a:buFont typeface="Wingdings" pitchFamily="2" charset="2"/>
              <a:buNone/>
            </a:pPr>
            <a:endParaRPr lang="en-US" sz="2000" dirty="0">
              <a:latin typeface="Times New Roman" pitchFamily="18" charset="0"/>
            </a:endParaRPr>
          </a:p>
        </p:txBody>
      </p:sp>
    </p:spTree>
    <p:extLst>
      <p:ext uri="{BB962C8B-B14F-4D97-AF65-F5344CB8AC3E}">
        <p14:creationId xmlns:p14="http://schemas.microsoft.com/office/powerpoint/2010/main" val="1235766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ADD0E29-9511-4275-858D-AD4BFED17D5F}"/>
              </a:ext>
            </a:extLst>
          </p:cNvPr>
          <p:cNvSpPr>
            <a:spLocks noGrp="1" noChangeArrowheads="1"/>
          </p:cNvSpPr>
          <p:nvPr>
            <p:ph type="title"/>
          </p:nvPr>
        </p:nvSpPr>
        <p:spPr/>
        <p:txBody>
          <a:bodyPr/>
          <a:lstStyle/>
          <a:p>
            <a:pPr eaLnBrk="1" hangingPunct="1"/>
            <a:r>
              <a:rPr lang="en-US" altLang="en-US"/>
              <a:t>Software Process Model</a:t>
            </a:r>
          </a:p>
        </p:txBody>
      </p:sp>
      <p:sp>
        <p:nvSpPr>
          <p:cNvPr id="7171" name="Rectangle 3">
            <a:extLst>
              <a:ext uri="{FF2B5EF4-FFF2-40B4-BE49-F238E27FC236}">
                <a16:creationId xmlns:a16="http://schemas.microsoft.com/office/drawing/2014/main" id="{075B62C0-12A1-4540-B1BA-2167A2EB7686}"/>
              </a:ext>
            </a:extLst>
          </p:cNvPr>
          <p:cNvSpPr>
            <a:spLocks noGrp="1" noChangeArrowheads="1"/>
          </p:cNvSpPr>
          <p:nvPr>
            <p:ph type="body" idx="1"/>
          </p:nvPr>
        </p:nvSpPr>
        <p:spPr>
          <a:xfrm>
            <a:off x="762000" y="1600200"/>
            <a:ext cx="7696200" cy="4953000"/>
          </a:xfrm>
        </p:spPr>
        <p:txBody>
          <a:bodyPr/>
          <a:lstStyle/>
          <a:p>
            <a:pPr eaLnBrk="1" hangingPunct="1">
              <a:lnSpc>
                <a:spcPct val="125000"/>
              </a:lnSpc>
            </a:pPr>
            <a:r>
              <a:rPr lang="en-US" altLang="en-US" sz="2200" dirty="0">
                <a:latin typeface="Times New Roman" panose="02020603050405020304" pitchFamily="18" charset="0"/>
              </a:rPr>
              <a:t>Linear Sequential Model (LSM)</a:t>
            </a:r>
          </a:p>
          <a:p>
            <a:pPr eaLnBrk="1" hangingPunct="1">
              <a:lnSpc>
                <a:spcPct val="125000"/>
              </a:lnSpc>
            </a:pPr>
            <a:r>
              <a:rPr lang="en-US" altLang="en-US" sz="2200" dirty="0">
                <a:latin typeface="Times New Roman" panose="02020603050405020304" pitchFamily="18" charset="0"/>
              </a:rPr>
              <a:t>The Prototype Model (PRM)</a:t>
            </a:r>
          </a:p>
          <a:p>
            <a:pPr eaLnBrk="1" hangingPunct="1">
              <a:lnSpc>
                <a:spcPct val="125000"/>
              </a:lnSpc>
            </a:pPr>
            <a:r>
              <a:rPr lang="en-US" altLang="en-US" sz="2200" dirty="0">
                <a:latin typeface="Times New Roman" panose="02020603050405020304" pitchFamily="18" charset="0"/>
              </a:rPr>
              <a:t>The Rapid Application Development Model (RAD)</a:t>
            </a:r>
          </a:p>
          <a:p>
            <a:pPr eaLnBrk="1" hangingPunct="1">
              <a:lnSpc>
                <a:spcPct val="125000"/>
              </a:lnSpc>
            </a:pPr>
            <a:r>
              <a:rPr lang="en-US" altLang="en-US" sz="2200" dirty="0">
                <a:latin typeface="Times New Roman" panose="02020603050405020304" pitchFamily="18" charset="0"/>
              </a:rPr>
              <a:t>The Incremental Model (INS)</a:t>
            </a:r>
          </a:p>
        </p:txBody>
      </p:sp>
      <p:sp>
        <p:nvSpPr>
          <p:cNvPr id="7172" name="Text Box 43">
            <a:extLst>
              <a:ext uri="{FF2B5EF4-FFF2-40B4-BE49-F238E27FC236}">
                <a16:creationId xmlns:a16="http://schemas.microsoft.com/office/drawing/2014/main" id="{BB26CF44-F10B-4B0E-8C4A-54DF5BC0626D}"/>
              </a:ext>
            </a:extLst>
          </p:cNvPr>
          <p:cNvSpPr txBox="1">
            <a:spLocks noChangeArrowheads="1"/>
          </p:cNvSpPr>
          <p:nvPr/>
        </p:nvSpPr>
        <p:spPr bwMode="auto">
          <a:xfrm>
            <a:off x="5072063" y="5892800"/>
            <a:ext cx="4159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Char char="-"/>
            </a:pPr>
            <a:r>
              <a:rPr lang="en-US" altLang="en-US" sz="1800">
                <a:solidFill>
                  <a:schemeClr val="bg1"/>
                </a:solidFill>
                <a:latin typeface="Times New Roman" panose="02020603050405020304" pitchFamily="18" charset="0"/>
              </a:rPr>
              <a:t>deployment; make changes for </a:t>
            </a:r>
          </a:p>
          <a:p>
            <a:pPr lvl="1" eaLnBrk="1" hangingPunct="1">
              <a:spcBef>
                <a:spcPct val="0"/>
              </a:spcBef>
              <a:buClrTx/>
              <a:buSzTx/>
              <a:buFontTx/>
              <a:buChar char="-"/>
            </a:pPr>
            <a:r>
              <a:rPr lang="en-US" altLang="en-US" sz="1800">
                <a:solidFill>
                  <a:schemeClr val="bg1"/>
                </a:solidFill>
                <a:latin typeface="Times New Roman" panose="02020603050405020304" pitchFamily="18" charset="0"/>
              </a:rPr>
              <a:t>Errors, performance</a:t>
            </a:r>
          </a:p>
          <a:p>
            <a:pPr lvl="1" eaLnBrk="1" hangingPunct="1">
              <a:spcBef>
                <a:spcPct val="0"/>
              </a:spcBef>
              <a:buClrTx/>
              <a:buSzTx/>
              <a:buFontTx/>
              <a:buChar char="-"/>
            </a:pPr>
            <a:r>
              <a:rPr lang="en-US" altLang="en-US" sz="1800">
                <a:solidFill>
                  <a:schemeClr val="bg1"/>
                </a:solidFill>
                <a:latin typeface="Times New Roman" panose="02020603050405020304" pitchFamily="18" charset="0"/>
              </a:rPr>
              <a:t>changes in requirement</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A3D77C1-830D-4FCD-9054-F09077E5BDF9}"/>
              </a:ext>
            </a:extLst>
          </p:cNvPr>
          <p:cNvSpPr>
            <a:spLocks noGrp="1" noChangeArrowheads="1"/>
          </p:cNvSpPr>
          <p:nvPr>
            <p:ph type="title"/>
          </p:nvPr>
        </p:nvSpPr>
        <p:spPr>
          <a:xfrm>
            <a:off x="457200" y="381000"/>
            <a:ext cx="8229600" cy="1139825"/>
          </a:xfrm>
        </p:spPr>
        <p:txBody>
          <a:bodyPr>
            <a:normAutofit fontScale="90000"/>
          </a:bodyPr>
          <a:lstStyle/>
          <a:p>
            <a:pPr eaLnBrk="1" hangingPunct="1"/>
            <a:r>
              <a:rPr lang="en-US" altLang="en-US" sz="3800" dirty="0"/>
              <a:t>Water Fall/Linear Sequential Model (LSM)</a:t>
            </a:r>
            <a:br>
              <a:rPr lang="en-US" altLang="en-US" sz="3800" dirty="0"/>
            </a:br>
            <a:endParaRPr lang="en-US" altLang="en-US" sz="3800" dirty="0"/>
          </a:p>
        </p:txBody>
      </p:sp>
      <p:sp>
        <p:nvSpPr>
          <p:cNvPr id="8195" name="Rectangle 3">
            <a:extLst>
              <a:ext uri="{FF2B5EF4-FFF2-40B4-BE49-F238E27FC236}">
                <a16:creationId xmlns:a16="http://schemas.microsoft.com/office/drawing/2014/main" id="{C01BCF0F-B161-4F4B-95F8-ECF1FD6FA554}"/>
              </a:ext>
            </a:extLst>
          </p:cNvPr>
          <p:cNvSpPr>
            <a:spLocks noGrp="1" noChangeArrowheads="1"/>
          </p:cNvSpPr>
          <p:nvPr>
            <p:ph type="body" idx="1"/>
          </p:nvPr>
        </p:nvSpPr>
        <p:spPr/>
        <p:txBody>
          <a:bodyPr/>
          <a:lstStyle/>
          <a:p>
            <a:pPr eaLnBrk="1" hangingPunct="1">
              <a:lnSpc>
                <a:spcPct val="125000"/>
              </a:lnSpc>
            </a:pPr>
            <a:r>
              <a:rPr lang="en-US" altLang="en-US" sz="2200">
                <a:latin typeface="Times New Roman" panose="02020603050405020304" pitchFamily="18" charset="0"/>
              </a:rPr>
              <a:t>It is one of the earliest development models. The linear sequential model provides a systematic approach to software development. In this approach ,the  process of software development is represented by a sequence of steps. The sequential phases are what make this model linear, simple and systematic in nature. Each phase must be completed before you can move to next phase. This model is also known as the Waterfall Model or classical life cycle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2866B33-BDFE-42F9-A850-8DBCE5C57DAB}"/>
              </a:ext>
            </a:extLst>
          </p:cNvPr>
          <p:cNvSpPr>
            <a:spLocks noGrp="1" noChangeArrowheads="1"/>
          </p:cNvSpPr>
          <p:nvPr>
            <p:ph type="title"/>
          </p:nvPr>
        </p:nvSpPr>
        <p:spPr/>
        <p:txBody>
          <a:bodyPr/>
          <a:lstStyle/>
          <a:p>
            <a:pPr eaLnBrk="1" hangingPunct="1"/>
            <a:r>
              <a:rPr lang="en-US" altLang="en-US"/>
              <a:t> Phases of Linear Sequential Model</a:t>
            </a:r>
          </a:p>
        </p:txBody>
      </p:sp>
      <p:pic>
        <p:nvPicPr>
          <p:cNvPr id="5122" name="Picture 2" descr="Waterfall model - Wikipedia">
            <a:extLst>
              <a:ext uri="{FF2B5EF4-FFF2-40B4-BE49-F238E27FC236}">
                <a16:creationId xmlns:a16="http://schemas.microsoft.com/office/drawing/2014/main" id="{F8224A4C-AEFE-4F6A-B759-E79F19A13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5016" y="1828800"/>
            <a:ext cx="5547784" cy="41608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5CCF19-71BC-473A-9712-18E38FBB2096}"/>
              </a:ext>
            </a:extLst>
          </p:cNvPr>
          <p:cNvSpPr>
            <a:spLocks noGrp="1" noChangeArrowheads="1"/>
          </p:cNvSpPr>
          <p:nvPr>
            <p:ph type="title"/>
          </p:nvPr>
        </p:nvSpPr>
        <p:spPr/>
        <p:txBody>
          <a:bodyPr/>
          <a:lstStyle/>
          <a:p>
            <a:pPr eaLnBrk="1" hangingPunct="1"/>
            <a:r>
              <a:rPr lang="en-US" altLang="en-US"/>
              <a:t> Phases of Linear Sequential Model</a:t>
            </a:r>
          </a:p>
        </p:txBody>
      </p:sp>
      <p:sp>
        <p:nvSpPr>
          <p:cNvPr id="11267" name="Rectangle 3">
            <a:extLst>
              <a:ext uri="{FF2B5EF4-FFF2-40B4-BE49-F238E27FC236}">
                <a16:creationId xmlns:a16="http://schemas.microsoft.com/office/drawing/2014/main" id="{5A86957D-38E6-4CB9-AACB-3C2B8D3AC998}"/>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sz="2600" dirty="0">
                <a:latin typeface="Times New Roman" panose="02020603050405020304" pitchFamily="18" charset="0"/>
              </a:rPr>
              <a:t>The following are the phases of LSM:</a:t>
            </a:r>
          </a:p>
          <a:p>
            <a:pPr eaLnBrk="1" hangingPunct="1"/>
            <a:r>
              <a:rPr lang="en-US" altLang="en-US" sz="2600" dirty="0">
                <a:solidFill>
                  <a:schemeClr val="hlink"/>
                </a:solidFill>
                <a:latin typeface="Times New Roman" panose="02020603050405020304" pitchFamily="18" charset="0"/>
              </a:rPr>
              <a:t>Software requirement analysis:</a:t>
            </a:r>
          </a:p>
          <a:p>
            <a:pPr eaLnBrk="1" hangingPunct="1">
              <a:buFont typeface="Wingdings" panose="05000000000000000000" pitchFamily="2" charset="2"/>
              <a:buNone/>
            </a:pPr>
            <a:r>
              <a:rPr lang="en-US" altLang="en-US" sz="2200" dirty="0">
                <a:solidFill>
                  <a:schemeClr val="hlink"/>
                </a:solidFill>
                <a:latin typeface="Times New Roman" panose="02020603050405020304" pitchFamily="18" charset="0"/>
              </a:rPr>
              <a:t>   </a:t>
            </a:r>
            <a:r>
              <a:rPr lang="en-US" altLang="en-US" sz="2200" dirty="0">
                <a:latin typeface="Times New Roman" panose="02020603050405020304" pitchFamily="18" charset="0"/>
              </a:rPr>
              <a:t>  In this Phase , the requirements for the software are  established through discussion with client and are then documented.</a:t>
            </a:r>
            <a:endParaRPr lang="en-US" altLang="en-US" sz="2200" dirty="0">
              <a:solidFill>
                <a:schemeClr val="hlink"/>
              </a:solidFill>
              <a:latin typeface="Times New Roman" panose="02020603050405020304" pitchFamily="18"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2F1469E-48FC-4C67-84CC-2ECB94CA1D89}"/>
              </a:ext>
            </a:extLst>
          </p:cNvPr>
          <p:cNvSpPr>
            <a:spLocks noGrp="1" noChangeArrowheads="1"/>
          </p:cNvSpPr>
          <p:nvPr>
            <p:ph type="title"/>
          </p:nvPr>
        </p:nvSpPr>
        <p:spPr/>
        <p:txBody>
          <a:bodyPr/>
          <a:lstStyle/>
          <a:p>
            <a:pPr eaLnBrk="1" hangingPunct="1"/>
            <a:r>
              <a:rPr lang="en-US" altLang="en-US"/>
              <a:t>Phases of Linear Sequential Model</a:t>
            </a:r>
          </a:p>
        </p:txBody>
      </p:sp>
      <p:sp>
        <p:nvSpPr>
          <p:cNvPr id="12291" name="Rectangle 3">
            <a:extLst>
              <a:ext uri="{FF2B5EF4-FFF2-40B4-BE49-F238E27FC236}">
                <a16:creationId xmlns:a16="http://schemas.microsoft.com/office/drawing/2014/main" id="{B94FEC5D-A7A2-4844-8554-5DEBC15C520C}"/>
              </a:ext>
            </a:extLst>
          </p:cNvPr>
          <p:cNvSpPr>
            <a:spLocks noGrp="1" noChangeArrowheads="1"/>
          </p:cNvSpPr>
          <p:nvPr>
            <p:ph type="body" idx="1"/>
          </p:nvPr>
        </p:nvSpPr>
        <p:spPr/>
        <p:txBody>
          <a:bodyPr/>
          <a:lstStyle/>
          <a:p>
            <a:pPr eaLnBrk="1" hangingPunct="1"/>
            <a:r>
              <a:rPr lang="en-US" altLang="en-US" sz="2600" dirty="0">
                <a:solidFill>
                  <a:schemeClr val="hlink"/>
                </a:solidFill>
                <a:latin typeface="Times New Roman" panose="02020603050405020304" pitchFamily="18" charset="0"/>
              </a:rPr>
              <a:t>Designing:</a:t>
            </a:r>
          </a:p>
          <a:p>
            <a:pPr eaLnBrk="1" hangingPunct="1">
              <a:buFont typeface="Wingdings" panose="05000000000000000000" pitchFamily="2" charset="2"/>
              <a:buNone/>
            </a:pPr>
            <a:r>
              <a:rPr lang="en-US" altLang="en-US" sz="2200" dirty="0">
                <a:latin typeface="Times New Roman" panose="02020603050405020304" pitchFamily="18" charset="0"/>
              </a:rPr>
              <a:t>     In this phase , the requirements are converted into design to be used in the next phase. The design includes various elements such as database structures, software architecture and procedures. </a:t>
            </a:r>
          </a:p>
          <a:p>
            <a:pPr eaLnBrk="1" hangingPunct="1">
              <a:buFont typeface="Wingdings" panose="05000000000000000000" pitchFamily="2" charset="2"/>
              <a:buNone/>
            </a:pPr>
            <a:r>
              <a:rPr lang="en-US" altLang="en-US" sz="2200" dirty="0">
                <a:latin typeface="Times New Roman" panose="02020603050405020304" pitchFamily="18" charset="0"/>
              </a:rPr>
              <a:t>    The design is first passes through the quality test and then documented.</a:t>
            </a:r>
          </a:p>
          <a:p>
            <a:pPr eaLnBrk="1" hangingPunct="1"/>
            <a:r>
              <a:rPr lang="en-US" altLang="en-US" sz="2600" dirty="0">
                <a:solidFill>
                  <a:schemeClr val="hlink"/>
                </a:solidFill>
                <a:latin typeface="Times New Roman" panose="02020603050405020304" pitchFamily="18" charset="0"/>
              </a:rPr>
              <a:t>Coding:</a:t>
            </a:r>
          </a:p>
          <a:p>
            <a:pPr eaLnBrk="1" hangingPunct="1">
              <a:buFont typeface="Wingdings" panose="05000000000000000000" pitchFamily="2" charset="2"/>
              <a:buNone/>
            </a:pPr>
            <a:r>
              <a:rPr lang="en-US" altLang="en-US" sz="2600" dirty="0">
                <a:solidFill>
                  <a:schemeClr val="hlink"/>
                </a:solidFill>
                <a:latin typeface="Times New Roman" panose="02020603050405020304" pitchFamily="18" charset="0"/>
              </a:rPr>
              <a:t>     </a:t>
            </a:r>
            <a:r>
              <a:rPr lang="en-US" altLang="en-US" sz="2200" dirty="0">
                <a:latin typeface="Times New Roman" panose="02020603050405020304" pitchFamily="18" charset="0"/>
              </a:rPr>
              <a:t>In this phase the actual coding of the software is done. The design of the previous phase is converted into the code.</a:t>
            </a:r>
            <a:endParaRPr lang="en-US" altLang="en-US" sz="2600" dirty="0">
              <a:solidFill>
                <a:schemeClr val="hlink"/>
              </a:solidFill>
              <a:latin typeface="Times New Roman" panose="02020603050405020304" pitchFamily="18" charset="0"/>
            </a:endParaRPr>
          </a:p>
          <a:p>
            <a:pPr eaLnBrk="1" hangingPunct="1">
              <a:buFont typeface="Wingdings" panose="05000000000000000000" pitchFamily="2" charset="2"/>
              <a:buNone/>
            </a:pPr>
            <a:endParaRPr lang="en-US"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468FBEA-0B83-4135-A3D1-9730FCBC3D0C}"/>
              </a:ext>
            </a:extLst>
          </p:cNvPr>
          <p:cNvSpPr>
            <a:spLocks noGrp="1" noChangeArrowheads="1"/>
          </p:cNvSpPr>
          <p:nvPr>
            <p:ph type="title"/>
          </p:nvPr>
        </p:nvSpPr>
        <p:spPr/>
        <p:txBody>
          <a:bodyPr/>
          <a:lstStyle/>
          <a:p>
            <a:pPr eaLnBrk="1" hangingPunct="1"/>
            <a:r>
              <a:rPr lang="en-US" altLang="en-US"/>
              <a:t>Phases of Linear Sequential Model</a:t>
            </a:r>
          </a:p>
        </p:txBody>
      </p:sp>
      <p:sp>
        <p:nvSpPr>
          <p:cNvPr id="13315" name="Rectangle 3">
            <a:extLst>
              <a:ext uri="{FF2B5EF4-FFF2-40B4-BE49-F238E27FC236}">
                <a16:creationId xmlns:a16="http://schemas.microsoft.com/office/drawing/2014/main" id="{6CDEE23B-A3A0-43DD-B60E-11A088A25EA8}"/>
              </a:ext>
            </a:extLst>
          </p:cNvPr>
          <p:cNvSpPr>
            <a:spLocks noGrp="1" noChangeArrowheads="1"/>
          </p:cNvSpPr>
          <p:nvPr>
            <p:ph type="body" idx="1"/>
          </p:nvPr>
        </p:nvSpPr>
        <p:spPr/>
        <p:txBody>
          <a:bodyPr/>
          <a:lstStyle/>
          <a:p>
            <a:pPr eaLnBrk="1" hangingPunct="1"/>
            <a:r>
              <a:rPr lang="en-US" altLang="en-US" sz="3000">
                <a:solidFill>
                  <a:schemeClr val="hlink"/>
                </a:solidFill>
                <a:latin typeface="Times New Roman" panose="02020603050405020304" pitchFamily="18" charset="0"/>
              </a:rPr>
              <a:t>Testing:</a:t>
            </a:r>
          </a:p>
          <a:p>
            <a:pPr eaLnBrk="1" hangingPunct="1">
              <a:buFont typeface="Wingdings" panose="05000000000000000000" pitchFamily="2" charset="2"/>
              <a:buNone/>
            </a:pPr>
            <a:r>
              <a:rPr lang="en-US" altLang="en-US" sz="3000">
                <a:solidFill>
                  <a:schemeClr val="hlink"/>
                </a:solidFill>
                <a:latin typeface="Times New Roman" panose="02020603050405020304" pitchFamily="18" charset="0"/>
              </a:rPr>
              <a:t>     </a:t>
            </a:r>
            <a:r>
              <a:rPr lang="en-US" altLang="en-US" sz="2600">
                <a:latin typeface="Times New Roman" panose="02020603050405020304" pitchFamily="18" charset="0"/>
              </a:rPr>
              <a:t>In this phase, the output generated is checked to ensure that it matches the requirements. The programs developed in the previous phase are checked for the logical and syntax errors.</a:t>
            </a:r>
          </a:p>
          <a:p>
            <a:pPr eaLnBrk="1" hangingPunct="1"/>
            <a:r>
              <a:rPr lang="en-US" altLang="en-US" sz="3000">
                <a:solidFill>
                  <a:schemeClr val="hlink"/>
                </a:solidFill>
                <a:latin typeface="Times New Roman" panose="02020603050405020304" pitchFamily="18" charset="0"/>
              </a:rPr>
              <a:t>Maintenance and Support:</a:t>
            </a:r>
          </a:p>
          <a:p>
            <a:pPr eaLnBrk="1" hangingPunct="1">
              <a:buFont typeface="Wingdings" panose="05000000000000000000" pitchFamily="2" charset="2"/>
              <a:buNone/>
            </a:pPr>
            <a:r>
              <a:rPr lang="en-US" altLang="en-US" sz="3000">
                <a:solidFill>
                  <a:schemeClr val="hlink"/>
                </a:solidFill>
                <a:latin typeface="Times New Roman" panose="02020603050405020304" pitchFamily="18" charset="0"/>
              </a:rPr>
              <a:t>     </a:t>
            </a:r>
            <a:r>
              <a:rPr lang="en-US" altLang="en-US" sz="2600">
                <a:latin typeface="Times New Roman" panose="02020603050405020304" pitchFamily="18" charset="0"/>
              </a:rPr>
              <a:t>The software developed needs to maintenance and support. This refers to the changes as well as new requirements in the software after delivery.</a:t>
            </a:r>
            <a:endParaRPr lang="en-US" altLang="en-US" sz="3000">
              <a:solidFill>
                <a:schemeClr val="hlink"/>
              </a:solidFill>
              <a:latin typeface="Times New Roman" panose="02020603050405020304" pitchFamily="18"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B51A019-41AB-4011-A18F-D4F1DB7E9ADC}"/>
              </a:ext>
            </a:extLst>
          </p:cNvPr>
          <p:cNvSpPr>
            <a:spLocks noGrp="1" noChangeArrowheads="1"/>
          </p:cNvSpPr>
          <p:nvPr>
            <p:ph type="title"/>
          </p:nvPr>
        </p:nvSpPr>
        <p:spPr>
          <a:xfrm>
            <a:off x="533400" y="381000"/>
            <a:ext cx="8229600" cy="1139825"/>
          </a:xfrm>
        </p:spPr>
        <p:txBody>
          <a:bodyPr/>
          <a:lstStyle/>
          <a:p>
            <a:pPr eaLnBrk="1" hangingPunct="1"/>
            <a:r>
              <a:rPr lang="en-US" altLang="en-US" sz="3800"/>
              <a:t>Advantages of Linear Sequential Model</a:t>
            </a:r>
          </a:p>
        </p:txBody>
      </p:sp>
      <p:sp>
        <p:nvSpPr>
          <p:cNvPr id="14339" name="Rectangle 3">
            <a:extLst>
              <a:ext uri="{FF2B5EF4-FFF2-40B4-BE49-F238E27FC236}">
                <a16:creationId xmlns:a16="http://schemas.microsoft.com/office/drawing/2014/main" id="{1A07CB96-7E9E-4CD1-B145-1408494E1831}"/>
              </a:ext>
            </a:extLst>
          </p:cNvPr>
          <p:cNvSpPr>
            <a:spLocks noGrp="1" noChangeArrowheads="1"/>
          </p:cNvSpPr>
          <p:nvPr>
            <p:ph type="body" idx="1"/>
          </p:nvPr>
        </p:nvSpPr>
        <p:spPr/>
        <p:txBody>
          <a:bodyPr/>
          <a:lstStyle/>
          <a:p>
            <a:pPr eaLnBrk="1" hangingPunct="1">
              <a:lnSpc>
                <a:spcPct val="150000"/>
              </a:lnSpc>
              <a:buFont typeface="Wingdings" panose="05000000000000000000" pitchFamily="2" charset="2"/>
              <a:buNone/>
            </a:pPr>
            <a:r>
              <a:rPr lang="en-US" altLang="en-US" sz="2600">
                <a:latin typeface="Times New Roman" panose="02020603050405020304" pitchFamily="18" charset="0"/>
              </a:rPr>
              <a:t> The Linear Sequential model offers the following advantages:</a:t>
            </a:r>
          </a:p>
          <a:p>
            <a:pPr eaLnBrk="1" hangingPunct="1">
              <a:lnSpc>
                <a:spcPct val="150000"/>
              </a:lnSpc>
            </a:pPr>
            <a:r>
              <a:rPr lang="en-US" altLang="en-US" sz="2600">
                <a:latin typeface="Times New Roman" panose="02020603050405020304" pitchFamily="18" charset="0"/>
              </a:rPr>
              <a:t>It is easy to understand and implement.</a:t>
            </a:r>
          </a:p>
          <a:p>
            <a:pPr eaLnBrk="1" hangingPunct="1">
              <a:lnSpc>
                <a:spcPct val="150000"/>
              </a:lnSpc>
            </a:pPr>
            <a:r>
              <a:rPr lang="en-US" altLang="en-US" sz="2600">
                <a:latin typeface="Times New Roman" panose="02020603050405020304" pitchFamily="18" charset="0"/>
              </a:rPr>
              <a:t>It prohibits skipping any phase in the sequence.</a:t>
            </a:r>
          </a:p>
          <a:p>
            <a:pPr eaLnBrk="1" hangingPunct="1">
              <a:lnSpc>
                <a:spcPct val="150000"/>
              </a:lnSpc>
            </a:pPr>
            <a:r>
              <a:rPr lang="en-US" altLang="en-US" sz="2600">
                <a:latin typeface="Times New Roman" panose="02020603050405020304" pitchFamily="18" charset="0"/>
              </a:rPr>
              <a:t>It is ideal for small projects and when the requirements and goals of the project are well established in advance.</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9251063-7FCE-4259-B4DC-F3F37B31781E}"/>
              </a:ext>
            </a:extLst>
          </p:cNvPr>
          <p:cNvSpPr>
            <a:spLocks noGrp="1" noChangeArrowheads="1"/>
          </p:cNvSpPr>
          <p:nvPr>
            <p:ph type="title"/>
          </p:nvPr>
        </p:nvSpPr>
        <p:spPr/>
        <p:txBody>
          <a:bodyPr/>
          <a:lstStyle/>
          <a:p>
            <a:pPr eaLnBrk="1" hangingPunct="1"/>
            <a:r>
              <a:rPr lang="en-US" altLang="en-US" sz="3700"/>
              <a:t>Disadvantages of Linear Sequential Model</a:t>
            </a:r>
          </a:p>
        </p:txBody>
      </p:sp>
      <p:sp>
        <p:nvSpPr>
          <p:cNvPr id="15363" name="Rectangle 3">
            <a:extLst>
              <a:ext uri="{FF2B5EF4-FFF2-40B4-BE49-F238E27FC236}">
                <a16:creationId xmlns:a16="http://schemas.microsoft.com/office/drawing/2014/main" id="{B0C4D4B9-B807-44E2-9A8E-96DBAF3F0400}"/>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sz="2200">
                <a:latin typeface="Times New Roman" panose="02020603050405020304" pitchFamily="18" charset="0"/>
              </a:rPr>
              <a:t>   The following are the disadvantages using Linear sequential model:</a:t>
            </a:r>
          </a:p>
          <a:p>
            <a:pPr eaLnBrk="1" hangingPunct="1"/>
            <a:r>
              <a:rPr lang="en-US" altLang="en-US" sz="2200">
                <a:latin typeface="Times New Roman" panose="02020603050405020304" pitchFamily="18" charset="0"/>
              </a:rPr>
              <a:t>In practical conditions ,software projects are seldom sequential. Iteration and overlapping often occur . This model is not suitable for such projects.</a:t>
            </a:r>
          </a:p>
          <a:p>
            <a:pPr eaLnBrk="1" hangingPunct="1"/>
            <a:r>
              <a:rPr lang="en-US" altLang="en-US" sz="2200">
                <a:latin typeface="Times New Roman" panose="02020603050405020304" pitchFamily="18" charset="0"/>
              </a:rPr>
              <a:t>The working version of the software is available to the customer after testing. Therefore, if  there is any  major error during the coding it will till end of the testing.</a:t>
            </a:r>
          </a:p>
          <a:p>
            <a:pPr eaLnBrk="1" hangingPunct="1"/>
            <a:r>
              <a:rPr lang="en-US" altLang="en-US" sz="2200">
                <a:latin typeface="Times New Roman" panose="02020603050405020304" pitchFamily="18" charset="0"/>
              </a:rPr>
              <a:t>Due to linear nature is any phase is not completed , the software analyst and developers cannot proceed further.</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59531-862B-4875-A407-FAB7733FBEA6}"/>
              </a:ext>
            </a:extLst>
          </p:cNvPr>
          <p:cNvSpPr>
            <a:spLocks noGrp="1"/>
          </p:cNvSpPr>
          <p:nvPr>
            <p:ph type="title"/>
          </p:nvPr>
        </p:nvSpPr>
        <p:spPr/>
        <p:txBody>
          <a:bodyPr/>
          <a:lstStyle/>
          <a:p>
            <a:r>
              <a:rPr lang="en-US" dirty="0"/>
              <a:t>Prototyping model</a:t>
            </a:r>
          </a:p>
        </p:txBody>
      </p:sp>
      <p:pic>
        <p:nvPicPr>
          <p:cNvPr id="4" name="Picture 2" descr="Prototype Design, Prototype Development Service - Wireoid Integrated  Solutions, Bengaluru | ID: 14378548630">
            <a:extLst>
              <a:ext uri="{FF2B5EF4-FFF2-40B4-BE49-F238E27FC236}">
                <a16:creationId xmlns:a16="http://schemas.microsoft.com/office/drawing/2014/main" id="{8E45B656-2A9D-4C17-A763-0937111FD4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52829"/>
            <a:ext cx="7391400" cy="439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203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E4CF635-5ADC-4AD4-BE75-27E7F17FF603}"/>
              </a:ext>
            </a:extLst>
          </p:cNvPr>
          <p:cNvSpPr>
            <a:spLocks noGrp="1" noChangeArrowheads="1"/>
          </p:cNvSpPr>
          <p:nvPr>
            <p:ph type="title"/>
          </p:nvPr>
        </p:nvSpPr>
        <p:spPr/>
        <p:txBody>
          <a:bodyPr/>
          <a:lstStyle/>
          <a:p>
            <a:pPr eaLnBrk="1" hangingPunct="1"/>
            <a:r>
              <a:rPr lang="en-US" altLang="en-US"/>
              <a:t>Prototyping Model</a:t>
            </a:r>
          </a:p>
        </p:txBody>
      </p:sp>
      <p:sp>
        <p:nvSpPr>
          <p:cNvPr id="16387" name="Rectangle 3">
            <a:extLst>
              <a:ext uri="{FF2B5EF4-FFF2-40B4-BE49-F238E27FC236}">
                <a16:creationId xmlns:a16="http://schemas.microsoft.com/office/drawing/2014/main" id="{73353036-50E4-4366-83B9-CCDC72780BCA}"/>
              </a:ext>
            </a:extLst>
          </p:cNvPr>
          <p:cNvSpPr>
            <a:spLocks noGrp="1" noChangeArrowheads="1"/>
          </p:cNvSpPr>
          <p:nvPr>
            <p:ph type="body" idx="1"/>
          </p:nvPr>
        </p:nvSpPr>
        <p:spPr>
          <a:xfrm>
            <a:off x="457200" y="1600200"/>
            <a:ext cx="7391400" cy="4525963"/>
          </a:xfrm>
        </p:spPr>
        <p:txBody>
          <a:bodyPr/>
          <a:lstStyle/>
          <a:p>
            <a:pPr eaLnBrk="1" hangingPunct="1">
              <a:lnSpc>
                <a:spcPct val="90000"/>
              </a:lnSpc>
            </a:pPr>
            <a:r>
              <a:rPr lang="en-US" altLang="en-US" sz="2200" dirty="0">
                <a:latin typeface="Times New Roman" panose="02020603050405020304" pitchFamily="18" charset="0"/>
              </a:rPr>
              <a:t>In this model the developer and client interact to established the requirements of the software.</a:t>
            </a:r>
          </a:p>
          <a:p>
            <a:pPr eaLnBrk="1" hangingPunct="1">
              <a:lnSpc>
                <a:spcPct val="90000"/>
              </a:lnSpc>
            </a:pPr>
            <a:r>
              <a:rPr lang="en-US" altLang="en-US" sz="2200" dirty="0">
                <a:latin typeface="Times New Roman" panose="02020603050405020304" pitchFamily="18" charset="0"/>
              </a:rPr>
              <a:t>Define the broad set of objectives.</a:t>
            </a:r>
          </a:p>
          <a:p>
            <a:pPr eaLnBrk="1" hangingPunct="1">
              <a:lnSpc>
                <a:spcPct val="90000"/>
              </a:lnSpc>
            </a:pPr>
            <a:r>
              <a:rPr lang="en-US" altLang="en-US" sz="2200" dirty="0">
                <a:latin typeface="Times New Roman" panose="02020603050405020304" pitchFamily="18" charset="0"/>
              </a:rPr>
              <a:t>This is follow up by the quick design, in which the visible elements of the software, the input and the output are designed.</a:t>
            </a:r>
          </a:p>
          <a:p>
            <a:pPr eaLnBrk="1" hangingPunct="1">
              <a:lnSpc>
                <a:spcPct val="90000"/>
              </a:lnSpc>
            </a:pPr>
            <a:r>
              <a:rPr lang="en-US" altLang="en-US" sz="2200" dirty="0">
                <a:latin typeface="Times New Roman" panose="02020603050405020304" pitchFamily="18" charset="0"/>
              </a:rPr>
              <a:t>The quick design stresses the clients view of the software .</a:t>
            </a:r>
          </a:p>
          <a:p>
            <a:pPr eaLnBrk="1" hangingPunct="1">
              <a:lnSpc>
                <a:spcPct val="90000"/>
              </a:lnSpc>
            </a:pPr>
            <a:r>
              <a:rPr lang="en-US" altLang="en-US" sz="2200" dirty="0">
                <a:latin typeface="Times New Roman" panose="02020603050405020304" pitchFamily="18" charset="0"/>
              </a:rPr>
              <a:t>The final product of the design is a prototype.</a:t>
            </a:r>
          </a:p>
          <a:p>
            <a:pPr eaLnBrk="1" hangingPunct="1">
              <a:lnSpc>
                <a:spcPct val="90000"/>
              </a:lnSpc>
            </a:pPr>
            <a:r>
              <a:rPr lang="en-US" altLang="en-US" sz="2200" dirty="0">
                <a:latin typeface="Times New Roman" panose="02020603050405020304" pitchFamily="18" charset="0"/>
              </a:rPr>
              <a:t>The client evaluates the prototype and provides its recommendations and suggestion to the analyst.</a:t>
            </a:r>
          </a:p>
          <a:p>
            <a:pPr eaLnBrk="1" hangingPunct="1">
              <a:lnSpc>
                <a:spcPct val="90000"/>
              </a:lnSpc>
            </a:pPr>
            <a:r>
              <a:rPr lang="en-US" altLang="en-US" sz="2200" dirty="0">
                <a:latin typeface="Times New Roman" panose="02020603050405020304" pitchFamily="18" charset="0"/>
              </a:rPr>
              <a:t>The process continues in an iterative manner until the all the user requirements are met.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0FB4A2F-DA26-40CB-9F15-DAB1F2F6D61D}"/>
              </a:ext>
            </a:extLst>
          </p:cNvPr>
          <p:cNvSpPr>
            <a:spLocks noGrp="1" noChangeArrowheads="1"/>
          </p:cNvSpPr>
          <p:nvPr>
            <p:ph type="title"/>
          </p:nvPr>
        </p:nvSpPr>
        <p:spPr/>
        <p:txBody>
          <a:bodyPr/>
          <a:lstStyle/>
          <a:p>
            <a:pPr eaLnBrk="1" hangingPunct="1"/>
            <a:r>
              <a:rPr lang="en-US" altLang="en-US"/>
              <a:t>Advantages of Prototyping Model</a:t>
            </a:r>
          </a:p>
        </p:txBody>
      </p:sp>
      <p:sp>
        <p:nvSpPr>
          <p:cNvPr id="22531" name="Rectangle 3">
            <a:extLst>
              <a:ext uri="{FF2B5EF4-FFF2-40B4-BE49-F238E27FC236}">
                <a16:creationId xmlns:a16="http://schemas.microsoft.com/office/drawing/2014/main" id="{8D88F1F4-09B2-4144-B8C6-F680E2039EC9}"/>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a:t> </a:t>
            </a:r>
            <a:r>
              <a:rPr lang="en-US" altLang="en-US" sz="2200">
                <a:latin typeface="Times New Roman" panose="02020603050405020304" pitchFamily="18" charset="0"/>
              </a:rPr>
              <a:t>The following are the advantages of Prototyping model:</a:t>
            </a:r>
          </a:p>
          <a:p>
            <a:pPr eaLnBrk="1" hangingPunct="1"/>
            <a:r>
              <a:rPr lang="en-US" altLang="en-US" sz="2200">
                <a:latin typeface="Times New Roman" panose="02020603050405020304" pitchFamily="18" charset="0"/>
              </a:rPr>
              <a:t>Due the interaction between the client and developer right from the beginning , the objectives and requirements of the software is well established.</a:t>
            </a:r>
          </a:p>
          <a:p>
            <a:pPr eaLnBrk="1" hangingPunct="1"/>
            <a:r>
              <a:rPr lang="en-US" altLang="en-US" sz="2200">
                <a:latin typeface="Times New Roman" panose="02020603050405020304" pitchFamily="18" charset="0"/>
              </a:rPr>
              <a:t>Suitable for the projects when client has not clear idea about his requirements.</a:t>
            </a:r>
          </a:p>
          <a:p>
            <a:pPr eaLnBrk="1" hangingPunct="1"/>
            <a:r>
              <a:rPr lang="en-US" altLang="en-US" sz="2200">
                <a:latin typeface="Times New Roman" panose="02020603050405020304" pitchFamily="18" charset="0"/>
              </a:rPr>
              <a:t>The client can provide its input during development of  the prototype.</a:t>
            </a:r>
          </a:p>
          <a:p>
            <a:pPr eaLnBrk="1" hangingPunct="1"/>
            <a:r>
              <a:rPr lang="en-US" altLang="en-US" sz="2200">
                <a:latin typeface="Times New Roman" panose="02020603050405020304" pitchFamily="18" charset="0"/>
              </a:rPr>
              <a:t>The prototype serves as an aid for the development of the final product.</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A294B15-D699-4E9E-9F01-31C3E7B9DEEE}"/>
              </a:ext>
            </a:extLst>
          </p:cNvPr>
          <p:cNvSpPr>
            <a:spLocks noGrp="1" noChangeArrowheads="1"/>
          </p:cNvSpPr>
          <p:nvPr>
            <p:ph type="title"/>
          </p:nvPr>
        </p:nvSpPr>
        <p:spPr/>
        <p:txBody>
          <a:bodyPr>
            <a:normAutofit fontScale="90000"/>
          </a:bodyPr>
          <a:lstStyle/>
          <a:p>
            <a:pPr eaLnBrk="1" hangingPunct="1"/>
            <a:r>
              <a:rPr lang="en-US" altLang="en-US"/>
              <a:t>Disadvantages of Prototyping Model</a:t>
            </a:r>
          </a:p>
        </p:txBody>
      </p:sp>
      <p:sp>
        <p:nvSpPr>
          <p:cNvPr id="23555" name="Rectangle 3">
            <a:extLst>
              <a:ext uri="{FF2B5EF4-FFF2-40B4-BE49-F238E27FC236}">
                <a16:creationId xmlns:a16="http://schemas.microsoft.com/office/drawing/2014/main" id="{A2E0EB03-7856-4B7E-AC26-121C78E30D02}"/>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en-US" sz="2600">
                <a:latin typeface="Times New Roman" panose="02020603050405020304" pitchFamily="18" charset="0"/>
              </a:rPr>
              <a:t>The prototyping model has the following disadvantages.</a:t>
            </a:r>
          </a:p>
          <a:p>
            <a:pPr eaLnBrk="1" hangingPunct="1">
              <a:lnSpc>
                <a:spcPct val="90000"/>
              </a:lnSpc>
            </a:pPr>
            <a:r>
              <a:rPr lang="en-US" altLang="en-US" sz="2600">
                <a:latin typeface="Times New Roman" panose="02020603050405020304" pitchFamily="18" charset="0"/>
              </a:rPr>
              <a:t>The quality of the software development is compromised in the rush to present a working version of the software to the client.</a:t>
            </a:r>
          </a:p>
          <a:p>
            <a:pPr eaLnBrk="1" hangingPunct="1">
              <a:lnSpc>
                <a:spcPct val="90000"/>
              </a:lnSpc>
            </a:pPr>
            <a:r>
              <a:rPr lang="en-US" altLang="en-US" sz="2600">
                <a:latin typeface="Times New Roman" panose="02020603050405020304" pitchFamily="18" charset="0"/>
              </a:rPr>
              <a:t>The client look at the working version of the product at the outset and expect the final version of the product to be deliver immediately. This cause additional pressure over the developers to adopt shortcut in order to meet the final product deadline.</a:t>
            </a:r>
          </a:p>
          <a:p>
            <a:pPr eaLnBrk="1" hangingPunct="1">
              <a:lnSpc>
                <a:spcPct val="90000"/>
              </a:lnSpc>
            </a:pPr>
            <a:r>
              <a:rPr lang="en-US" altLang="en-US" sz="2600">
                <a:latin typeface="Times New Roman" panose="02020603050405020304" pitchFamily="18" charset="0"/>
              </a:rPr>
              <a:t>It becomes difficult for the developer to convince the client as why the prototype has to be discarded.</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2160</TotalTime>
  <Words>1771</Words>
  <Application>Microsoft Office PowerPoint</Application>
  <PresentationFormat>On-screen Show (4:3)</PresentationFormat>
  <Paragraphs>175</Paragraphs>
  <Slides>37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Helvetica</vt:lpstr>
      <vt:lpstr>Times New Roman</vt:lpstr>
      <vt:lpstr>Wingdings</vt:lpstr>
      <vt:lpstr>Wingdings 2</vt:lpstr>
      <vt:lpstr>Office Theme</vt:lpstr>
      <vt:lpstr>Introduction to Software Engineering</vt:lpstr>
      <vt:lpstr>What is software?</vt:lpstr>
      <vt:lpstr>What is Good Software?</vt:lpstr>
      <vt:lpstr>What are the attributes of good software?</vt:lpstr>
      <vt:lpstr>Software -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Non-engineered Software</vt:lpstr>
      <vt:lpstr>PowerPoint Presentation</vt:lpstr>
      <vt:lpstr>PowerPoint Presentation</vt:lpstr>
      <vt:lpstr>PowerPoint Presentation</vt:lpstr>
      <vt:lpstr>PowerPoint Presentation</vt:lpstr>
      <vt:lpstr>PowerPoint Presentation</vt:lpstr>
      <vt:lpstr> By “disciplined” we mean:</vt:lpstr>
      <vt:lpstr>By “quantifiable” we mean:</vt:lpstr>
      <vt:lpstr>PowerPoint Presentation</vt:lpstr>
      <vt:lpstr>PowerPoint Presentation</vt:lpstr>
      <vt:lpstr>Why Software Engineering?</vt:lpstr>
      <vt:lpstr>Software Process Model</vt:lpstr>
      <vt:lpstr>Water Fall/Linear Sequential Model (LSM) </vt:lpstr>
      <vt:lpstr> Phases of Linear Sequential Model</vt:lpstr>
      <vt:lpstr> Phases of Linear Sequential Model</vt:lpstr>
      <vt:lpstr>Phases of Linear Sequential Model</vt:lpstr>
      <vt:lpstr>Phases of Linear Sequential Model</vt:lpstr>
      <vt:lpstr>Advantages of Linear Sequential Model</vt:lpstr>
      <vt:lpstr>Disadvantages of Linear Sequential Model</vt:lpstr>
      <vt:lpstr>Prototyping model</vt:lpstr>
      <vt:lpstr>Prototyping Model</vt:lpstr>
      <vt:lpstr>Advantages of Prototyping Model</vt:lpstr>
      <vt:lpstr>Disadvantages of Prototyping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Nadeem Iqbal</dc:creator>
  <cp:lastModifiedBy>Ms. Rimsha Noreen</cp:lastModifiedBy>
  <cp:revision>18</cp:revision>
  <dcterms:created xsi:type="dcterms:W3CDTF">2006-08-16T00:00:00Z</dcterms:created>
  <dcterms:modified xsi:type="dcterms:W3CDTF">2023-12-05T05:36:29Z</dcterms:modified>
</cp:coreProperties>
</file>